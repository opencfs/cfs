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761038" cy="2879725"/>
  <p:notesSz cx="6858000" cy="9144000"/>
  <p:defaultTextStyle>
    <a:defPPr>
      <a:defRPr lang="de-DE"/>
    </a:defPPr>
    <a:lvl1pPr marL="0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46832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93665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40497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987330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34162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480995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727827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974660" algn="l" defTabSz="49366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3" d="100"/>
          <a:sy n="193" d="100"/>
        </p:scale>
        <p:origin x="-498" y="-90"/>
      </p:cViewPr>
      <p:guideLst>
        <p:guide orient="horz" pos="907"/>
        <p:guide pos="1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32078" y="894581"/>
            <a:ext cx="4896882" cy="617274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156" y="1631844"/>
            <a:ext cx="4032727" cy="7359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68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3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0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87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4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0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278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74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202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1916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5082" y="1850491"/>
            <a:ext cx="4896882" cy="571945"/>
          </a:xfrm>
        </p:spPr>
        <p:txBody>
          <a:bodyPr anchor="t"/>
          <a:lstStyle>
            <a:lvl1pPr algn="l">
              <a:defRPr sz="22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5082" y="1220551"/>
            <a:ext cx="4896882" cy="629940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4683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9366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740497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8733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234162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48099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727827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97466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0085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93036" y="423294"/>
            <a:ext cx="1687304" cy="119788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976357" y="423294"/>
            <a:ext cx="1687304" cy="119788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879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8052" y="115322"/>
            <a:ext cx="5184934" cy="479954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88052" y="644605"/>
            <a:ext cx="2545459" cy="268641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6832" indent="0">
              <a:buNone/>
              <a:defRPr sz="1100" b="1"/>
            </a:lvl2pPr>
            <a:lvl3pPr marL="493665" indent="0">
              <a:buNone/>
              <a:defRPr sz="1000" b="1"/>
            </a:lvl3pPr>
            <a:lvl4pPr marL="740497" indent="0">
              <a:buNone/>
              <a:defRPr sz="800" b="1"/>
            </a:lvl4pPr>
            <a:lvl5pPr marL="987330" indent="0">
              <a:buNone/>
              <a:defRPr sz="800" b="1"/>
            </a:lvl5pPr>
            <a:lvl6pPr marL="1234162" indent="0">
              <a:buNone/>
              <a:defRPr sz="800" b="1"/>
            </a:lvl6pPr>
            <a:lvl7pPr marL="1480995" indent="0">
              <a:buNone/>
              <a:defRPr sz="800" b="1"/>
            </a:lvl7pPr>
            <a:lvl8pPr marL="1727827" indent="0">
              <a:buNone/>
              <a:defRPr sz="800" b="1"/>
            </a:lvl8pPr>
            <a:lvl9pPr marL="1974660" indent="0">
              <a:buNone/>
              <a:defRPr sz="8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88052" y="913247"/>
            <a:ext cx="2545459" cy="1659175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2926527" y="644605"/>
            <a:ext cx="2546459" cy="268641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6832" indent="0">
              <a:buNone/>
              <a:defRPr sz="1100" b="1"/>
            </a:lvl2pPr>
            <a:lvl3pPr marL="493665" indent="0">
              <a:buNone/>
              <a:defRPr sz="1000" b="1"/>
            </a:lvl3pPr>
            <a:lvl4pPr marL="740497" indent="0">
              <a:buNone/>
              <a:defRPr sz="800" b="1"/>
            </a:lvl4pPr>
            <a:lvl5pPr marL="987330" indent="0">
              <a:buNone/>
              <a:defRPr sz="800" b="1"/>
            </a:lvl5pPr>
            <a:lvl6pPr marL="1234162" indent="0">
              <a:buNone/>
              <a:defRPr sz="800" b="1"/>
            </a:lvl6pPr>
            <a:lvl7pPr marL="1480995" indent="0">
              <a:buNone/>
              <a:defRPr sz="800" b="1"/>
            </a:lvl7pPr>
            <a:lvl8pPr marL="1727827" indent="0">
              <a:buNone/>
              <a:defRPr sz="800" b="1"/>
            </a:lvl8pPr>
            <a:lvl9pPr marL="1974660" indent="0">
              <a:buNone/>
              <a:defRPr sz="8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926527" y="913247"/>
            <a:ext cx="2546459" cy="1659175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35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1540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630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8053" y="114656"/>
            <a:ext cx="1895341" cy="487953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252406" y="114656"/>
            <a:ext cx="3220581" cy="2457765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88053" y="602609"/>
            <a:ext cx="1895341" cy="1969812"/>
          </a:xfrm>
        </p:spPr>
        <p:txBody>
          <a:bodyPr/>
          <a:lstStyle>
            <a:lvl1pPr marL="0" indent="0">
              <a:buNone/>
              <a:defRPr sz="700"/>
            </a:lvl1pPr>
            <a:lvl2pPr marL="246832" indent="0">
              <a:buNone/>
              <a:defRPr sz="700"/>
            </a:lvl2pPr>
            <a:lvl3pPr marL="493665" indent="0">
              <a:buNone/>
              <a:defRPr sz="600"/>
            </a:lvl3pPr>
            <a:lvl4pPr marL="740497" indent="0">
              <a:buNone/>
              <a:defRPr sz="500"/>
            </a:lvl4pPr>
            <a:lvl5pPr marL="987330" indent="0">
              <a:buNone/>
              <a:defRPr sz="500"/>
            </a:lvl5pPr>
            <a:lvl6pPr marL="1234162" indent="0">
              <a:buNone/>
              <a:defRPr sz="500"/>
            </a:lvl6pPr>
            <a:lvl7pPr marL="1480995" indent="0">
              <a:buNone/>
              <a:defRPr sz="500"/>
            </a:lvl7pPr>
            <a:lvl8pPr marL="1727827" indent="0">
              <a:buNone/>
              <a:defRPr sz="500"/>
            </a:lvl8pPr>
            <a:lvl9pPr marL="1974660" indent="0">
              <a:buNone/>
              <a:defRPr sz="5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6274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29203" y="2015808"/>
            <a:ext cx="3456623" cy="237977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129203" y="257309"/>
            <a:ext cx="3456623" cy="1727835"/>
          </a:xfrm>
        </p:spPr>
        <p:txBody>
          <a:bodyPr/>
          <a:lstStyle>
            <a:lvl1pPr marL="0" indent="0">
              <a:buNone/>
              <a:defRPr sz="1700"/>
            </a:lvl1pPr>
            <a:lvl2pPr marL="246832" indent="0">
              <a:buNone/>
              <a:defRPr sz="1500"/>
            </a:lvl2pPr>
            <a:lvl3pPr marL="493665" indent="0">
              <a:buNone/>
              <a:defRPr sz="1300"/>
            </a:lvl3pPr>
            <a:lvl4pPr marL="740497" indent="0">
              <a:buNone/>
              <a:defRPr sz="1100"/>
            </a:lvl4pPr>
            <a:lvl5pPr marL="987330" indent="0">
              <a:buNone/>
              <a:defRPr sz="1100"/>
            </a:lvl5pPr>
            <a:lvl6pPr marL="1234162" indent="0">
              <a:buNone/>
              <a:defRPr sz="1100"/>
            </a:lvl6pPr>
            <a:lvl7pPr marL="1480995" indent="0">
              <a:buNone/>
              <a:defRPr sz="1100"/>
            </a:lvl7pPr>
            <a:lvl8pPr marL="1727827" indent="0">
              <a:buNone/>
              <a:defRPr sz="1100"/>
            </a:lvl8pPr>
            <a:lvl9pPr marL="1974660" indent="0">
              <a:buNone/>
              <a:defRPr sz="11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129203" y="2253785"/>
            <a:ext cx="3456623" cy="337968"/>
          </a:xfrm>
        </p:spPr>
        <p:txBody>
          <a:bodyPr/>
          <a:lstStyle>
            <a:lvl1pPr marL="0" indent="0">
              <a:buNone/>
              <a:defRPr sz="700"/>
            </a:lvl1pPr>
            <a:lvl2pPr marL="246832" indent="0">
              <a:buNone/>
              <a:defRPr sz="700"/>
            </a:lvl2pPr>
            <a:lvl3pPr marL="493665" indent="0">
              <a:buNone/>
              <a:defRPr sz="600"/>
            </a:lvl3pPr>
            <a:lvl4pPr marL="740497" indent="0">
              <a:buNone/>
              <a:defRPr sz="500"/>
            </a:lvl4pPr>
            <a:lvl5pPr marL="987330" indent="0">
              <a:buNone/>
              <a:defRPr sz="500"/>
            </a:lvl5pPr>
            <a:lvl6pPr marL="1234162" indent="0">
              <a:buNone/>
              <a:defRPr sz="500"/>
            </a:lvl6pPr>
            <a:lvl7pPr marL="1480995" indent="0">
              <a:buNone/>
              <a:defRPr sz="500"/>
            </a:lvl7pPr>
            <a:lvl8pPr marL="1727827" indent="0">
              <a:buNone/>
              <a:defRPr sz="500"/>
            </a:lvl8pPr>
            <a:lvl9pPr marL="1974660" indent="0">
              <a:buNone/>
              <a:defRPr sz="5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5665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629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2796505" y="72660"/>
            <a:ext cx="867157" cy="154851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93035" y="72660"/>
            <a:ext cx="2507452" cy="1548519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9675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88052" y="115322"/>
            <a:ext cx="5184934" cy="479954"/>
          </a:xfrm>
          <a:prstGeom prst="rect">
            <a:avLst/>
          </a:prstGeom>
        </p:spPr>
        <p:txBody>
          <a:bodyPr vert="horz" lIns="49367" tIns="24683" rIns="49367" bIns="24683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88052" y="671935"/>
            <a:ext cx="5184934" cy="1900486"/>
          </a:xfrm>
          <a:prstGeom prst="rect">
            <a:avLst/>
          </a:prstGeom>
        </p:spPr>
        <p:txBody>
          <a:bodyPr vert="horz" lIns="49367" tIns="24683" rIns="49367" bIns="24683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288052" y="2669079"/>
            <a:ext cx="1344243" cy="153319"/>
          </a:xfrm>
          <a:prstGeom prst="rect">
            <a:avLst/>
          </a:prstGeom>
        </p:spPr>
        <p:txBody>
          <a:bodyPr vert="horz" lIns="49367" tIns="24683" rIns="49367" bIns="24683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F46F-A241-488A-A36C-876FC980C922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68356" y="2669079"/>
            <a:ext cx="1824328" cy="153319"/>
          </a:xfrm>
          <a:prstGeom prst="rect">
            <a:avLst/>
          </a:prstGeom>
        </p:spPr>
        <p:txBody>
          <a:bodyPr vert="horz" lIns="49367" tIns="24683" rIns="49367" bIns="24683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4128744" y="2669079"/>
            <a:ext cx="1344243" cy="153319"/>
          </a:xfrm>
          <a:prstGeom prst="rect">
            <a:avLst/>
          </a:prstGeom>
        </p:spPr>
        <p:txBody>
          <a:bodyPr vert="horz" lIns="49367" tIns="24683" rIns="49367" bIns="24683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99528-5D10-432C-AC15-573FEBE5069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460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93665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124" indent="-185124" algn="l" defTabSz="4936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01103" indent="-154270" algn="l" defTabSz="493665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17082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3914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10746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57579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04411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51244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098076" indent="-123417" algn="l" defTabSz="4936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46832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93665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40497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87330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162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0995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27827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74660" algn="l" defTabSz="49366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9949" y="88081"/>
            <a:ext cx="1608606" cy="514755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/>
              <p:cNvSpPr txBox="1"/>
              <p:nvPr/>
            </p:nvSpPr>
            <p:spPr>
              <a:xfrm>
                <a:off x="1224335" y="2582698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9" name="Textfeld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335" y="2582698"/>
                <a:ext cx="30970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/>
          <p:cNvSpPr/>
          <p:nvPr/>
        </p:nvSpPr>
        <p:spPr>
          <a:xfrm>
            <a:off x="3477073" y="55905"/>
            <a:ext cx="2127902" cy="546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 smtClean="0"/>
              <a:t>BBInt</a:t>
            </a:r>
            <a:endParaRPr lang="de-DE" sz="1400" dirty="0" smtClean="0"/>
          </a:p>
          <a:p>
            <a:pPr algn="ctr"/>
            <a:r>
              <a:rPr lang="de-DE" sz="1400" dirty="0" err="1" smtClean="0"/>
              <a:t>Symmetric</a:t>
            </a:r>
            <a:r>
              <a:rPr lang="de-DE" sz="1400" dirty="0" smtClean="0"/>
              <a:t> bilinear form</a:t>
            </a:r>
            <a:endParaRPr lang="de-DE" sz="1400" dirty="0"/>
          </a:p>
        </p:txBody>
      </p:sp>
      <p:sp>
        <p:nvSpPr>
          <p:cNvPr id="21" name="Rechteck 20"/>
          <p:cNvSpPr/>
          <p:nvPr/>
        </p:nvSpPr>
        <p:spPr>
          <a:xfrm>
            <a:off x="3477073" y="830492"/>
            <a:ext cx="2127902" cy="7869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 smtClean="0"/>
              <a:t>BDBInt</a:t>
            </a:r>
            <a:endParaRPr lang="de-DE" sz="1400" dirty="0" smtClean="0"/>
          </a:p>
          <a:p>
            <a:pPr algn="ctr"/>
            <a:r>
              <a:rPr lang="de-DE" sz="1400" dirty="0" err="1" smtClean="0"/>
              <a:t>Symmetric</a:t>
            </a:r>
            <a:r>
              <a:rPr lang="de-DE" sz="1400" dirty="0" smtClean="0"/>
              <a:t> bilinear form </a:t>
            </a:r>
            <a:r>
              <a:rPr lang="de-DE" sz="1400" dirty="0" err="1" smtClean="0"/>
              <a:t>with</a:t>
            </a:r>
            <a:r>
              <a:rPr lang="de-DE" sz="1400" dirty="0" smtClean="0"/>
              <a:t> </a:t>
            </a:r>
            <a:r>
              <a:rPr lang="de-DE" sz="1400" dirty="0" err="1" smtClean="0"/>
              <a:t>tensorial</a:t>
            </a:r>
            <a:r>
              <a:rPr lang="de-DE" sz="1400" dirty="0" smtClean="0"/>
              <a:t> </a:t>
            </a:r>
            <a:r>
              <a:rPr lang="de-DE" sz="1400" dirty="0" err="1" smtClean="0"/>
              <a:t>coefficient</a:t>
            </a:r>
            <a:endParaRPr lang="de-DE" sz="1400" dirty="0"/>
          </a:p>
        </p:txBody>
      </p:sp>
      <p:sp>
        <p:nvSpPr>
          <p:cNvPr id="22" name="Rechteck 21"/>
          <p:cNvSpPr/>
          <p:nvPr/>
        </p:nvSpPr>
        <p:spPr>
          <a:xfrm>
            <a:off x="3477073" y="1901114"/>
            <a:ext cx="2127902" cy="546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/>
              <a:t>A</a:t>
            </a:r>
            <a:r>
              <a:rPr lang="de-DE" sz="1400" dirty="0" err="1" smtClean="0"/>
              <a:t>BInt</a:t>
            </a:r>
            <a:endParaRPr lang="de-DE" sz="1400" dirty="0" smtClean="0"/>
          </a:p>
          <a:p>
            <a:pPr algn="ctr"/>
            <a:r>
              <a:rPr lang="de-DE" sz="1400" dirty="0" err="1" smtClean="0"/>
              <a:t>Asymmetric</a:t>
            </a:r>
            <a:r>
              <a:rPr lang="de-DE" sz="1400" dirty="0" smtClean="0"/>
              <a:t> bilinear form</a:t>
            </a:r>
            <a:endParaRPr lang="de-DE" sz="1400" dirty="0"/>
          </a:p>
        </p:txBody>
      </p:sp>
      <p:pic>
        <p:nvPicPr>
          <p:cNvPr id="23" name="Grafik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89" y="999120"/>
            <a:ext cx="2292349" cy="44484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1" y="1826385"/>
            <a:ext cx="1714158" cy="45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3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msmath}&#10;\begin{document}&#10;\begin{equation*}&#10; \int_\Omega\alpha\ \nabla\varphi\cdot\nabla u \ \text{d}\Omega&#10;\end{equation*}&#10;\end{document}&#10;"/>
  <p:tag name="FILENAME" val="TP_tmp"/>
  <p:tag name="FORMAT" val="png256"/>
  <p:tag name="RES" val="1200"/>
  <p:tag name="BLEND" val="0"/>
  <p:tag name="TRANSPARENT" val="1"/>
  <p:tag name="TBUG" val="0"/>
  <p:tag name="ALLOWFS" val="0"/>
  <p:tag name="ORIGWIDTH" val="75"/>
  <p:tag name="PICTUREFILESIZE" val="69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usepackage{amsmath}&#10;\begin{document}&#10;\begin{equation*}&#10; \int_\Omega\alpha\ {\cal B}^T\mathbf{u}' \cdot [\mathbf{c}] {\cal B}\mathbf{u}' \ \text{d}\Omega&#10;\end{equation*}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354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720"/>
  <p:tag name="PICTUREFILESIZE" val="54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bm}&#10;&#10;\usepackage{amsmath}&#10;\begin{document}&#10;\begin{equation*}&#10; \int_\Omega\alpha\ \bm \psi\cdot\nabla u \ \text{d}\Omega&#10;\end{equation*}&#10;&#10;\end{document}&#10;"/>
  <p:tag name="EXTERNALNAME" val="txp_fig"/>
  <p:tag name="BLEND" val="Falsch"/>
  <p:tag name="TRANSPARENT" val="Falsch"/>
  <p:tag name="KEEPFILES" val="Falsch"/>
  <p:tag name="DEBUGPAUSE" val="Falsch"/>
  <p:tag name="RESOLUTION" val="600"/>
  <p:tag name="TIMEOUT" val="(none)"/>
  <p:tag name="BOXWIDTH" val="354"/>
  <p:tag name="BOXHEIGHT" val="428"/>
  <p:tag name="BOXFONT" val="10"/>
  <p:tag name="BOXWRAP" val="Falsch"/>
  <p:tag name="WORKAROUNDTRANSPARENCYBUG" val="Falsch"/>
  <p:tag name="ALLOWFONTSUBSTITUTION" val="Falsch"/>
  <p:tag name="BITMAPFORMAT" val="pngmono"/>
  <p:tag name="ORIGWIDTH" val="720"/>
  <p:tag name="PICTUREFILESIZE" val="4171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Benutzerdefiniert</PresentationFormat>
  <Paragraphs>7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2</cp:revision>
  <dcterms:created xsi:type="dcterms:W3CDTF">2017-11-04T10:38:46Z</dcterms:created>
  <dcterms:modified xsi:type="dcterms:W3CDTF">2017-11-04T10:42:05Z</dcterms:modified>
</cp:coreProperties>
</file>