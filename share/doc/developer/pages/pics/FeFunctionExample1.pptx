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1620838"/>
  <p:notesSz cx="6858000" cy="9144000"/>
  <p:defaultTextStyle>
    <a:defPPr>
      <a:defRPr lang="de-DE"/>
    </a:defPPr>
    <a:lvl1pPr marL="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004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009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013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4018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0022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6027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2031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8036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-84" y="-1020"/>
      </p:cViewPr>
      <p:guideLst>
        <p:guide orient="horz" pos="511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7096" y="503510"/>
            <a:ext cx="6427074" cy="34743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34190" y="918475"/>
            <a:ext cx="5292884" cy="4142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0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778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219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287" y="1041539"/>
            <a:ext cx="6427074" cy="321917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97287" y="686981"/>
            <a:ext cx="6427074" cy="354559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6216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97989" y="297904"/>
            <a:ext cx="2616249" cy="842311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040258" y="297904"/>
            <a:ext cx="2616250" cy="842311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022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6" y="64909"/>
            <a:ext cx="6805137" cy="27014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3" y="362813"/>
            <a:ext cx="3340871" cy="151203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78063" y="514017"/>
            <a:ext cx="3340871" cy="933858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841019" y="362813"/>
            <a:ext cx="3342183" cy="151203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841019" y="514017"/>
            <a:ext cx="3342183" cy="933858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499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12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542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4" y="64534"/>
            <a:ext cx="2487603" cy="274642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956244" y="64534"/>
            <a:ext cx="4226956" cy="1383340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78064" y="339175"/>
            <a:ext cx="2487603" cy="110869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3843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2061" y="1134588"/>
            <a:ext cx="4536758" cy="133944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482061" y="144826"/>
            <a:ext cx="4536758" cy="972503"/>
          </a:xfrm>
        </p:spPr>
        <p:txBody>
          <a:bodyPr/>
          <a:lstStyle>
            <a:lvl1pPr marL="0" indent="0">
              <a:buNone/>
              <a:defRPr sz="2500"/>
            </a:lvl1pPr>
            <a:lvl2pPr marL="360045" indent="0">
              <a:buNone/>
              <a:defRPr sz="2200"/>
            </a:lvl2pPr>
            <a:lvl3pPr marL="720090" indent="0">
              <a:buNone/>
              <a:defRPr sz="1900"/>
            </a:lvl3pPr>
            <a:lvl4pPr marL="1080135" indent="0">
              <a:buNone/>
              <a:defRPr sz="1600"/>
            </a:lvl4pPr>
            <a:lvl5pPr marL="1440180" indent="0">
              <a:buNone/>
              <a:defRPr sz="1600"/>
            </a:lvl5pPr>
            <a:lvl6pPr marL="1800225" indent="0">
              <a:buNone/>
              <a:defRPr sz="1600"/>
            </a:lvl6pPr>
            <a:lvl7pPr marL="2160270" indent="0">
              <a:buNone/>
              <a:defRPr sz="1600"/>
            </a:lvl7pPr>
            <a:lvl8pPr marL="2520315" indent="0">
              <a:buNone/>
              <a:defRPr sz="1600"/>
            </a:lvl8pPr>
            <a:lvl9pPr marL="2880360" indent="0">
              <a:buNone/>
              <a:defRPr sz="16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82061" y="1268531"/>
            <a:ext cx="4536758" cy="19022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183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41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4317537" y="51027"/>
            <a:ext cx="1338973" cy="10891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97990" y="51027"/>
            <a:ext cx="3893525" cy="10891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852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8066" y="64909"/>
            <a:ext cx="6805137" cy="270140"/>
          </a:xfrm>
          <a:prstGeom prst="rect">
            <a:avLst/>
          </a:prstGeom>
        </p:spPr>
        <p:txBody>
          <a:bodyPr vert="horz" lIns="72009" tIns="36005" rIns="72009" bIns="36005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6" y="378196"/>
            <a:ext cx="6805137" cy="1069678"/>
          </a:xfrm>
          <a:prstGeom prst="rect">
            <a:avLst/>
          </a:prstGeom>
        </p:spPr>
        <p:txBody>
          <a:bodyPr vert="horz" lIns="72009" tIns="36005" rIns="72009" bIns="36005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78065" y="1502277"/>
            <a:ext cx="1764295" cy="86295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C7C86-2E3A-4822-B536-D0F72AB74403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83433" y="1502277"/>
            <a:ext cx="2394400" cy="86295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418908" y="1502277"/>
            <a:ext cx="1764295" cy="86295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500E2-7B3A-45DE-A876-5987117FAB9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30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90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34" indent="-270034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5073" indent="-225028" algn="l" defTabSz="7200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rafik 7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9837" y="147775"/>
            <a:ext cx="3883717" cy="299935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2" name="Rechteck 71"/>
          <p:cNvSpPr/>
          <p:nvPr/>
        </p:nvSpPr>
        <p:spPr>
          <a:xfrm>
            <a:off x="41366" y="751743"/>
            <a:ext cx="2170631" cy="760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FeFunction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200" dirty="0" smtClean="0"/>
              <a:t>i.e. </a:t>
            </a:r>
            <a:r>
              <a:rPr lang="de-DE" sz="1200" dirty="0" err="1" smtClean="0"/>
              <a:t>vector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unknowns</a:t>
            </a:r>
            <a:endParaRPr lang="de-DE" sz="1200" dirty="0"/>
          </a:p>
        </p:txBody>
      </p:sp>
      <p:sp>
        <p:nvSpPr>
          <p:cNvPr id="73" name="Rechteck 72"/>
          <p:cNvSpPr/>
          <p:nvPr/>
        </p:nvSpPr>
        <p:spPr>
          <a:xfrm>
            <a:off x="2576379" y="751743"/>
            <a:ext cx="2170631" cy="760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FeSpaceH1</a:t>
            </a:r>
            <a:br>
              <a:rPr lang="de-DE" dirty="0" smtClean="0"/>
            </a:br>
            <a:r>
              <a:rPr lang="de-DE" sz="1200" dirty="0" smtClean="0"/>
              <a:t>i.e. </a:t>
            </a:r>
            <a:r>
              <a:rPr lang="de-DE" sz="1200" dirty="0" err="1" smtClean="0"/>
              <a:t>conforming</a:t>
            </a:r>
            <a:r>
              <a:rPr lang="de-DE" sz="1200" dirty="0" smtClean="0"/>
              <a:t> </a:t>
            </a:r>
            <a:r>
              <a:rPr lang="de-DE" sz="1200" dirty="0" err="1" smtClean="0"/>
              <a:t>elements</a:t>
            </a:r>
            <a:endParaRPr lang="de-DE" sz="1200" dirty="0"/>
          </a:p>
        </p:txBody>
      </p:sp>
      <p:sp>
        <p:nvSpPr>
          <p:cNvPr id="74" name="Rechteck 73"/>
          <p:cNvSpPr/>
          <p:nvPr/>
        </p:nvSpPr>
        <p:spPr>
          <a:xfrm>
            <a:off x="5372818" y="773107"/>
            <a:ext cx="2170631" cy="760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H1ElemensLagVar</a:t>
            </a:r>
            <a:br>
              <a:rPr lang="de-DE" dirty="0" smtClean="0"/>
            </a:br>
            <a:r>
              <a:rPr lang="de-DE" sz="1200" dirty="0" smtClean="0"/>
              <a:t>i.e. </a:t>
            </a:r>
            <a:r>
              <a:rPr lang="de-DE" sz="1200" dirty="0" err="1" smtClean="0"/>
              <a:t>nodal</a:t>
            </a:r>
            <a:r>
              <a:rPr lang="de-DE" sz="1200" dirty="0" smtClean="0"/>
              <a:t> </a:t>
            </a:r>
            <a:r>
              <a:rPr lang="de-DE" sz="1200" dirty="0" err="1" smtClean="0"/>
              <a:t>Lagrangian</a:t>
            </a:r>
            <a:r>
              <a:rPr lang="de-DE" sz="1200" dirty="0" smtClean="0"/>
              <a:t> </a:t>
            </a:r>
            <a:r>
              <a:rPr lang="de-DE" sz="1200" dirty="0" err="1" smtClean="0"/>
              <a:t>elements</a:t>
            </a:r>
            <a:r>
              <a:rPr lang="de-DE" sz="1200" dirty="0" smtClean="0"/>
              <a:t> </a:t>
            </a:r>
            <a:r>
              <a:rPr lang="de-DE" sz="1200" dirty="0" err="1" smtClean="0"/>
              <a:t>of</a:t>
            </a:r>
            <a:r>
              <a:rPr lang="de-DE" sz="1200" dirty="0" smtClean="0"/>
              <a:t> </a:t>
            </a:r>
            <a:r>
              <a:rPr lang="de-DE" sz="1200" dirty="0" err="1" smtClean="0"/>
              <a:t>arbitrary</a:t>
            </a:r>
            <a:r>
              <a:rPr lang="de-DE" sz="1200" dirty="0" smtClean="0"/>
              <a:t> </a:t>
            </a:r>
            <a:r>
              <a:rPr lang="de-DE" sz="1200" dirty="0" err="1" smtClean="0"/>
              <a:t>order</a:t>
            </a:r>
            <a:endParaRPr lang="de-DE" sz="1200" dirty="0"/>
          </a:p>
        </p:txBody>
      </p:sp>
      <p:sp>
        <p:nvSpPr>
          <p:cNvPr id="75" name="Rechteck 74"/>
          <p:cNvSpPr/>
          <p:nvPr/>
        </p:nvSpPr>
        <p:spPr>
          <a:xfrm>
            <a:off x="1630884" y="130683"/>
            <a:ext cx="376015" cy="299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/>
          <p:cNvSpPr/>
          <p:nvPr/>
        </p:nvSpPr>
        <p:spPr>
          <a:xfrm>
            <a:off x="2885691" y="147775"/>
            <a:ext cx="864549" cy="299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/>
          <p:cNvSpPr/>
          <p:nvPr/>
        </p:nvSpPr>
        <p:spPr>
          <a:xfrm>
            <a:off x="3882461" y="130683"/>
            <a:ext cx="1611121" cy="3387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8" name="Gerade Verbindung 77"/>
          <p:cNvCxnSpPr>
            <a:stCxn id="72" idx="0"/>
            <a:endCxn id="75" idx="2"/>
          </p:cNvCxnSpPr>
          <p:nvPr/>
        </p:nvCxnSpPr>
        <p:spPr>
          <a:xfrm flipV="1">
            <a:off x="1126682" y="430618"/>
            <a:ext cx="692210" cy="321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 Verbindung 78"/>
          <p:cNvCxnSpPr>
            <a:stCxn id="73" idx="0"/>
            <a:endCxn id="76" idx="2"/>
          </p:cNvCxnSpPr>
          <p:nvPr/>
        </p:nvCxnSpPr>
        <p:spPr>
          <a:xfrm flipH="1" flipV="1">
            <a:off x="3317966" y="447710"/>
            <a:ext cx="343729" cy="3040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Gerade Verbindung 79"/>
          <p:cNvCxnSpPr>
            <a:stCxn id="77" idx="3"/>
            <a:endCxn id="74" idx="0"/>
          </p:cNvCxnSpPr>
          <p:nvPr/>
        </p:nvCxnSpPr>
        <p:spPr>
          <a:xfrm>
            <a:off x="5493582" y="300054"/>
            <a:ext cx="964552" cy="473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2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msmath}&#10;\usepackage{parskip}&#10;\begin{document}&#10;\begin{equation*}&#10; u^h \in V^h = \left\{ \varphi_h \in H_0^1 \ \big\vert \ \varphi_h|_{K_j} \circ \boldsymbol{{\rm F}}_j \in {\cal P}_N \right\}&#10;\end{equation*}&#10;\end{document}&#10;"/>
  <p:tag name="FILENAME" val="TP_tmp"/>
  <p:tag name="FORMAT" val="png256"/>
  <p:tag name="RES" val="1200"/>
  <p:tag name="BLEND" val="0"/>
  <p:tag name="TRANSPARENT" val="1"/>
  <p:tag name="TBUG" val="0"/>
  <p:tag name="ALLOWFS" val="0"/>
  <p:tag name="ORIGWIDTH" val="181"/>
  <p:tag name="PICTUREFILESIZE" val="12269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5</cp:revision>
  <dcterms:created xsi:type="dcterms:W3CDTF">2017-11-04T09:53:24Z</dcterms:created>
  <dcterms:modified xsi:type="dcterms:W3CDTF">2017-11-04T10:38:41Z</dcterms:modified>
</cp:coreProperties>
</file>