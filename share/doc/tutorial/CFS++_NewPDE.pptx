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77" r:id="rId2"/>
    <p:sldId id="446" r:id="rId3"/>
    <p:sldId id="448" r:id="rId4"/>
    <p:sldId id="449" r:id="rId5"/>
    <p:sldId id="450" r:id="rId6"/>
    <p:sldId id="451" r:id="rId7"/>
    <p:sldId id="465" r:id="rId8"/>
    <p:sldId id="452" r:id="rId9"/>
    <p:sldId id="453" r:id="rId10"/>
    <p:sldId id="454" r:id="rId11"/>
    <p:sldId id="455" r:id="rId12"/>
    <p:sldId id="456" r:id="rId13"/>
    <p:sldId id="466" r:id="rId14"/>
    <p:sldId id="457" r:id="rId15"/>
    <p:sldId id="458" r:id="rId16"/>
    <p:sldId id="459" r:id="rId17"/>
    <p:sldId id="460" r:id="rId18"/>
    <p:sldId id="461" r:id="rId19"/>
    <p:sldId id="462" r:id="rId20"/>
    <p:sldId id="463" r:id="rId21"/>
    <p:sldId id="467" r:id="rId22"/>
    <p:sldId id="464" r:id="rId23"/>
    <p:sldId id="447" r:id="rId24"/>
    <p:sldId id="468" r:id="rId25"/>
  </p:sldIdLst>
  <p:sldSz cx="9144000" cy="6858000" type="screen4x3"/>
  <p:notesSz cx="6811963" cy="9942513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98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4" autoAdjust="0"/>
    <p:restoredTop sz="93837" autoAdjust="0"/>
  </p:normalViewPr>
  <p:slideViewPr>
    <p:cSldViewPr snapToGrid="0">
      <p:cViewPr varScale="1">
        <p:scale>
          <a:sx n="104" d="100"/>
          <a:sy n="104" d="100"/>
        </p:scale>
        <p:origin x="-161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9213" y="0"/>
            <a:ext cx="295116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632C7-A46A-4A61-B87F-C305BE696B05}" type="datetimeFigureOut">
              <a:rPr lang="en-US" smtClean="0"/>
              <a:t>7/1/2013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511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9213" y="9444038"/>
            <a:ext cx="2951162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0D8A8-E489-47CD-9481-D2CFCB060D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181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8536" y="0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C3315-6D57-46FA-A30C-59ECC2CC792E}" type="datetimeFigureOut">
              <a:rPr lang="en-US" smtClean="0"/>
              <a:t>7/1/2013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8536" y="9443662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75916-1A84-4714-97C4-EFF1309E833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412776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 dirty="0" smtClean="0"/>
              <a:t>Titelmasterformat durch Klicken 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168551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en-US" dirty="0"/>
          </a:p>
        </p:txBody>
      </p:sp>
      <p:pic>
        <p:nvPicPr>
          <p:cNvPr id="9" name="Picture 7" descr="poster_lehrstuhl_wien_a1_2012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4" y="6409124"/>
            <a:ext cx="937685" cy="43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1622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256584"/>
          </a:xfrm>
        </p:spPr>
        <p:txBody>
          <a:bodyPr/>
          <a:lstStyle>
            <a:lvl1pPr marL="342900" indent="-342900">
              <a:buFont typeface="Wingdings" pitchFamily="2" charset="2"/>
              <a:buChar char="q"/>
              <a:defRPr/>
            </a:lvl1pPr>
            <a:lvl2pPr marL="742950" indent="-285750">
              <a:buFont typeface="Wingdings" pitchFamily="2" charset="2"/>
              <a:buChar char="Ø"/>
              <a:defRPr/>
            </a:lvl2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323555" y="6444614"/>
            <a:ext cx="69344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840D37D5-2D62-4019-B603-311C6B5CF006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7982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670708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 smtClean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51520" y="764704"/>
            <a:ext cx="8568952" cy="5472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8" name="Text Box 82"/>
          <p:cNvSpPr txBox="1">
            <a:spLocks noChangeArrowheads="1"/>
          </p:cNvSpPr>
          <p:nvPr userDrawn="1"/>
        </p:nvSpPr>
        <p:spPr bwMode="auto">
          <a:xfrm>
            <a:off x="2597544" y="6474733"/>
            <a:ext cx="532383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500" dirty="0" smtClean="0"/>
              <a:t>CFS++</a:t>
            </a:r>
            <a:r>
              <a:rPr lang="en-US" sz="1500" baseline="0" dirty="0" smtClean="0"/>
              <a:t> - Tutorial: Part IV,  2013</a:t>
            </a:r>
            <a:endParaRPr lang="en-US" sz="1500" b="1" noProof="0" dirty="0"/>
          </a:p>
        </p:txBody>
      </p:sp>
      <p:sp>
        <p:nvSpPr>
          <p:cNvPr id="10" name="Line 40"/>
          <p:cNvSpPr>
            <a:spLocks noChangeShapeType="1"/>
          </p:cNvSpPr>
          <p:nvPr userDrawn="1"/>
        </p:nvSpPr>
        <p:spPr bwMode="auto">
          <a:xfrm>
            <a:off x="0" y="476672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67463"/>
            <a:ext cx="2506663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ine 40"/>
          <p:cNvSpPr>
            <a:spLocks noChangeShapeType="1"/>
          </p:cNvSpPr>
          <p:nvPr userDrawn="1"/>
        </p:nvSpPr>
        <p:spPr bwMode="auto">
          <a:xfrm>
            <a:off x="0" y="6373236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348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.xml"/><Relationship Id="rId7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1069" y="3598385"/>
            <a:ext cx="8863343" cy="2564705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Manfred </a:t>
            </a:r>
            <a:r>
              <a:rPr lang="en-US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Kaltenbacher</a:t>
            </a: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and Andreas Hüppe</a:t>
            </a:r>
          </a:p>
          <a:p>
            <a:pPr>
              <a:spcAft>
                <a:spcPts val="1200"/>
              </a:spcAft>
            </a:pPr>
            <a:endParaRPr lang="en-US" sz="10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Aft>
                <a:spcPts val="1200"/>
              </a:spcAft>
            </a:pPr>
            <a:r>
              <a:rPr lang="en-US" dirty="0" smtClean="0">
                <a:solidFill>
                  <a:schemeClr val="tx1"/>
                </a:solidFill>
              </a:rPr>
              <a:t>Institute of Mechanics and Mechatronics, Vienna University of Technology</a:t>
            </a:r>
          </a:p>
          <a:p>
            <a:pPr>
              <a:spcAft>
                <a:spcPts val="1200"/>
              </a:spcAft>
            </a:pPr>
            <a:r>
              <a:rPr lang="en-US" dirty="0" smtClean="0">
                <a:solidFill>
                  <a:schemeClr val="tx1"/>
                </a:solidFill>
              </a:rPr>
              <a:t>Austria</a:t>
            </a:r>
          </a:p>
          <a:p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sz="24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982" y="591668"/>
            <a:ext cx="2478486" cy="678991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5335072" y="1389414"/>
            <a:ext cx="3808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</a:t>
            </a:r>
            <a:r>
              <a:rPr lang="en-US" sz="2800" dirty="0" smtClean="0"/>
              <a:t>oupled </a:t>
            </a:r>
            <a:r>
              <a:rPr lang="en-US" sz="2800" b="1" dirty="0" smtClean="0"/>
              <a:t>F</a:t>
            </a:r>
            <a:r>
              <a:rPr lang="en-US" sz="2800" dirty="0" smtClean="0"/>
              <a:t>ield </a:t>
            </a:r>
            <a:r>
              <a:rPr lang="en-US" sz="2800" b="1" dirty="0" smtClean="0"/>
              <a:t>S</a:t>
            </a:r>
            <a:r>
              <a:rPr lang="en-US" sz="2800" dirty="0" smtClean="0"/>
              <a:t>imulation</a:t>
            </a:r>
            <a:endParaRPr lang="en-US" sz="2800" dirty="0"/>
          </a:p>
        </p:txBody>
      </p:sp>
      <p:sp>
        <p:nvSpPr>
          <p:cNvPr id="6" name="Textfeld 5"/>
          <p:cNvSpPr txBox="1"/>
          <p:nvPr/>
        </p:nvSpPr>
        <p:spPr>
          <a:xfrm>
            <a:off x="1378610" y="2373086"/>
            <a:ext cx="71671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/>
              <a:t>How to implement a new PDE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66447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PDE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err="1" smtClean="0"/>
              <a:t>Let‘s</a:t>
            </a:r>
            <a:r>
              <a:rPr lang="de-AT" dirty="0" smtClean="0"/>
              <a:t> </a:t>
            </a:r>
            <a:r>
              <a:rPr lang="de-AT" dirty="0" err="1" smtClean="0"/>
              <a:t>define</a:t>
            </a:r>
            <a:r>
              <a:rPr lang="de-AT" dirty="0" smtClean="0"/>
              <a:t> a simple </a:t>
            </a:r>
            <a:r>
              <a:rPr lang="de-AT" dirty="0" err="1" smtClean="0"/>
              <a:t>parabolic</a:t>
            </a:r>
            <a:r>
              <a:rPr lang="de-AT" dirty="0" smtClean="0"/>
              <a:t> PDE</a:t>
            </a:r>
          </a:p>
          <a:p>
            <a:endParaRPr lang="de-AT" dirty="0"/>
          </a:p>
          <a:p>
            <a:endParaRPr lang="de-AT" dirty="0" smtClean="0"/>
          </a:p>
          <a:p>
            <a:endParaRPr lang="de-AT" dirty="0"/>
          </a:p>
          <a:p>
            <a:r>
              <a:rPr lang="de-AT" dirty="0" err="1" smtClean="0"/>
              <a:t>Weak</a:t>
            </a:r>
            <a:r>
              <a:rPr lang="de-AT" dirty="0" smtClean="0"/>
              <a:t> form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83" y="2766130"/>
            <a:ext cx="5103208" cy="748966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596" y="1637335"/>
            <a:ext cx="1498929" cy="19826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963" y="1405513"/>
            <a:ext cx="2629791" cy="613291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506" y="3998545"/>
            <a:ext cx="1498929" cy="19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25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Directory source/PDE</a:t>
            </a:r>
          </a:p>
          <a:p>
            <a:pPr lvl="1"/>
            <a:r>
              <a:rPr lang="en-US" dirty="0" smtClean="0"/>
              <a:t>Create the Files „TestPDE.cc“ and „</a:t>
            </a:r>
            <a:r>
              <a:rPr lang="en-US" dirty="0" err="1" smtClean="0"/>
              <a:t>TestPDE.hh</a:t>
            </a:r>
            <a:r>
              <a:rPr lang="en-US" dirty="0" smtClean="0"/>
              <a:t>“ (perhaps it makes sense to copy a similar already existing PDE).</a:t>
            </a:r>
          </a:p>
          <a:p>
            <a:pPr lvl="1"/>
            <a:r>
              <a:rPr lang="en-US" dirty="0" smtClean="0"/>
              <a:t>Include „TestPDE.cc“ in the file „CMakeLists.txt“ so that </a:t>
            </a:r>
            <a:r>
              <a:rPr lang="en-US" dirty="0" err="1" smtClean="0"/>
              <a:t>cmake</a:t>
            </a:r>
            <a:r>
              <a:rPr lang="en-US" dirty="0" smtClean="0"/>
              <a:t> is also compiling this file.</a:t>
            </a:r>
          </a:p>
          <a:p>
            <a:pPr lvl="1"/>
            <a:endParaRPr lang="en-US" sz="2400" dirty="0" smtClean="0"/>
          </a:p>
          <a:p>
            <a:r>
              <a:rPr lang="en-US" dirty="0" smtClean="0"/>
              <a:t>Subversion</a:t>
            </a:r>
          </a:p>
          <a:p>
            <a:pPr lvl="1"/>
            <a:r>
              <a:rPr lang="en-US" dirty="0" smtClean="0"/>
              <a:t>Add the files to the repository (performed at the next check in)</a:t>
            </a:r>
            <a:br>
              <a:rPr lang="en-US" dirty="0" smtClean="0"/>
            </a:br>
            <a:r>
              <a:rPr lang="en-US" dirty="0" smtClean="0"/>
              <a:t>          </a:t>
            </a:r>
            <a:r>
              <a:rPr lang="en-US" dirty="0" err="1" smtClean="0"/>
              <a:t>svn</a:t>
            </a:r>
            <a:r>
              <a:rPr lang="en-US" dirty="0" smtClean="0"/>
              <a:t> add TestPDE.cc </a:t>
            </a:r>
            <a:r>
              <a:rPr lang="en-US" dirty="0" err="1" smtClean="0"/>
              <a:t>TestPDE.hh</a:t>
            </a:r>
            <a:endParaRPr lang="en-US" dirty="0" smtClean="0"/>
          </a:p>
          <a:p>
            <a:pPr lvl="1"/>
            <a:endParaRPr lang="en-US" sz="2400" dirty="0" smtClean="0"/>
          </a:p>
          <a:p>
            <a:r>
              <a:rPr lang="en-US" dirty="0" smtClean="0"/>
              <a:t>Start „eclipse“ and open the files „</a:t>
            </a:r>
            <a:r>
              <a:rPr lang="en-US" dirty="0" err="1" smtClean="0"/>
              <a:t>TestPDE.hh</a:t>
            </a:r>
            <a:r>
              <a:rPr lang="en-US" dirty="0" smtClean="0"/>
              <a:t>“ and „TestPDE.cc“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66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err="1" smtClean="0"/>
              <a:t>Important</a:t>
            </a:r>
            <a:r>
              <a:rPr lang="de-AT" dirty="0" smtClean="0"/>
              <a:t> </a:t>
            </a:r>
            <a:r>
              <a:rPr lang="de-AT" dirty="0" err="1" smtClean="0"/>
              <a:t>aspects</a:t>
            </a:r>
            <a:r>
              <a:rPr lang="de-AT" dirty="0" smtClean="0"/>
              <a:t> </a:t>
            </a:r>
            <a:r>
              <a:rPr lang="de-AT" dirty="0" err="1" smtClean="0"/>
              <a:t>for</a:t>
            </a:r>
            <a:r>
              <a:rPr lang="de-AT" dirty="0" smtClean="0"/>
              <a:t> „</a:t>
            </a:r>
            <a:r>
              <a:rPr lang="de-AT" dirty="0" err="1" smtClean="0"/>
              <a:t>TestPDE.hh</a:t>
            </a:r>
            <a:r>
              <a:rPr lang="de-AT" dirty="0" smtClean="0"/>
              <a:t>“</a:t>
            </a:r>
          </a:p>
          <a:p>
            <a:pPr lvl="1"/>
            <a:r>
              <a:rPr lang="de-AT" dirty="0" err="1" smtClean="0"/>
              <a:t>Put</a:t>
            </a:r>
            <a:r>
              <a:rPr lang="de-AT" dirty="0" smtClean="0"/>
              <a:t> a </a:t>
            </a:r>
            <a:r>
              <a:rPr lang="de-AT" dirty="0" err="1" smtClean="0"/>
              <a:t>short</a:t>
            </a:r>
            <a:r>
              <a:rPr lang="de-AT" dirty="0" smtClean="0"/>
              <a:t> </a:t>
            </a:r>
            <a:r>
              <a:rPr lang="de-AT" dirty="0" err="1" smtClean="0"/>
              <a:t>documentation</a:t>
            </a:r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sz="2400" dirty="0" smtClean="0"/>
          </a:p>
          <a:p>
            <a:pPr lvl="1"/>
            <a:r>
              <a:rPr lang="de-AT" dirty="0" smtClean="0"/>
              <a:t>As </a:t>
            </a:r>
            <a:r>
              <a:rPr lang="de-AT" dirty="0" err="1" smtClean="0"/>
              <a:t>much</a:t>
            </a:r>
            <a:r>
              <a:rPr lang="de-AT" dirty="0" smtClean="0"/>
              <a:t> </a:t>
            </a:r>
            <a:r>
              <a:rPr lang="de-AT" dirty="0" err="1" smtClean="0"/>
              <a:t>as</a:t>
            </a:r>
            <a:r>
              <a:rPr lang="de-AT" dirty="0" smtClean="0"/>
              <a:t> </a:t>
            </a:r>
            <a:r>
              <a:rPr lang="de-AT" dirty="0" err="1" smtClean="0"/>
              <a:t>possible</a:t>
            </a:r>
            <a:r>
              <a:rPr lang="de-AT" dirty="0" smtClean="0"/>
              <a:t> </a:t>
            </a:r>
            <a:r>
              <a:rPr lang="de-AT" dirty="0" err="1" smtClean="0"/>
              <a:t>use</a:t>
            </a:r>
            <a:r>
              <a:rPr lang="de-AT" dirty="0"/>
              <a:t> </a:t>
            </a:r>
            <a:r>
              <a:rPr lang="de-AT" dirty="0" err="1"/>
              <a:t>forward</a:t>
            </a:r>
            <a:r>
              <a:rPr lang="de-AT" dirty="0"/>
              <a:t> </a:t>
            </a:r>
            <a:r>
              <a:rPr lang="de-AT" dirty="0" err="1"/>
              <a:t>class</a:t>
            </a:r>
            <a:r>
              <a:rPr lang="de-AT" dirty="0"/>
              <a:t> </a:t>
            </a:r>
            <a:r>
              <a:rPr lang="de-AT" dirty="0" err="1" smtClean="0"/>
              <a:t>declaration</a:t>
            </a:r>
            <a:r>
              <a:rPr lang="de-AT" dirty="0" smtClean="0"/>
              <a:t> </a:t>
            </a:r>
            <a:r>
              <a:rPr lang="de-AT" dirty="0" err="1" smtClean="0"/>
              <a:t>instead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including</a:t>
            </a:r>
            <a:r>
              <a:rPr lang="de-AT" dirty="0" smtClean="0"/>
              <a:t> *.</a:t>
            </a:r>
            <a:r>
              <a:rPr lang="de-AT" dirty="0" err="1" smtClean="0"/>
              <a:t>hh</a:t>
            </a:r>
            <a:r>
              <a:rPr lang="de-AT" dirty="0" smtClean="0"/>
              <a:t> </a:t>
            </a:r>
            <a:r>
              <a:rPr lang="de-AT" dirty="0" err="1" smtClean="0"/>
              <a:t>files</a:t>
            </a:r>
            <a:endParaRPr lang="de-AT" dirty="0" smtClean="0"/>
          </a:p>
          <a:p>
            <a:pPr lvl="1"/>
            <a:endParaRPr lang="de-AT" sz="1000" dirty="0" smtClean="0"/>
          </a:p>
          <a:p>
            <a:pPr lvl="1"/>
            <a:r>
              <a:rPr lang="de-AT" dirty="0" err="1" smtClean="0"/>
              <a:t>Define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hh</a:t>
            </a:r>
            <a:r>
              <a:rPr lang="de-AT" dirty="0" smtClean="0"/>
              <a:t>-File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use</a:t>
            </a:r>
            <a:r>
              <a:rPr lang="de-AT" dirty="0" smtClean="0"/>
              <a:t> </a:t>
            </a:r>
            <a:r>
              <a:rPr lang="de-AT" dirty="0" err="1" smtClean="0"/>
              <a:t>our</a:t>
            </a:r>
            <a:r>
              <a:rPr lang="de-AT" dirty="0" smtClean="0"/>
              <a:t> </a:t>
            </a:r>
            <a:r>
              <a:rPr lang="de-AT" dirty="0" err="1" smtClean="0"/>
              <a:t>namespace</a:t>
            </a:r>
            <a:endParaRPr lang="de-AT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421969"/>
              </p:ext>
            </p:extLst>
          </p:nvPr>
        </p:nvGraphicFramePr>
        <p:xfrm>
          <a:off x="1068783" y="1491142"/>
          <a:ext cx="6923311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169144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/*!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*       \file     </a:t>
                      </a:r>
                      <a:r>
                        <a:rPr lang="en-US" sz="1400" dirty="0" err="1" smtClean="0">
                          <a:effectLst/>
                        </a:rPr>
                        <a:t>TestPDE.hh</a:t>
                      </a:r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*       \brief    This PDE will be used to train new developers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*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*       \date     July 2, 2013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*       \author   Manfred </a:t>
                      </a:r>
                      <a:r>
                        <a:rPr lang="en-US" sz="1400" dirty="0" err="1" smtClean="0">
                          <a:effectLst/>
                        </a:rPr>
                        <a:t>Kaltenbacher</a:t>
                      </a:r>
                      <a:r>
                        <a:rPr lang="en-US" sz="1400" dirty="0" smtClean="0">
                          <a:effectLst/>
                        </a:rPr>
                        <a:t>, TU Wien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*/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968098"/>
              </p:ext>
            </p:extLst>
          </p:nvPr>
        </p:nvGraphicFramePr>
        <p:xfrm>
          <a:off x="1114305" y="4427516"/>
          <a:ext cx="6923311" cy="1864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1864426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#</a:t>
                      </a:r>
                      <a:r>
                        <a:rPr lang="en-US" sz="1400" dirty="0" err="1" smtClean="0">
                          <a:effectLst/>
                        </a:rPr>
                        <a:t>ifndef</a:t>
                      </a:r>
                      <a:r>
                        <a:rPr lang="en-US" sz="1400" dirty="0" smtClean="0">
                          <a:effectLst/>
                        </a:rPr>
                        <a:t> TESTPDE_HH_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#define TESTPDE_HH_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namespace </a:t>
                      </a:r>
                      <a:r>
                        <a:rPr lang="en-US" sz="1400" dirty="0" err="1" smtClean="0">
                          <a:effectLst/>
                        </a:rPr>
                        <a:t>CoupledField</a:t>
                      </a:r>
                      <a:r>
                        <a:rPr lang="en-US" sz="1400" dirty="0" smtClean="0">
                          <a:effectLst/>
                        </a:rPr>
                        <a:t> {</a:t>
                      </a:r>
                    </a:p>
                    <a:p>
                      <a:r>
                        <a:rPr lang="de-AT" sz="1400" dirty="0" smtClean="0">
                          <a:effectLst/>
                        </a:rPr>
                        <a:t>….</a:t>
                      </a:r>
                    </a:p>
                    <a:p>
                      <a:r>
                        <a:rPr lang="de-AT" sz="1400" dirty="0" smtClean="0">
                          <a:effectLst/>
                        </a:rPr>
                        <a:t>….</a:t>
                      </a:r>
                    </a:p>
                    <a:p>
                      <a:endParaRPr lang="de-AT" sz="1400" dirty="0" smtClean="0">
                        <a:effectLst/>
                      </a:endParaRPr>
                    </a:p>
                    <a:p>
                      <a:r>
                        <a:rPr lang="de-AT" sz="1400" dirty="0" smtClean="0">
                          <a:effectLst/>
                        </a:rPr>
                        <a:t>}</a:t>
                      </a:r>
                      <a:endParaRPr lang="en-US" sz="1400" dirty="0" smtClean="0">
                        <a:effectLst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171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622204"/>
            <a:ext cx="8640960" cy="5256584"/>
          </a:xfrm>
        </p:spPr>
        <p:txBody>
          <a:bodyPr/>
          <a:lstStyle/>
          <a:p>
            <a:r>
              <a:rPr lang="de-AT" dirty="0" err="1" smtClean="0"/>
              <a:t>Important</a:t>
            </a:r>
            <a:r>
              <a:rPr lang="de-AT" dirty="0" smtClean="0"/>
              <a:t> </a:t>
            </a:r>
            <a:r>
              <a:rPr lang="de-AT" dirty="0" err="1" smtClean="0"/>
              <a:t>aspects</a:t>
            </a:r>
            <a:r>
              <a:rPr lang="de-AT" dirty="0" smtClean="0"/>
              <a:t> </a:t>
            </a:r>
            <a:r>
              <a:rPr lang="de-AT" dirty="0" err="1" smtClean="0"/>
              <a:t>for</a:t>
            </a:r>
            <a:r>
              <a:rPr lang="de-AT" dirty="0" smtClean="0"/>
              <a:t> „</a:t>
            </a:r>
            <a:r>
              <a:rPr lang="de-AT" dirty="0" err="1" smtClean="0"/>
              <a:t>TestPDE.hh</a:t>
            </a:r>
            <a:r>
              <a:rPr lang="de-AT" dirty="0" smtClean="0"/>
              <a:t>“</a:t>
            </a:r>
          </a:p>
          <a:p>
            <a:pPr lvl="1"/>
            <a:r>
              <a:rPr lang="de-AT" dirty="0" smtClean="0"/>
              <a:t>Main </a:t>
            </a:r>
            <a:r>
              <a:rPr lang="de-AT" dirty="0" err="1" smtClean="0"/>
              <a:t>Methods</a:t>
            </a:r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sz="2400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615562"/>
              </p:ext>
            </p:extLst>
          </p:nvPr>
        </p:nvGraphicFramePr>
        <p:xfrm>
          <a:off x="1068783" y="1294417"/>
          <a:ext cx="6923311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1864426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public: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//!  Constructor.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TestPDE</a:t>
                      </a:r>
                      <a:r>
                        <a:rPr lang="en-US" sz="1400" dirty="0" smtClean="0">
                          <a:effectLst/>
                        </a:rPr>
                        <a:t>( Grid* </a:t>
                      </a:r>
                      <a:r>
                        <a:rPr lang="en-US" sz="1400" dirty="0" err="1" smtClean="0">
                          <a:effectLst/>
                        </a:rPr>
                        <a:t>aGrid</a:t>
                      </a:r>
                      <a:r>
                        <a:rPr lang="en-US" sz="1400" dirty="0" smtClean="0">
                          <a:effectLst/>
                        </a:rPr>
                        <a:t>,  </a:t>
                      </a:r>
                      <a:r>
                        <a:rPr lang="en-US" sz="1400" dirty="0" err="1" smtClean="0">
                          <a:effectLst/>
                        </a:rPr>
                        <a:t>PtrParamNode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paramNode</a:t>
                      </a:r>
                      <a:r>
                        <a:rPr lang="en-US" sz="1400" dirty="0" smtClean="0">
                          <a:effectLst/>
                        </a:rPr>
                        <a:t>,   </a:t>
                      </a:r>
                      <a:r>
                        <a:rPr lang="en-US" sz="1400" dirty="0" err="1" smtClean="0">
                          <a:effectLst/>
                        </a:rPr>
                        <a:t>PtrParamNode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infoNode</a:t>
                      </a:r>
                      <a:r>
                        <a:rPr lang="en-US" sz="1400" dirty="0" smtClean="0">
                          <a:effectLst/>
                        </a:rPr>
                        <a:t>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SimState</a:t>
                      </a:r>
                      <a:r>
                        <a:rPr lang="en-US" sz="1400" dirty="0" smtClean="0">
                          <a:effectLst/>
                        </a:rPr>
                        <a:t>&gt; </a:t>
                      </a:r>
                      <a:r>
                        <a:rPr lang="en-US" sz="1400" dirty="0" err="1" smtClean="0">
                          <a:effectLst/>
                        </a:rPr>
                        <a:t>simState</a:t>
                      </a:r>
                      <a:r>
                        <a:rPr lang="en-US" sz="1400" dirty="0" smtClean="0">
                          <a:effectLst/>
                        </a:rPr>
                        <a:t>,  Domain* domain  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//! Destructor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virtual ~</a:t>
                      </a:r>
                      <a:r>
                        <a:rPr lang="en-US" sz="1400" dirty="0" err="1" smtClean="0">
                          <a:effectLst/>
                        </a:rPr>
                        <a:t>TestPDE</a:t>
                      </a:r>
                      <a:r>
                        <a:rPr lang="en-US" sz="1400" dirty="0" smtClean="0">
                          <a:effectLst/>
                        </a:rPr>
                        <a:t>(){};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protected: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//! Initialize </a:t>
                      </a:r>
                      <a:r>
                        <a:rPr lang="en-US" sz="1400" dirty="0" err="1" smtClean="0">
                          <a:effectLst/>
                        </a:rPr>
                        <a:t>NonLinearities</a:t>
                      </a:r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virtual void </a:t>
                      </a:r>
                      <a:r>
                        <a:rPr lang="en-US" sz="1400" dirty="0" err="1" smtClean="0">
                          <a:effectLst/>
                        </a:rPr>
                        <a:t>InitNonLin</a:t>
                      </a:r>
                      <a:r>
                        <a:rPr lang="en-US" sz="1400" dirty="0" smtClean="0">
                          <a:effectLst/>
                        </a:rPr>
                        <a:t>();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//! \</a:t>
                      </a:r>
                      <a:r>
                        <a:rPr lang="en-US" sz="1400" dirty="0" err="1" smtClean="0">
                          <a:effectLst/>
                        </a:rPr>
                        <a:t>copydoc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SinglePDE</a:t>
                      </a:r>
                      <a:r>
                        <a:rPr lang="en-US" sz="1400" dirty="0" smtClean="0">
                          <a:effectLst/>
                        </a:rPr>
                        <a:t>::</a:t>
                      </a:r>
                      <a:r>
                        <a:rPr lang="en-US" sz="1400" dirty="0" err="1" smtClean="0">
                          <a:effectLst/>
                        </a:rPr>
                        <a:t>CreateFeSpaces</a:t>
                      </a:r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virtual 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::map&lt;</a:t>
                      </a:r>
                      <a:r>
                        <a:rPr lang="en-US" sz="1400" dirty="0" err="1" smtClean="0">
                          <a:effectLst/>
                        </a:rPr>
                        <a:t>SolutionType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FeSpace</a:t>
                      </a:r>
                      <a:r>
                        <a:rPr lang="en-US" sz="1400" dirty="0" smtClean="0">
                          <a:effectLst/>
                        </a:rPr>
                        <a:t>&gt; &gt;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CreateFeSpaces</a:t>
                      </a:r>
                      <a:r>
                        <a:rPr lang="en-US" sz="1400" dirty="0" smtClean="0">
                          <a:effectLst/>
                        </a:rPr>
                        <a:t>( </a:t>
                      </a:r>
                      <a:r>
                        <a:rPr lang="en-US" sz="1400" dirty="0" err="1" smtClean="0">
                          <a:effectLst/>
                        </a:rPr>
                        <a:t>const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::string&amp;  formulation,  </a:t>
                      </a:r>
                      <a:r>
                        <a:rPr lang="en-US" sz="1400" dirty="0" err="1" smtClean="0">
                          <a:effectLst/>
                        </a:rPr>
                        <a:t>PtrParamNode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infoNode</a:t>
                      </a:r>
                      <a:r>
                        <a:rPr lang="en-US" sz="1400" dirty="0" smtClean="0">
                          <a:effectLst/>
                        </a:rPr>
                        <a:t> 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//! define all (</a:t>
                      </a:r>
                      <a:r>
                        <a:rPr lang="en-US" sz="1400" dirty="0" err="1" smtClean="0">
                          <a:effectLst/>
                        </a:rPr>
                        <a:t>bilinearform</a:t>
                      </a:r>
                      <a:r>
                        <a:rPr lang="en-US" sz="1400" dirty="0" smtClean="0">
                          <a:effectLst/>
                        </a:rPr>
                        <a:t>) integrators needed for this </a:t>
                      </a:r>
                      <a:r>
                        <a:rPr lang="en-US" sz="1400" dirty="0" err="1" smtClean="0">
                          <a:effectLst/>
                        </a:rPr>
                        <a:t>pde</a:t>
                      </a:r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void </a:t>
                      </a:r>
                      <a:r>
                        <a:rPr lang="en-US" sz="1400" dirty="0" err="1" smtClean="0">
                          <a:effectLst/>
                        </a:rPr>
                        <a:t>DefineIntegrators</a:t>
                      </a:r>
                      <a:r>
                        <a:rPr lang="en-US" sz="1400" dirty="0" smtClean="0">
                          <a:effectLst/>
                        </a:rPr>
                        <a:t>();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//! define surface integrators needed for this </a:t>
                      </a:r>
                      <a:r>
                        <a:rPr lang="en-US" sz="1400" dirty="0" err="1" smtClean="0">
                          <a:effectLst/>
                        </a:rPr>
                        <a:t>pde</a:t>
                      </a:r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void </a:t>
                      </a:r>
                      <a:r>
                        <a:rPr lang="en-US" sz="1400" dirty="0" err="1" smtClean="0">
                          <a:effectLst/>
                        </a:rPr>
                        <a:t>DefineSurfaceIntegrators</a:t>
                      </a:r>
                      <a:r>
                        <a:rPr lang="en-US" sz="1400" dirty="0" smtClean="0">
                          <a:effectLst/>
                        </a:rPr>
                        <a:t>( ) {};</a:t>
                      </a:r>
                    </a:p>
                    <a:p>
                      <a:endParaRPr lang="de-AT" sz="1400" dirty="0" smtClean="0">
                        <a:effectLst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Gerade Verbindung mit Pfeil 6"/>
          <p:cNvCxnSpPr>
            <a:stCxn id="8" idx="1"/>
          </p:cNvCxnSpPr>
          <p:nvPr/>
        </p:nvCxnSpPr>
        <p:spPr>
          <a:xfrm flipH="1" flipV="1">
            <a:off x="3978234" y="5688281"/>
            <a:ext cx="1555662" cy="346917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/>
          <p:cNvSpPr txBox="1"/>
          <p:nvPr/>
        </p:nvSpPr>
        <p:spPr>
          <a:xfrm>
            <a:off x="5533896" y="5712032"/>
            <a:ext cx="3438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We</a:t>
            </a:r>
            <a:r>
              <a:rPr lang="de-AT" dirty="0" smtClean="0"/>
              <a:t> </a:t>
            </a:r>
            <a:r>
              <a:rPr lang="de-AT" dirty="0" err="1" smtClean="0"/>
              <a:t>have</a:t>
            </a:r>
            <a:r>
              <a:rPr lang="de-AT" dirty="0" smtClean="0"/>
              <a:t> </a:t>
            </a:r>
            <a:r>
              <a:rPr lang="de-AT" dirty="0" err="1" smtClean="0"/>
              <a:t>no</a:t>
            </a:r>
            <a:r>
              <a:rPr lang="de-AT" dirty="0" smtClean="0"/>
              <a:t> </a:t>
            </a:r>
            <a:r>
              <a:rPr lang="de-AT" dirty="0" err="1" smtClean="0"/>
              <a:t>surface</a:t>
            </a:r>
            <a:r>
              <a:rPr lang="de-AT" dirty="0" smtClean="0"/>
              <a:t> </a:t>
            </a:r>
            <a:r>
              <a:rPr lang="de-AT" dirty="0" err="1" smtClean="0"/>
              <a:t>operator</a:t>
            </a:r>
            <a:r>
              <a:rPr lang="de-AT" dirty="0" smtClean="0"/>
              <a:t> </a:t>
            </a:r>
            <a:r>
              <a:rPr lang="de-AT" dirty="0" err="1" smtClean="0"/>
              <a:t>to</a:t>
            </a:r>
            <a:r>
              <a:rPr lang="de-AT" dirty="0" smtClean="0"/>
              <a:t> </a:t>
            </a:r>
            <a:r>
              <a:rPr lang="de-AT" dirty="0" err="1" smtClean="0"/>
              <a:t>be</a:t>
            </a:r>
            <a:r>
              <a:rPr lang="de-AT" dirty="0" smtClean="0"/>
              <a:t/>
            </a:r>
            <a:br>
              <a:rPr lang="de-AT" dirty="0" smtClean="0"/>
            </a:br>
            <a:r>
              <a:rPr lang="de-AT" dirty="0" err="1" smtClean="0"/>
              <a:t>implemented</a:t>
            </a:r>
            <a:r>
              <a:rPr lang="de-AT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2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/>
          </a:bodyPr>
          <a:lstStyle/>
          <a:p>
            <a:r>
              <a:rPr lang="de-AT" dirty="0" err="1" smtClean="0"/>
              <a:t>Important</a:t>
            </a:r>
            <a:r>
              <a:rPr lang="de-AT" dirty="0" smtClean="0"/>
              <a:t> </a:t>
            </a:r>
            <a:r>
              <a:rPr lang="de-AT" dirty="0" err="1" smtClean="0"/>
              <a:t>aspects</a:t>
            </a:r>
            <a:r>
              <a:rPr lang="de-AT" dirty="0" smtClean="0"/>
              <a:t> </a:t>
            </a:r>
            <a:r>
              <a:rPr lang="de-AT" dirty="0" err="1" smtClean="0"/>
              <a:t>for</a:t>
            </a:r>
            <a:r>
              <a:rPr lang="de-AT" dirty="0" smtClean="0"/>
              <a:t> „</a:t>
            </a:r>
            <a:r>
              <a:rPr lang="de-AT" dirty="0" err="1" smtClean="0"/>
              <a:t>TestPDE.hh</a:t>
            </a:r>
            <a:r>
              <a:rPr lang="de-AT" dirty="0" smtClean="0"/>
              <a:t>“</a:t>
            </a:r>
          </a:p>
          <a:p>
            <a:pPr lvl="1"/>
            <a:r>
              <a:rPr lang="de-AT" dirty="0" smtClean="0"/>
              <a:t>Main </a:t>
            </a:r>
            <a:r>
              <a:rPr lang="de-AT" dirty="0" err="1" smtClean="0"/>
              <a:t>methods</a:t>
            </a:r>
            <a:r>
              <a:rPr lang="de-AT" dirty="0" smtClean="0"/>
              <a:t> (</a:t>
            </a:r>
            <a:r>
              <a:rPr lang="de-AT" dirty="0" err="1" smtClean="0"/>
              <a:t>cont</a:t>
            </a:r>
            <a:r>
              <a:rPr lang="de-AT" dirty="0" smtClean="0"/>
              <a:t>.)</a:t>
            </a:r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sz="2200" dirty="0" smtClean="0"/>
          </a:p>
          <a:p>
            <a:pPr lvl="1"/>
            <a:endParaRPr lang="de-AT" sz="1100" dirty="0" smtClean="0"/>
          </a:p>
          <a:p>
            <a:pPr lvl="1"/>
            <a:endParaRPr lang="de-AT" sz="1100" dirty="0"/>
          </a:p>
          <a:p>
            <a:pPr marL="457200" lvl="1" indent="0">
              <a:buNone/>
            </a:pPr>
            <a:endParaRPr lang="de-AT" sz="1100" dirty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sz="2400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510689"/>
              </p:ext>
            </p:extLst>
          </p:nvPr>
        </p:nvGraphicFramePr>
        <p:xfrm>
          <a:off x="1140035" y="1496292"/>
          <a:ext cx="6923311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1864426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   //! Defines the integrators needed for </a:t>
                      </a:r>
                      <a:r>
                        <a:rPr lang="en-US" sz="1400" dirty="0" err="1" smtClean="0">
                          <a:effectLst/>
                        </a:rPr>
                        <a:t>ncInterfaces</a:t>
                      </a:r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void </a:t>
                      </a:r>
                      <a:r>
                        <a:rPr lang="en-US" sz="1400" dirty="0" err="1" smtClean="0">
                          <a:effectLst/>
                        </a:rPr>
                        <a:t>DefineNcIntegrators</a:t>
                      </a:r>
                      <a:r>
                        <a:rPr lang="en-US" sz="1400" dirty="0" smtClean="0">
                          <a:effectLst/>
                        </a:rPr>
                        <a:t>() {};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//! Define all RHS </a:t>
                      </a:r>
                      <a:r>
                        <a:rPr lang="en-US" sz="1400" dirty="0" err="1" smtClean="0">
                          <a:effectLst/>
                        </a:rPr>
                        <a:t>linearforms</a:t>
                      </a:r>
                      <a:r>
                        <a:rPr lang="en-US" sz="1400" dirty="0" smtClean="0">
                          <a:effectLst/>
                        </a:rPr>
                        <a:t> for load / excitation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void </a:t>
                      </a:r>
                      <a:r>
                        <a:rPr lang="en-US" sz="1400" dirty="0" err="1" smtClean="0">
                          <a:effectLst/>
                        </a:rPr>
                        <a:t>DefineRhsLoadIntegrators</a:t>
                      </a:r>
                      <a:r>
                        <a:rPr lang="en-US" sz="1400" dirty="0" smtClean="0">
                          <a:effectLst/>
                        </a:rPr>
                        <a:t>();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//! define the </a:t>
                      </a:r>
                      <a:r>
                        <a:rPr lang="en-US" sz="1400" dirty="0" err="1" smtClean="0">
                          <a:effectLst/>
                        </a:rPr>
                        <a:t>SoltionStep</a:t>
                      </a:r>
                      <a:r>
                        <a:rPr lang="en-US" sz="1400" dirty="0" smtClean="0">
                          <a:effectLst/>
                        </a:rPr>
                        <a:t>-Driver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void </a:t>
                      </a:r>
                      <a:r>
                        <a:rPr lang="en-US" sz="1400" dirty="0" err="1" smtClean="0">
                          <a:effectLst/>
                        </a:rPr>
                        <a:t>DefineSolveStep</a:t>
                      </a:r>
                      <a:r>
                        <a:rPr lang="en-US" sz="1400" dirty="0" smtClean="0">
                          <a:effectLst/>
                        </a:rPr>
                        <a:t>();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//!  Define available </a:t>
                      </a:r>
                      <a:r>
                        <a:rPr lang="en-US" sz="1400" dirty="0" err="1" smtClean="0">
                          <a:effectLst/>
                        </a:rPr>
                        <a:t>postprocessing</a:t>
                      </a:r>
                      <a:r>
                        <a:rPr lang="en-US" sz="1400" dirty="0" smtClean="0">
                          <a:effectLst/>
                        </a:rPr>
                        <a:t> results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void </a:t>
                      </a:r>
                      <a:r>
                        <a:rPr lang="en-US" sz="1400" dirty="0" err="1" smtClean="0">
                          <a:effectLst/>
                        </a:rPr>
                        <a:t>DefinePrimaryResults</a:t>
                      </a:r>
                      <a:r>
                        <a:rPr lang="en-US" sz="1400" dirty="0" smtClean="0">
                          <a:effectLst/>
                        </a:rPr>
                        <a:t>();</a:t>
                      </a:r>
                    </a:p>
                    <a:p>
                      <a:endParaRPr lang="de-AT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//! Define available </a:t>
                      </a:r>
                      <a:r>
                        <a:rPr lang="en-US" sz="1400" dirty="0" err="1" smtClean="0">
                          <a:effectLst/>
                        </a:rPr>
                        <a:t>postprocessing</a:t>
                      </a:r>
                      <a:r>
                        <a:rPr lang="en-US" sz="1400" dirty="0" smtClean="0">
                          <a:effectLst/>
                        </a:rPr>
                        <a:t> results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void </a:t>
                      </a:r>
                      <a:r>
                        <a:rPr lang="en-US" sz="1400" dirty="0" err="1" smtClean="0">
                          <a:effectLst/>
                        </a:rPr>
                        <a:t>DefinePostProcResults</a:t>
                      </a:r>
                      <a:r>
                        <a:rPr lang="en-US" sz="1400" dirty="0" smtClean="0">
                          <a:effectLst/>
                        </a:rPr>
                        <a:t>();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//! </a:t>
                      </a:r>
                      <a:r>
                        <a:rPr lang="en-US" sz="1400" dirty="0" err="1" smtClean="0">
                          <a:effectLst/>
                        </a:rPr>
                        <a:t>Init</a:t>
                      </a:r>
                      <a:r>
                        <a:rPr lang="en-US" sz="1400" dirty="0" smtClean="0">
                          <a:effectLst/>
                        </a:rPr>
                        <a:t> the time stepping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void </a:t>
                      </a:r>
                      <a:r>
                        <a:rPr lang="en-US" sz="1400" dirty="0" err="1" smtClean="0">
                          <a:effectLst/>
                        </a:rPr>
                        <a:t>InitTimeStepping</a:t>
                      </a:r>
                      <a:r>
                        <a:rPr lang="en-US" sz="1400" dirty="0" smtClean="0">
                          <a:effectLst/>
                        </a:rPr>
                        <a:t>();</a:t>
                      </a:r>
                    </a:p>
                    <a:p>
                      <a:endParaRPr lang="de-AT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85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 lnSpcReduction="10000"/>
          </a:bodyPr>
          <a:lstStyle/>
          <a:p>
            <a:r>
              <a:rPr lang="de-AT" dirty="0" err="1" smtClean="0"/>
              <a:t>Important</a:t>
            </a:r>
            <a:r>
              <a:rPr lang="de-AT" dirty="0" smtClean="0"/>
              <a:t> </a:t>
            </a:r>
            <a:r>
              <a:rPr lang="de-AT" dirty="0" err="1" smtClean="0"/>
              <a:t>aspects</a:t>
            </a:r>
            <a:r>
              <a:rPr lang="de-AT" dirty="0" smtClean="0"/>
              <a:t> </a:t>
            </a:r>
            <a:r>
              <a:rPr lang="de-AT" dirty="0" err="1" smtClean="0"/>
              <a:t>for</a:t>
            </a:r>
            <a:r>
              <a:rPr lang="de-AT" dirty="0" smtClean="0"/>
              <a:t> „</a:t>
            </a:r>
            <a:r>
              <a:rPr lang="de-AT" dirty="0" err="1" smtClean="0"/>
              <a:t>TestPDE.hh</a:t>
            </a:r>
            <a:r>
              <a:rPr lang="de-AT" dirty="0" smtClean="0"/>
              <a:t>“</a:t>
            </a:r>
          </a:p>
          <a:p>
            <a:pPr lvl="1"/>
            <a:r>
              <a:rPr lang="de-AT" dirty="0" err="1" smtClean="0"/>
              <a:t>Constructor</a:t>
            </a:r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marL="457200" lvl="1" indent="0">
              <a:buNone/>
            </a:pPr>
            <a:endParaRPr lang="de-AT" dirty="0" smtClean="0"/>
          </a:p>
          <a:p>
            <a:pPr marL="457200" lvl="1" indent="0">
              <a:buNone/>
            </a:pPr>
            <a:endParaRPr lang="de-AT" dirty="0" smtClean="0"/>
          </a:p>
          <a:p>
            <a:pPr lvl="2"/>
            <a:r>
              <a:rPr lang="de-AT" b="1" dirty="0" err="1" smtClean="0"/>
              <a:t>Grid</a:t>
            </a:r>
            <a:r>
              <a:rPr lang="de-AT" b="1" dirty="0"/>
              <a:t>* </a:t>
            </a:r>
            <a:r>
              <a:rPr lang="de-AT" b="1" dirty="0" err="1" smtClean="0"/>
              <a:t>aGrid</a:t>
            </a:r>
            <a:r>
              <a:rPr lang="de-AT" b="1" dirty="0" smtClean="0"/>
              <a:t>: </a:t>
            </a:r>
            <a:r>
              <a:rPr lang="de-AT" dirty="0" err="1" smtClean="0"/>
              <a:t>pointer</a:t>
            </a:r>
            <a:r>
              <a:rPr lang="de-AT" dirty="0" smtClean="0"/>
              <a:t> </a:t>
            </a:r>
            <a:r>
              <a:rPr lang="de-AT" dirty="0" err="1" smtClean="0"/>
              <a:t>to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computational</a:t>
            </a:r>
            <a:r>
              <a:rPr lang="de-AT" dirty="0" smtClean="0"/>
              <a:t> </a:t>
            </a:r>
            <a:r>
              <a:rPr lang="de-AT" dirty="0" err="1" smtClean="0"/>
              <a:t>grid</a:t>
            </a:r>
            <a:endParaRPr lang="de-AT" dirty="0" smtClean="0"/>
          </a:p>
          <a:p>
            <a:pPr lvl="2"/>
            <a:r>
              <a:rPr lang="de-AT" b="1" dirty="0" err="1" smtClean="0"/>
              <a:t>PtrParamNode</a:t>
            </a:r>
            <a:r>
              <a:rPr lang="de-AT" b="1" dirty="0" smtClean="0"/>
              <a:t> </a:t>
            </a:r>
            <a:r>
              <a:rPr lang="de-AT" b="1" dirty="0" err="1" smtClean="0"/>
              <a:t>paramNode</a:t>
            </a:r>
            <a:r>
              <a:rPr lang="de-AT" b="1" dirty="0" smtClean="0"/>
              <a:t>: </a:t>
            </a:r>
            <a:r>
              <a:rPr lang="de-AT" dirty="0" err="1" smtClean="0"/>
              <a:t>pointer</a:t>
            </a:r>
            <a:r>
              <a:rPr lang="de-AT" dirty="0" smtClean="0"/>
              <a:t> </a:t>
            </a:r>
            <a:r>
              <a:rPr lang="de-AT" dirty="0" err="1" smtClean="0"/>
              <a:t>to</a:t>
            </a:r>
            <a:r>
              <a:rPr lang="de-AT" dirty="0" smtClean="0"/>
              <a:t> </a:t>
            </a:r>
            <a:r>
              <a:rPr lang="de-AT" dirty="0" err="1" smtClean="0"/>
              <a:t>xml</a:t>
            </a:r>
            <a:r>
              <a:rPr lang="de-AT" dirty="0" smtClean="0"/>
              <a:t> </a:t>
            </a:r>
            <a:r>
              <a:rPr lang="de-AT" dirty="0" err="1" smtClean="0"/>
              <a:t>for</a:t>
            </a:r>
            <a:r>
              <a:rPr lang="de-AT" dirty="0" smtClean="0"/>
              <a:t> </a:t>
            </a:r>
            <a:r>
              <a:rPr lang="de-AT" dirty="0" err="1" smtClean="0"/>
              <a:t>getting</a:t>
            </a:r>
            <a:r>
              <a:rPr lang="de-AT" dirty="0" smtClean="0"/>
              <a:t> </a:t>
            </a:r>
            <a:r>
              <a:rPr lang="de-AT" dirty="0" err="1" smtClean="0"/>
              <a:t>xml-definitions</a:t>
            </a:r>
            <a:endParaRPr lang="de-AT" dirty="0" smtClean="0"/>
          </a:p>
          <a:p>
            <a:pPr lvl="2"/>
            <a:r>
              <a:rPr lang="de-AT" b="1" dirty="0" err="1" smtClean="0"/>
              <a:t>PtrParamNode</a:t>
            </a:r>
            <a:r>
              <a:rPr lang="de-AT" b="1" dirty="0" smtClean="0"/>
              <a:t> </a:t>
            </a:r>
            <a:r>
              <a:rPr lang="de-AT" b="1" dirty="0" err="1" smtClean="0"/>
              <a:t>infoNode</a:t>
            </a:r>
            <a:r>
              <a:rPr lang="de-AT" b="1" dirty="0" smtClean="0"/>
              <a:t>: </a:t>
            </a:r>
            <a:r>
              <a:rPr lang="de-AT" dirty="0" err="1" smtClean="0"/>
              <a:t>for</a:t>
            </a:r>
            <a:r>
              <a:rPr lang="de-AT" dirty="0" smtClean="0"/>
              <a:t> </a:t>
            </a:r>
            <a:r>
              <a:rPr lang="de-AT" dirty="0" err="1" smtClean="0"/>
              <a:t>writing</a:t>
            </a:r>
            <a:r>
              <a:rPr lang="de-AT" dirty="0" smtClean="0"/>
              <a:t> </a:t>
            </a:r>
            <a:r>
              <a:rPr lang="de-AT" dirty="0" err="1" smtClean="0"/>
              <a:t>to</a:t>
            </a:r>
            <a:r>
              <a:rPr lang="de-AT" dirty="0" smtClean="0"/>
              <a:t> *.info.xml </a:t>
            </a:r>
            <a:r>
              <a:rPr lang="de-AT" dirty="0" err="1" smtClean="0"/>
              <a:t>file</a:t>
            </a:r>
            <a:endParaRPr lang="de-AT" dirty="0"/>
          </a:p>
          <a:p>
            <a:pPr lvl="2"/>
            <a:r>
              <a:rPr lang="de-AT" b="1" dirty="0" err="1" smtClean="0"/>
              <a:t>shared_ptr</a:t>
            </a:r>
            <a:r>
              <a:rPr lang="de-AT" b="1" dirty="0" smtClean="0"/>
              <a:t>&lt;</a:t>
            </a:r>
            <a:r>
              <a:rPr lang="de-AT" b="1" dirty="0" err="1" smtClean="0"/>
              <a:t>SimState</a:t>
            </a:r>
            <a:r>
              <a:rPr lang="de-AT" b="1" dirty="0"/>
              <a:t>&gt; </a:t>
            </a:r>
            <a:r>
              <a:rPr lang="de-AT" b="1" dirty="0" err="1" smtClean="0"/>
              <a:t>simState</a:t>
            </a:r>
            <a:r>
              <a:rPr lang="de-AT" dirty="0" smtClean="0"/>
              <a:t>: </a:t>
            </a:r>
            <a:r>
              <a:rPr lang="de-AT" dirty="0" err="1" smtClean="0"/>
              <a:t>pointer</a:t>
            </a:r>
            <a:r>
              <a:rPr lang="de-AT" dirty="0" smtClean="0"/>
              <a:t> </a:t>
            </a:r>
            <a:r>
              <a:rPr lang="de-AT" dirty="0" err="1" smtClean="0"/>
              <a:t>to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state</a:t>
            </a:r>
            <a:r>
              <a:rPr lang="de-AT" dirty="0" smtClean="0"/>
              <a:t>;  </a:t>
            </a:r>
            <a:r>
              <a:rPr lang="de-AT" dirty="0" err="1" smtClean="0"/>
              <a:t>has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en-US" dirty="0" smtClean="0"/>
              <a:t> </a:t>
            </a:r>
            <a:r>
              <a:rPr lang="en-US" dirty="0"/>
              <a:t>functionality for saving and </a:t>
            </a:r>
            <a:r>
              <a:rPr lang="en-US" dirty="0" smtClean="0"/>
              <a:t>restoring the </a:t>
            </a:r>
            <a:r>
              <a:rPr lang="en-US" dirty="0"/>
              <a:t>internal state of a simulation at any given time / frequency step.</a:t>
            </a:r>
            <a:endParaRPr lang="de-AT" dirty="0" smtClean="0"/>
          </a:p>
          <a:p>
            <a:pPr lvl="2"/>
            <a:r>
              <a:rPr lang="de-AT" b="1" dirty="0" smtClean="0"/>
              <a:t>Domain</a:t>
            </a:r>
            <a:r>
              <a:rPr lang="de-AT" b="1" dirty="0"/>
              <a:t>* </a:t>
            </a:r>
            <a:r>
              <a:rPr lang="de-AT" b="1" dirty="0" err="1" smtClean="0"/>
              <a:t>domain</a:t>
            </a:r>
            <a:r>
              <a:rPr lang="de-AT" b="1" dirty="0" smtClean="0"/>
              <a:t>: </a:t>
            </a:r>
            <a:r>
              <a:rPr lang="de-AT" dirty="0" err="1" smtClean="0"/>
              <a:t>pointer</a:t>
            </a:r>
            <a:r>
              <a:rPr lang="de-AT" dirty="0" smtClean="0"/>
              <a:t> </a:t>
            </a:r>
            <a:r>
              <a:rPr lang="de-AT" dirty="0" err="1" smtClean="0"/>
              <a:t>to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domain</a:t>
            </a:r>
            <a:endParaRPr lang="de-AT" dirty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sz="2400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620263"/>
              </p:ext>
            </p:extLst>
          </p:nvPr>
        </p:nvGraphicFramePr>
        <p:xfrm>
          <a:off x="1068783" y="1413167"/>
          <a:ext cx="6923311" cy="2541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2541316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 //! Constructor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/*!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\</a:t>
                      </a:r>
                      <a:r>
                        <a:rPr lang="en-US" sz="1400" dirty="0" err="1" smtClean="0">
                          <a:effectLst/>
                        </a:rPr>
                        <a:t>param</a:t>
                      </a:r>
                      <a:r>
                        <a:rPr lang="en-US" sz="1400" dirty="0" smtClean="0">
                          <a:effectLst/>
                        </a:rPr>
                        <a:t> grid pointer to grid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\</a:t>
                      </a:r>
                      <a:r>
                        <a:rPr lang="en-US" sz="1400" dirty="0" err="1" smtClean="0">
                          <a:effectLst/>
                        </a:rPr>
                        <a:t>param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paramNode</a:t>
                      </a:r>
                      <a:r>
                        <a:rPr lang="en-US" sz="1400" dirty="0" smtClean="0">
                          <a:effectLst/>
                        </a:rPr>
                        <a:t> pointer to the corresponding parameter node</a:t>
                      </a:r>
                    </a:p>
                    <a:p>
                      <a:r>
                        <a:rPr lang="de-AT" sz="1400" dirty="0" smtClean="0">
                          <a:effectLst/>
                        </a:rPr>
                        <a:t>      \</a:t>
                      </a:r>
                      <a:r>
                        <a:rPr lang="de-AT" sz="1400" dirty="0" err="1" smtClean="0">
                          <a:effectLst/>
                        </a:rPr>
                        <a:t>param</a:t>
                      </a:r>
                      <a:r>
                        <a:rPr lang="de-AT" sz="1400" dirty="0" smtClean="0">
                          <a:effectLst/>
                        </a:rPr>
                        <a:t> </a:t>
                      </a:r>
                      <a:r>
                        <a:rPr lang="de-AT" sz="1400" dirty="0" err="1" smtClean="0">
                          <a:effectLst/>
                        </a:rPr>
                        <a:t>infoNode</a:t>
                      </a:r>
                      <a:r>
                        <a:rPr lang="de-AT" sz="1400" dirty="0" smtClean="0">
                          <a:effectLst/>
                        </a:rPr>
                        <a:t> </a:t>
                      </a:r>
                      <a:r>
                        <a:rPr lang="de-AT" sz="1400" dirty="0" err="1" smtClean="0">
                          <a:effectLst/>
                        </a:rPr>
                        <a:t>pointer</a:t>
                      </a:r>
                      <a:r>
                        <a:rPr lang="de-AT" sz="1400" dirty="0" smtClean="0">
                          <a:effectLst/>
                        </a:rPr>
                        <a:t> </a:t>
                      </a:r>
                      <a:r>
                        <a:rPr lang="de-AT" sz="1400" dirty="0" err="1" smtClean="0">
                          <a:effectLst/>
                        </a:rPr>
                        <a:t>for</a:t>
                      </a:r>
                      <a:r>
                        <a:rPr lang="de-AT" sz="1400" dirty="0" smtClean="0">
                          <a:effectLst/>
                        </a:rPr>
                        <a:t> </a:t>
                      </a:r>
                      <a:r>
                        <a:rPr lang="de-AT" sz="1400" dirty="0" err="1" smtClean="0">
                          <a:effectLst/>
                        </a:rPr>
                        <a:t>writing</a:t>
                      </a:r>
                      <a:r>
                        <a:rPr lang="de-AT" sz="1400" dirty="0" smtClean="0">
                          <a:effectLst/>
                        </a:rPr>
                        <a:t> </a:t>
                      </a:r>
                      <a:r>
                        <a:rPr lang="de-AT" sz="1400" dirty="0" err="1" smtClean="0">
                          <a:effectLst/>
                        </a:rPr>
                        <a:t>to</a:t>
                      </a:r>
                      <a:r>
                        <a:rPr lang="de-AT" sz="1400" dirty="0" smtClean="0">
                          <a:effectLst/>
                        </a:rPr>
                        <a:t> </a:t>
                      </a:r>
                      <a:r>
                        <a:rPr lang="de-AT" sz="1400" dirty="0" err="1" smtClean="0">
                          <a:effectLst/>
                        </a:rPr>
                        <a:t>info</a:t>
                      </a:r>
                      <a:r>
                        <a:rPr lang="de-AT" sz="1400" dirty="0" smtClean="0">
                          <a:effectLst/>
                        </a:rPr>
                        <a:t> (*.info.xml)</a:t>
                      </a:r>
                      <a:r>
                        <a:rPr lang="de-AT" sz="1400" baseline="0" dirty="0" smtClean="0">
                          <a:effectLst/>
                        </a:rPr>
                        <a:t> </a:t>
                      </a:r>
                      <a:r>
                        <a:rPr lang="de-AT" sz="1400" baseline="0" dirty="0" err="1" smtClean="0">
                          <a:effectLst/>
                        </a:rPr>
                        <a:t>file</a:t>
                      </a:r>
                      <a:endParaRPr lang="de-AT" sz="1400" baseline="0" dirty="0" smtClean="0">
                        <a:effectLst/>
                      </a:endParaRPr>
                    </a:p>
                    <a:p>
                      <a:r>
                        <a:rPr lang="de-AT" sz="1400" baseline="0" dirty="0" smtClean="0">
                          <a:effectLst/>
                        </a:rPr>
                        <a:t>      \</a:t>
                      </a:r>
                      <a:r>
                        <a:rPr lang="de-AT" sz="1400" baseline="0" dirty="0" err="1" smtClean="0">
                          <a:effectLst/>
                        </a:rPr>
                        <a:t>param</a:t>
                      </a:r>
                      <a:r>
                        <a:rPr lang="de-AT" sz="1400" baseline="0" dirty="0" smtClean="0">
                          <a:effectLst/>
                        </a:rPr>
                        <a:t> </a:t>
                      </a:r>
                      <a:r>
                        <a:rPr lang="de-AT" sz="1400" baseline="0" dirty="0" err="1" smtClean="0">
                          <a:effectLst/>
                        </a:rPr>
                        <a:t>simState</a:t>
                      </a:r>
                      <a:r>
                        <a:rPr lang="de-AT" sz="1400" baseline="0" dirty="0" smtClean="0">
                          <a:effectLst/>
                        </a:rPr>
                        <a:t> </a:t>
                      </a:r>
                      <a:r>
                        <a:rPr lang="de-AT" sz="1400" baseline="0" dirty="0" err="1" smtClean="0">
                          <a:effectLst/>
                        </a:rPr>
                        <a:t>pointer</a:t>
                      </a:r>
                      <a:r>
                        <a:rPr lang="de-AT" sz="1400" baseline="0" dirty="0" smtClean="0">
                          <a:effectLst/>
                        </a:rPr>
                        <a:t> </a:t>
                      </a:r>
                      <a:r>
                        <a:rPr lang="de-AT" sz="1400" baseline="0" dirty="0" err="1" smtClean="0">
                          <a:effectLst/>
                        </a:rPr>
                        <a:t>to</a:t>
                      </a:r>
                      <a:r>
                        <a:rPr lang="de-AT" sz="1400" baseline="0" dirty="0" smtClean="0">
                          <a:effectLst/>
                        </a:rPr>
                        <a:t> </a:t>
                      </a:r>
                      <a:r>
                        <a:rPr lang="de-AT" sz="1400" baseline="0" dirty="0" err="1" smtClean="0">
                          <a:effectLst/>
                        </a:rPr>
                        <a:t>state</a:t>
                      </a:r>
                      <a:r>
                        <a:rPr lang="de-AT" sz="1400" baseline="0" dirty="0" smtClean="0">
                          <a:effectLst/>
                        </a:rPr>
                        <a:t> </a:t>
                      </a:r>
                      <a:r>
                        <a:rPr lang="de-AT" sz="1400" baseline="0" dirty="0" err="1" smtClean="0">
                          <a:effectLst/>
                        </a:rPr>
                        <a:t>for</a:t>
                      </a:r>
                      <a:r>
                        <a:rPr lang="de-AT" sz="1400" baseline="0" dirty="0" smtClean="0">
                          <a:effectLst/>
                        </a:rPr>
                        <a:t> </a:t>
                      </a:r>
                      <a:r>
                        <a:rPr lang="de-AT" sz="1400" baseline="0" dirty="0" err="1" smtClean="0">
                          <a:effectLst/>
                        </a:rPr>
                        <a:t>saving</a:t>
                      </a:r>
                      <a:r>
                        <a:rPr lang="de-AT" sz="1400" baseline="0" dirty="0" smtClean="0">
                          <a:effectLst/>
                        </a:rPr>
                        <a:t> / </a:t>
                      </a:r>
                      <a:r>
                        <a:rPr lang="de-AT" sz="1400" baseline="0" dirty="0" err="1" smtClean="0">
                          <a:effectLst/>
                        </a:rPr>
                        <a:t>restorin</a:t>
                      </a:r>
                      <a:endParaRPr lang="de-AT" sz="1400" baseline="0" dirty="0" smtClean="0">
                        <a:effectLst/>
                      </a:endParaRPr>
                    </a:p>
                    <a:p>
                      <a:r>
                        <a:rPr lang="de-AT" sz="1400" baseline="0" dirty="0" smtClean="0">
                          <a:effectLst/>
                        </a:rPr>
                        <a:t>     \</a:t>
                      </a:r>
                      <a:r>
                        <a:rPr lang="de-AT" sz="1400" baseline="0" dirty="0" err="1" smtClean="0">
                          <a:effectLst/>
                        </a:rPr>
                        <a:t>param</a:t>
                      </a:r>
                      <a:r>
                        <a:rPr lang="de-AT" sz="1400" baseline="0" dirty="0" smtClean="0">
                          <a:effectLst/>
                        </a:rPr>
                        <a:t> </a:t>
                      </a:r>
                      <a:r>
                        <a:rPr lang="de-AT" sz="1400" baseline="0" dirty="0" err="1" smtClean="0">
                          <a:effectLst/>
                        </a:rPr>
                        <a:t>domain</a:t>
                      </a:r>
                      <a:r>
                        <a:rPr lang="de-AT" sz="1400" baseline="0" dirty="0" smtClean="0">
                          <a:effectLst/>
                        </a:rPr>
                        <a:t> </a:t>
                      </a:r>
                      <a:r>
                        <a:rPr lang="de-AT" sz="1400" baseline="0" dirty="0" err="1" smtClean="0">
                          <a:effectLst/>
                        </a:rPr>
                        <a:t>pointer</a:t>
                      </a:r>
                      <a:r>
                        <a:rPr lang="de-AT" sz="1400" baseline="0" dirty="0" smtClean="0">
                          <a:effectLst/>
                        </a:rPr>
                        <a:t> do </a:t>
                      </a:r>
                      <a:r>
                        <a:rPr lang="de-AT" sz="1400" baseline="0" dirty="0" err="1" smtClean="0">
                          <a:effectLst/>
                        </a:rPr>
                        <a:t>domain</a:t>
                      </a:r>
                      <a:r>
                        <a:rPr lang="de-AT" sz="1400" baseline="0" dirty="0" smtClean="0">
                          <a:effectLst/>
                        </a:rPr>
                        <a:t> </a:t>
                      </a:r>
                      <a:r>
                        <a:rPr lang="de-AT" sz="1400" baseline="0" dirty="0" err="1" smtClean="0">
                          <a:effectLst/>
                        </a:rPr>
                        <a:t>object</a:t>
                      </a:r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*/</a:t>
                      </a:r>
                    </a:p>
                    <a:p>
                      <a:r>
                        <a:rPr lang="en-US" sz="1400" dirty="0" err="1" smtClean="0">
                          <a:effectLst/>
                        </a:rPr>
                        <a:t>TestPDE</a:t>
                      </a:r>
                      <a:r>
                        <a:rPr lang="en-US" sz="1400" dirty="0" smtClean="0">
                          <a:effectLst/>
                        </a:rPr>
                        <a:t>( Grid* </a:t>
                      </a:r>
                      <a:r>
                        <a:rPr lang="en-US" sz="1400" dirty="0" err="1" smtClean="0">
                          <a:effectLst/>
                        </a:rPr>
                        <a:t>aGrid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PtrParamNode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paramNode</a:t>
                      </a:r>
                      <a:r>
                        <a:rPr lang="en-US" sz="1400" dirty="0" smtClean="0">
                          <a:effectLst/>
                        </a:rPr>
                        <a:t>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</a:t>
                      </a:r>
                      <a:r>
                        <a:rPr lang="en-US" sz="1400" dirty="0" err="1" smtClean="0">
                          <a:effectLst/>
                        </a:rPr>
                        <a:t>PtrParamNode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infoNode</a:t>
                      </a:r>
                      <a:r>
                        <a:rPr lang="en-US" sz="1400" dirty="0" smtClean="0">
                          <a:effectLst/>
                        </a:rPr>
                        <a:t>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SimState</a:t>
                      </a:r>
                      <a:r>
                        <a:rPr lang="en-US" sz="1400" dirty="0" smtClean="0">
                          <a:effectLst/>
                        </a:rPr>
                        <a:t>&gt; </a:t>
                      </a:r>
                      <a:r>
                        <a:rPr lang="en-US" sz="1400" dirty="0" err="1" smtClean="0">
                          <a:effectLst/>
                        </a:rPr>
                        <a:t>simState</a:t>
                      </a:r>
                      <a:r>
                        <a:rPr lang="en-US" sz="1400" dirty="0" smtClean="0">
                          <a:effectLst/>
                        </a:rPr>
                        <a:t>, Domain* domain  );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98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/>
          </a:bodyPr>
          <a:lstStyle/>
          <a:p>
            <a:r>
              <a:rPr lang="en-US" dirty="0" smtClean="0"/>
              <a:t>Be aware: a lot of </a:t>
            </a:r>
            <a:r>
              <a:rPr lang="en-US" dirty="0" err="1" smtClean="0"/>
              <a:t>actings</a:t>
            </a:r>
            <a:r>
              <a:rPr lang="en-US" dirty="0" smtClean="0"/>
              <a:t> happen in</a:t>
            </a:r>
          </a:p>
          <a:p>
            <a:pPr lvl="1"/>
            <a:r>
              <a:rPr lang="en-US" dirty="0" err="1" smtClean="0"/>
              <a:t>SinglePDE</a:t>
            </a:r>
            <a:r>
              <a:rPr lang="en-US" dirty="0" smtClean="0"/>
              <a:t>, </a:t>
            </a:r>
            <a:r>
              <a:rPr lang="en-US" dirty="0" err="1" smtClean="0"/>
              <a:t>StdPDE</a:t>
            </a:r>
            <a:r>
              <a:rPr lang="en-US" dirty="0" smtClean="0"/>
              <a:t> and </a:t>
            </a:r>
            <a:r>
              <a:rPr lang="en-US" dirty="0" err="1" smtClean="0"/>
              <a:t>BasePDE</a:t>
            </a:r>
            <a:r>
              <a:rPr lang="en-US" dirty="0" smtClean="0"/>
              <a:t> (have a look to all these classes!)</a:t>
            </a:r>
          </a:p>
          <a:p>
            <a:pPr lvl="1"/>
            <a:r>
              <a:rPr lang="en-US" dirty="0" smtClean="0"/>
              <a:t>E.g., constructor of </a:t>
            </a:r>
            <a:r>
              <a:rPr lang="en-US" dirty="0" err="1" smtClean="0"/>
              <a:t>SdtPDE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200" dirty="0" smtClean="0"/>
          </a:p>
          <a:p>
            <a:pPr lvl="1"/>
            <a:endParaRPr lang="en-US" sz="1100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400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166253"/>
              </p:ext>
            </p:extLst>
          </p:nvPr>
        </p:nvGraphicFramePr>
        <p:xfrm>
          <a:off x="1116284" y="1864429"/>
          <a:ext cx="6923311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1864426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StdPDE</a:t>
                      </a:r>
                      <a:r>
                        <a:rPr lang="en-US" sz="1400" dirty="0" smtClean="0">
                          <a:effectLst/>
                        </a:rPr>
                        <a:t>::</a:t>
                      </a:r>
                      <a:r>
                        <a:rPr lang="en-US" sz="1400" dirty="0" err="1" smtClean="0">
                          <a:effectLst/>
                        </a:rPr>
                        <a:t>StdPDE</a:t>
                      </a:r>
                      <a:r>
                        <a:rPr lang="en-US" sz="1400" dirty="0" smtClean="0">
                          <a:effectLst/>
                        </a:rPr>
                        <a:t>(Grid *</a:t>
                      </a:r>
                      <a:r>
                        <a:rPr lang="en-US" sz="1400" dirty="0" err="1" smtClean="0">
                          <a:effectLst/>
                        </a:rPr>
                        <a:t>aptgrid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PtrParamNode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paramNode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PtrParamNode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infoNode</a:t>
                      </a:r>
                      <a:r>
                        <a:rPr lang="en-US" sz="1400" dirty="0" smtClean="0">
                          <a:effectLst/>
                        </a:rPr>
                        <a:t>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SimState</a:t>
                      </a:r>
                      <a:r>
                        <a:rPr lang="en-US" sz="1400" dirty="0" smtClean="0">
                          <a:effectLst/>
                        </a:rPr>
                        <a:t>&gt; </a:t>
                      </a:r>
                      <a:r>
                        <a:rPr lang="en-US" sz="1400" dirty="0" err="1" smtClean="0">
                          <a:effectLst/>
                        </a:rPr>
                        <a:t>simState</a:t>
                      </a:r>
                      <a:r>
                        <a:rPr lang="en-US" sz="1400" dirty="0" smtClean="0">
                          <a:effectLst/>
                        </a:rPr>
                        <a:t>, Domain* domain ) :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BasePDE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paramNode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infoNode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simState</a:t>
                      </a:r>
                      <a:r>
                        <a:rPr lang="en-US" sz="1400" dirty="0" smtClean="0">
                          <a:effectLst/>
                        </a:rPr>
                        <a:t>, domain),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ptGrid</a:t>
                      </a:r>
                      <a:r>
                        <a:rPr lang="en-US" sz="1400" dirty="0" smtClean="0">
                          <a:effectLst/>
                        </a:rPr>
                        <a:t>_(</a:t>
                      </a:r>
                      <a:r>
                        <a:rPr lang="en-US" sz="1400" dirty="0" err="1" smtClean="0">
                          <a:effectLst/>
                        </a:rPr>
                        <a:t>aptgrid</a:t>
                      </a:r>
                      <a:r>
                        <a:rPr lang="en-US" sz="1400" dirty="0" smtClean="0">
                          <a:effectLst/>
                        </a:rPr>
                        <a:t>),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subType</a:t>
                      </a:r>
                      <a:r>
                        <a:rPr lang="en-US" sz="1400" dirty="0" smtClean="0">
                          <a:effectLst/>
                        </a:rPr>
                        <a:t>_(),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nonLin</a:t>
                      </a:r>
                      <a:r>
                        <a:rPr lang="en-US" sz="1400" dirty="0" smtClean="0">
                          <a:effectLst/>
                        </a:rPr>
                        <a:t>_(false),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nonLinMaterial</a:t>
                      </a:r>
                      <a:r>
                        <a:rPr lang="en-US" sz="1400" dirty="0" smtClean="0">
                          <a:effectLst/>
                        </a:rPr>
                        <a:t>_(false),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isHysteresis</a:t>
                      </a:r>
                      <a:r>
                        <a:rPr lang="en-US" sz="1400" dirty="0" smtClean="0">
                          <a:effectLst/>
                        </a:rPr>
                        <a:t>_(false),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isIterCoupled</a:t>
                      </a:r>
                      <a:r>
                        <a:rPr lang="en-US" sz="1400" dirty="0" smtClean="0">
                          <a:effectLst/>
                        </a:rPr>
                        <a:t>_(false),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diagMass</a:t>
                      </a:r>
                      <a:r>
                        <a:rPr lang="en-US" sz="1400" dirty="0" smtClean="0">
                          <a:effectLst/>
                        </a:rPr>
                        <a:t>_(false),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needsAlgsys</a:t>
                      </a:r>
                      <a:r>
                        <a:rPr lang="en-US" sz="1400" dirty="0" smtClean="0">
                          <a:effectLst/>
                        </a:rPr>
                        <a:t>_(true),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isAlwaysStatic</a:t>
                      </a:r>
                      <a:r>
                        <a:rPr lang="en-US" sz="1400" dirty="0" smtClean="0">
                          <a:effectLst/>
                        </a:rPr>
                        <a:t>_(false),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dim_(</a:t>
                      </a:r>
                      <a:r>
                        <a:rPr lang="en-US" sz="1400" dirty="0" err="1" smtClean="0">
                          <a:effectLst/>
                        </a:rPr>
                        <a:t>ptGrid</a:t>
                      </a:r>
                      <a:r>
                        <a:rPr lang="en-US" sz="1400" dirty="0" smtClean="0">
                          <a:effectLst/>
                        </a:rPr>
                        <a:t>_-&gt;</a:t>
                      </a:r>
                      <a:r>
                        <a:rPr lang="en-US" sz="1400" dirty="0" err="1" smtClean="0">
                          <a:effectLst/>
                        </a:rPr>
                        <a:t>GetDim</a:t>
                      </a:r>
                      <a:r>
                        <a:rPr lang="en-US" sz="1400" dirty="0" smtClean="0">
                          <a:effectLst/>
                        </a:rPr>
                        <a:t>()),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isaxi</a:t>
                      </a:r>
                      <a:r>
                        <a:rPr lang="en-US" sz="1400" dirty="0" smtClean="0">
                          <a:effectLst/>
                        </a:rPr>
                        <a:t>_(</a:t>
                      </a:r>
                      <a:r>
                        <a:rPr lang="en-US" sz="1400" dirty="0" err="1" smtClean="0">
                          <a:effectLst/>
                        </a:rPr>
                        <a:t>ptGrid</a:t>
                      </a:r>
                      <a:r>
                        <a:rPr lang="en-US" sz="1400" dirty="0" smtClean="0">
                          <a:effectLst/>
                        </a:rPr>
                        <a:t>_-&gt;</a:t>
                      </a:r>
                      <a:r>
                        <a:rPr lang="en-US" sz="1400" dirty="0" err="1" smtClean="0">
                          <a:effectLst/>
                        </a:rPr>
                        <a:t>IsAxi</a:t>
                      </a:r>
                      <a:r>
                        <a:rPr lang="en-US" sz="1400" dirty="0" smtClean="0">
                          <a:effectLst/>
                        </a:rPr>
                        <a:t>()),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isComplex</a:t>
                      </a:r>
                      <a:r>
                        <a:rPr lang="en-US" sz="1400" dirty="0" smtClean="0">
                          <a:effectLst/>
                        </a:rPr>
                        <a:t>_(false),   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assemble_(NULL),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solveStep</a:t>
                      </a:r>
                      <a:r>
                        <a:rPr lang="en-US" sz="1400" dirty="0" smtClean="0">
                          <a:effectLst/>
                        </a:rPr>
                        <a:t>_(NULL),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algsys</a:t>
                      </a:r>
                      <a:r>
                        <a:rPr lang="en-US" sz="1400" dirty="0" smtClean="0">
                          <a:effectLst/>
                        </a:rPr>
                        <a:t>_(NULL)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{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}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965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/>
          </a:bodyPr>
          <a:lstStyle/>
          <a:p>
            <a:r>
              <a:rPr lang="en-US" dirty="0" smtClean="0"/>
              <a:t>Constructor of </a:t>
            </a:r>
            <a:r>
              <a:rPr lang="en-US" dirty="0" err="1" smtClean="0"/>
              <a:t>TestPDE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200" dirty="0" smtClean="0"/>
          </a:p>
          <a:p>
            <a:pPr lvl="1"/>
            <a:endParaRPr lang="en-US" sz="1100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400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360467"/>
              </p:ext>
            </p:extLst>
          </p:nvPr>
        </p:nvGraphicFramePr>
        <p:xfrm>
          <a:off x="831276" y="1187535"/>
          <a:ext cx="6923311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1864426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effectLst/>
                        </a:rPr>
                        <a:t>TestPDE</a:t>
                      </a:r>
                      <a:r>
                        <a:rPr lang="en-US" sz="1400" dirty="0" smtClean="0">
                          <a:effectLst/>
                        </a:rPr>
                        <a:t>::</a:t>
                      </a:r>
                      <a:r>
                        <a:rPr lang="en-US" sz="1400" dirty="0" err="1" smtClean="0">
                          <a:effectLst/>
                        </a:rPr>
                        <a:t>TestPDE</a:t>
                      </a:r>
                      <a:r>
                        <a:rPr lang="en-US" sz="1400" dirty="0" smtClean="0">
                          <a:effectLst/>
                        </a:rPr>
                        <a:t>(Grid * </a:t>
                      </a:r>
                      <a:r>
                        <a:rPr lang="en-US" sz="1400" dirty="0" err="1" smtClean="0">
                          <a:effectLst/>
                        </a:rPr>
                        <a:t>aptgrid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PtrParamNode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paramNode</a:t>
                      </a:r>
                      <a:r>
                        <a:rPr lang="en-US" sz="1400" dirty="0" smtClean="0">
                          <a:effectLst/>
                        </a:rPr>
                        <a:t>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</a:t>
                      </a:r>
                      <a:r>
                        <a:rPr lang="en-US" sz="1400" dirty="0" err="1" smtClean="0">
                          <a:effectLst/>
                        </a:rPr>
                        <a:t>PtrParamNode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infoNode</a:t>
                      </a:r>
                      <a:r>
                        <a:rPr lang="en-US" sz="1400" dirty="0" smtClean="0">
                          <a:effectLst/>
                        </a:rPr>
                        <a:t>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SimState</a:t>
                      </a:r>
                      <a:r>
                        <a:rPr lang="en-US" sz="1400" dirty="0" smtClean="0">
                          <a:effectLst/>
                        </a:rPr>
                        <a:t>&gt; </a:t>
                      </a:r>
                      <a:r>
                        <a:rPr lang="en-US" sz="1400" dirty="0" err="1" smtClean="0">
                          <a:effectLst/>
                        </a:rPr>
                        <a:t>simState</a:t>
                      </a:r>
                      <a:r>
                        <a:rPr lang="en-US" sz="1400" dirty="0" smtClean="0">
                          <a:effectLst/>
                        </a:rPr>
                        <a:t>, Domain* domain)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:</a:t>
                      </a:r>
                      <a:r>
                        <a:rPr lang="en-US" sz="1400" dirty="0" err="1" smtClean="0">
                          <a:effectLst/>
                        </a:rPr>
                        <a:t>SinglePDE</a:t>
                      </a:r>
                      <a:r>
                        <a:rPr lang="en-US" sz="1400" dirty="0" smtClean="0">
                          <a:effectLst/>
                        </a:rPr>
                        <a:t>( </a:t>
                      </a:r>
                      <a:r>
                        <a:rPr lang="en-US" sz="1400" dirty="0" err="1" smtClean="0">
                          <a:effectLst/>
                        </a:rPr>
                        <a:t>aptgrid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paramNode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infoNode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simState</a:t>
                      </a:r>
                      <a:r>
                        <a:rPr lang="en-US" sz="1400" dirty="0" smtClean="0">
                          <a:effectLst/>
                        </a:rPr>
                        <a:t>, domain ) {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pdename</a:t>
                      </a:r>
                      <a:r>
                        <a:rPr lang="en-US" sz="1400" dirty="0" smtClean="0">
                          <a:effectLst/>
                        </a:rPr>
                        <a:t>_           = "</a:t>
                      </a:r>
                      <a:r>
                        <a:rPr lang="en-US" sz="1400" dirty="0" err="1" smtClean="0">
                          <a:effectLst/>
                        </a:rPr>
                        <a:t>testPDE</a:t>
                      </a:r>
                      <a:r>
                        <a:rPr lang="en-US" sz="1400" dirty="0" smtClean="0">
                          <a:effectLst/>
                        </a:rPr>
                        <a:t>";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pdematerialclass</a:t>
                      </a:r>
                      <a:r>
                        <a:rPr lang="en-US" sz="1400" dirty="0" smtClean="0">
                          <a:effectLst/>
                        </a:rPr>
                        <a:t>_  = TESTMAT;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nonLin</a:t>
                      </a:r>
                      <a:r>
                        <a:rPr lang="en-US" sz="1400" dirty="0" smtClean="0">
                          <a:effectLst/>
                        </a:rPr>
                        <a:t>_            = false;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//! Always use updated </a:t>
                      </a:r>
                      <a:r>
                        <a:rPr lang="en-US" sz="1400" dirty="0" err="1" smtClean="0">
                          <a:effectLst/>
                        </a:rPr>
                        <a:t>Lagrangian</a:t>
                      </a:r>
                      <a:r>
                        <a:rPr lang="en-US" sz="1400" dirty="0" smtClean="0">
                          <a:effectLst/>
                        </a:rPr>
                        <a:t> formulation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updatedGeo</a:t>
                      </a:r>
                      <a:r>
                        <a:rPr lang="en-US" sz="1400" dirty="0" smtClean="0">
                          <a:effectLst/>
                        </a:rPr>
                        <a:t>_        = true;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}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Gerade Verbindung mit Pfeil 5"/>
          <p:cNvCxnSpPr/>
          <p:nvPr/>
        </p:nvCxnSpPr>
        <p:spPr>
          <a:xfrm flipV="1">
            <a:off x="1353787" y="2660074"/>
            <a:ext cx="1508170" cy="1662544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213750" y="4049487"/>
            <a:ext cx="912294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Efforts</a:t>
            </a:r>
            <a:r>
              <a:rPr lang="de-AT" dirty="0" smtClean="0"/>
              <a:t> </a:t>
            </a:r>
            <a:r>
              <a:rPr lang="de-AT" dirty="0" err="1" smtClean="0"/>
              <a:t>action</a:t>
            </a:r>
            <a:r>
              <a:rPr lang="de-AT" dirty="0" smtClean="0"/>
              <a:t> </a:t>
            </a:r>
            <a:r>
              <a:rPr lang="de-AT" dirty="0" err="1" smtClean="0"/>
              <a:t>concerning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material </a:t>
            </a:r>
            <a:r>
              <a:rPr lang="de-AT" dirty="0" err="1" smtClean="0"/>
              <a:t>class</a:t>
            </a:r>
            <a:endParaRPr lang="de-AT" dirty="0" smtClean="0"/>
          </a:p>
          <a:p>
            <a:pPr marL="800100" lvl="1" indent="-342900">
              <a:buFont typeface="+mj-lt"/>
              <a:buAutoNum type="arabicPeriod"/>
            </a:pPr>
            <a:r>
              <a:rPr lang="de-AT" dirty="0" smtClean="0"/>
              <a:t>In „</a:t>
            </a:r>
            <a:r>
              <a:rPr lang="de-AT" dirty="0" err="1" smtClean="0"/>
              <a:t>Environment.hh</a:t>
            </a:r>
            <a:r>
              <a:rPr lang="de-AT" dirty="0" smtClean="0"/>
              <a:t>“: </a:t>
            </a:r>
            <a:r>
              <a:rPr lang="de-AT" dirty="0" err="1" smtClean="0"/>
              <a:t>extend</a:t>
            </a:r>
            <a:r>
              <a:rPr lang="de-AT" dirty="0" smtClean="0"/>
              <a:t> </a:t>
            </a:r>
            <a:r>
              <a:rPr lang="de-AT" dirty="0" err="1" smtClean="0"/>
              <a:t>enumeration</a:t>
            </a:r>
            <a:r>
              <a:rPr lang="de-AT" dirty="0"/>
              <a:t> „</a:t>
            </a:r>
            <a:r>
              <a:rPr lang="de-AT" dirty="0" err="1" smtClean="0"/>
              <a:t>MaterialClass</a:t>
            </a:r>
            <a:r>
              <a:rPr lang="de-AT" dirty="0" smtClean="0"/>
              <a:t>“ </a:t>
            </a:r>
            <a:r>
              <a:rPr lang="de-AT" dirty="0" err="1" smtClean="0"/>
              <a:t>by</a:t>
            </a:r>
            <a:r>
              <a:rPr lang="de-AT" dirty="0" smtClean="0"/>
              <a:t> </a:t>
            </a:r>
            <a:r>
              <a:rPr lang="de-AT" i="1" dirty="0" smtClean="0"/>
              <a:t>TESTMAT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de-AT" dirty="0" smtClean="0"/>
              <a:t>String </a:t>
            </a:r>
            <a:r>
              <a:rPr lang="de-AT" dirty="0" err="1" smtClean="0"/>
              <a:t>name</a:t>
            </a:r>
            <a:r>
              <a:rPr lang="de-AT" dirty="0" smtClean="0"/>
              <a:t>: </a:t>
            </a:r>
            <a:r>
              <a:rPr lang="de-AT" dirty="0" err="1" smtClean="0"/>
              <a:t>testmat</a:t>
            </a:r>
            <a:r>
              <a:rPr lang="de-AT" dirty="0" smtClean="0"/>
              <a:t> (</a:t>
            </a:r>
            <a:r>
              <a:rPr lang="de-AT" dirty="0" err="1" smtClean="0"/>
              <a:t>used</a:t>
            </a:r>
            <a:r>
              <a:rPr lang="de-AT" dirty="0" smtClean="0"/>
              <a:t> in </a:t>
            </a:r>
            <a:r>
              <a:rPr lang="de-AT" dirty="0" err="1" smtClean="0"/>
              <a:t>xml</a:t>
            </a:r>
            <a:r>
              <a:rPr lang="de-AT" dirty="0" smtClean="0"/>
              <a:t>-material </a:t>
            </a:r>
            <a:r>
              <a:rPr lang="de-AT" dirty="0" err="1" smtClean="0"/>
              <a:t>file</a:t>
            </a:r>
            <a:r>
              <a:rPr lang="de-AT" dirty="0" smtClean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de-AT" dirty="0" smtClean="0"/>
              <a:t>In „Environment.cc“: </a:t>
            </a:r>
            <a:r>
              <a:rPr lang="de-AT" dirty="0" err="1" smtClean="0"/>
              <a:t>fill</a:t>
            </a:r>
            <a:r>
              <a:rPr lang="de-AT" dirty="0"/>
              <a:t> </a:t>
            </a:r>
            <a:r>
              <a:rPr lang="de-AT" dirty="0" smtClean="0"/>
              <a:t>out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corresponding</a:t>
            </a:r>
            <a:r>
              <a:rPr lang="de-AT" dirty="0" smtClean="0"/>
              <a:t> „String2Enum“ </a:t>
            </a:r>
            <a:r>
              <a:rPr lang="de-AT" dirty="0" err="1" smtClean="0"/>
              <a:t>and</a:t>
            </a:r>
            <a:r>
              <a:rPr lang="de-AT" dirty="0"/>
              <a:t> „</a:t>
            </a:r>
            <a:r>
              <a:rPr lang="de-AT" dirty="0" smtClean="0"/>
              <a:t>Enum2String“</a:t>
            </a:r>
          </a:p>
          <a:p>
            <a:pPr marL="800100" lvl="1" indent="-342900">
              <a:buFont typeface="+mj-lt"/>
              <a:buAutoNum type="arabicPeriod"/>
            </a:pPr>
            <a:r>
              <a:rPr lang="de-AT" dirty="0" smtClean="0"/>
              <a:t>In „</a:t>
            </a:r>
            <a:r>
              <a:rPr lang="de-AT" dirty="0" err="1" smtClean="0"/>
              <a:t>Environment.hh</a:t>
            </a:r>
            <a:r>
              <a:rPr lang="de-AT" dirty="0" smtClean="0"/>
              <a:t>“: </a:t>
            </a:r>
            <a:r>
              <a:rPr lang="de-AT" dirty="0" err="1" smtClean="0"/>
              <a:t>define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material </a:t>
            </a:r>
            <a:r>
              <a:rPr lang="de-AT" dirty="0" err="1" smtClean="0"/>
              <a:t>parameters</a:t>
            </a:r>
            <a:r>
              <a:rPr lang="de-AT" dirty="0" smtClean="0"/>
              <a:t> </a:t>
            </a:r>
            <a:r>
              <a:rPr lang="de-AT" dirty="0" err="1" smtClean="0"/>
              <a:t>alpha</a:t>
            </a:r>
            <a:r>
              <a:rPr lang="de-AT" dirty="0" smtClean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beta</a:t>
            </a:r>
            <a:r>
              <a:rPr lang="de-AT" dirty="0"/>
              <a:t> in </a:t>
            </a:r>
            <a:r>
              <a:rPr lang="de-AT" dirty="0" smtClean="0"/>
              <a:t>„</a:t>
            </a:r>
            <a:r>
              <a:rPr lang="de-AT" dirty="0" err="1" smtClean="0"/>
              <a:t>MaterialType</a:t>
            </a:r>
            <a:r>
              <a:rPr lang="de-AT" dirty="0" smtClean="0"/>
              <a:t>“</a:t>
            </a:r>
          </a:p>
          <a:p>
            <a:pPr marL="800100" lvl="1" indent="-342900">
              <a:buFont typeface="+mj-lt"/>
              <a:buAutoNum type="arabicPeriod"/>
            </a:pPr>
            <a:r>
              <a:rPr lang="de-AT" dirty="0"/>
              <a:t>In „Environment.cc“: </a:t>
            </a:r>
            <a:r>
              <a:rPr lang="de-AT" dirty="0" err="1"/>
              <a:t>fill</a:t>
            </a:r>
            <a:r>
              <a:rPr lang="de-AT" dirty="0"/>
              <a:t> out </a:t>
            </a:r>
            <a:r>
              <a:rPr lang="de-AT" dirty="0" err="1"/>
              <a:t>the</a:t>
            </a:r>
            <a:r>
              <a:rPr lang="de-AT" dirty="0"/>
              <a:t> „</a:t>
            </a:r>
            <a:r>
              <a:rPr lang="de-AT" dirty="0" err="1" smtClean="0"/>
              <a:t>MaterialTypeEnum.Add</a:t>
            </a:r>
            <a:r>
              <a:rPr lang="de-AT" dirty="0" smtClean="0"/>
              <a:t>“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de-AT" dirty="0" smtClean="0"/>
              <a:t>Name: TEST_ALPHA, TEST_BETA</a:t>
            </a:r>
            <a:endParaRPr lang="de-AT" dirty="0"/>
          </a:p>
          <a:p>
            <a:pPr marL="800100" lvl="1" indent="-342900">
              <a:buFont typeface="+mj-lt"/>
              <a:buAutoNum type="arabicPeriod"/>
            </a:pPr>
            <a:endParaRPr lang="de-AT" dirty="0" smtClean="0"/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74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Define the functional space</a:t>
            </a:r>
          </a:p>
          <a:p>
            <a:pPr lvl="1"/>
            <a:r>
              <a:rPr lang="de-AT" dirty="0" err="1" smtClean="0"/>
              <a:t>Method</a:t>
            </a:r>
            <a:r>
              <a:rPr lang="de-AT" dirty="0" smtClean="0"/>
              <a:t> </a:t>
            </a:r>
            <a:r>
              <a:rPr lang="en-US" dirty="0" err="1" smtClean="0"/>
              <a:t>CreateFeSpaces</a:t>
            </a:r>
            <a:endParaRPr lang="en-US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en-US" sz="2400" dirty="0" smtClean="0"/>
          </a:p>
          <a:p>
            <a:pPr lvl="1"/>
            <a:r>
              <a:rPr lang="de-AT" dirty="0" smtClean="0"/>
              <a:t>Needs </a:t>
            </a:r>
            <a:r>
              <a:rPr lang="de-AT" dirty="0" err="1" smtClean="0"/>
              <a:t>definition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primary</a:t>
            </a:r>
            <a:r>
              <a:rPr lang="de-AT" dirty="0" smtClean="0"/>
              <a:t> </a:t>
            </a:r>
            <a:r>
              <a:rPr lang="de-AT" dirty="0" err="1" smtClean="0"/>
              <a:t>degree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freedom</a:t>
            </a:r>
            <a:endParaRPr lang="de-AT" dirty="0" smtClean="0"/>
          </a:p>
          <a:p>
            <a:pPr lvl="2"/>
            <a:r>
              <a:rPr lang="de-AT" dirty="0" smtClean="0"/>
              <a:t>In </a:t>
            </a:r>
            <a:r>
              <a:rPr lang="de-AT" dirty="0"/>
              <a:t>„</a:t>
            </a:r>
            <a:r>
              <a:rPr lang="de-AT" dirty="0" err="1"/>
              <a:t>Environment.hh</a:t>
            </a:r>
            <a:r>
              <a:rPr lang="de-AT" dirty="0"/>
              <a:t>“: </a:t>
            </a:r>
            <a:r>
              <a:rPr lang="de-AT" dirty="0" err="1"/>
              <a:t>define</a:t>
            </a:r>
            <a:r>
              <a:rPr lang="de-AT" dirty="0"/>
              <a:t> „</a:t>
            </a:r>
            <a:r>
              <a:rPr lang="de-AT" dirty="0" err="1"/>
              <a:t>SolutionType</a:t>
            </a:r>
            <a:r>
              <a:rPr lang="de-AT" dirty="0" smtClean="0"/>
              <a:t>“ (</a:t>
            </a:r>
            <a:r>
              <a:rPr lang="de-AT" dirty="0" err="1" smtClean="0"/>
              <a:t>primary</a:t>
            </a:r>
            <a:r>
              <a:rPr lang="de-AT" dirty="0" smtClean="0"/>
              <a:t> </a:t>
            </a:r>
            <a:r>
              <a:rPr lang="de-AT" dirty="0" err="1" smtClean="0"/>
              <a:t>dof</a:t>
            </a:r>
            <a:r>
              <a:rPr lang="de-AT" dirty="0" smtClean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, e.g., </a:t>
            </a:r>
            <a:r>
              <a:rPr lang="de-AT" dirty="0" err="1" smtClean="0"/>
              <a:t>postprocessing</a:t>
            </a:r>
            <a:r>
              <a:rPr lang="de-AT" dirty="0" smtClean="0"/>
              <a:t> </a:t>
            </a:r>
            <a:r>
              <a:rPr lang="de-AT" dirty="0" err="1" smtClean="0"/>
              <a:t>result</a:t>
            </a:r>
            <a:r>
              <a:rPr lang="de-AT" dirty="0" smtClean="0"/>
              <a:t>,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any</a:t>
            </a:r>
            <a:r>
              <a:rPr lang="de-AT" dirty="0" smtClean="0"/>
              <a:t> </a:t>
            </a:r>
            <a:r>
              <a:rPr lang="de-AT" dirty="0" err="1" smtClean="0"/>
              <a:t>right</a:t>
            </a:r>
            <a:r>
              <a:rPr lang="de-AT" dirty="0" smtClean="0"/>
              <a:t> </a:t>
            </a:r>
            <a:r>
              <a:rPr lang="de-AT" dirty="0" err="1" smtClean="0"/>
              <a:t>hand</a:t>
            </a:r>
            <a:r>
              <a:rPr lang="de-AT" dirty="0" smtClean="0"/>
              <a:t> </a:t>
            </a:r>
            <a:r>
              <a:rPr lang="de-AT" dirty="0" err="1" smtClean="0"/>
              <a:t>side</a:t>
            </a:r>
            <a:r>
              <a:rPr lang="de-AT" dirty="0" smtClean="0"/>
              <a:t> </a:t>
            </a:r>
            <a:r>
              <a:rPr lang="de-AT" dirty="0" err="1" smtClean="0"/>
              <a:t>load</a:t>
            </a:r>
            <a:r>
              <a:rPr lang="de-AT" dirty="0" smtClean="0"/>
              <a:t>)</a:t>
            </a:r>
          </a:p>
          <a:p>
            <a:pPr lvl="2"/>
            <a:endParaRPr lang="de-AT" sz="500" dirty="0" smtClean="0"/>
          </a:p>
          <a:p>
            <a:pPr lvl="2"/>
            <a:r>
              <a:rPr lang="de-AT" dirty="0" err="1" smtClean="0"/>
              <a:t>We</a:t>
            </a:r>
            <a:r>
              <a:rPr lang="de-AT" dirty="0" smtClean="0"/>
              <a:t> </a:t>
            </a:r>
            <a:r>
              <a:rPr lang="de-AT" dirty="0" err="1" smtClean="0"/>
              <a:t>name</a:t>
            </a:r>
            <a:r>
              <a:rPr lang="de-AT" dirty="0" smtClean="0"/>
              <a:t> </a:t>
            </a:r>
            <a:r>
              <a:rPr lang="de-AT" dirty="0" err="1" smtClean="0"/>
              <a:t>them</a:t>
            </a:r>
            <a:r>
              <a:rPr lang="de-AT" dirty="0" smtClean="0"/>
              <a:t> „TEST_DOF“ </a:t>
            </a:r>
            <a:r>
              <a:rPr lang="de-AT" dirty="0" err="1" smtClean="0"/>
              <a:t>and</a:t>
            </a:r>
            <a:r>
              <a:rPr lang="de-AT" dirty="0" smtClean="0"/>
              <a:t> „TEST_FIELD“ </a:t>
            </a:r>
            <a:r>
              <a:rPr lang="de-AT" dirty="0" err="1" smtClean="0"/>
              <a:t>and</a:t>
            </a:r>
            <a:r>
              <a:rPr lang="de-AT" dirty="0" smtClean="0"/>
              <a:t> „TEST_RHS_LOAD“</a:t>
            </a:r>
          </a:p>
          <a:p>
            <a:pPr lvl="2"/>
            <a:endParaRPr lang="de-AT" sz="500" dirty="0" smtClean="0"/>
          </a:p>
          <a:p>
            <a:pPr lvl="2"/>
            <a:r>
              <a:rPr lang="de-AT" dirty="0" smtClean="0"/>
              <a:t>In „Environment.cc“: </a:t>
            </a:r>
            <a:r>
              <a:rPr lang="de-AT" dirty="0" err="1" smtClean="0"/>
              <a:t>put</a:t>
            </a:r>
            <a:r>
              <a:rPr lang="de-AT" dirty="0" smtClean="0"/>
              <a:t> </a:t>
            </a:r>
            <a:r>
              <a:rPr lang="de-AT" dirty="0" err="1" smtClean="0"/>
              <a:t>them</a:t>
            </a:r>
            <a:r>
              <a:rPr lang="de-AT" dirty="0" smtClean="0"/>
              <a:t> </a:t>
            </a:r>
            <a:r>
              <a:rPr lang="de-AT" dirty="0" err="1" smtClean="0"/>
              <a:t>to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/>
              <a:t> „</a:t>
            </a:r>
            <a:r>
              <a:rPr lang="de-AT" dirty="0" err="1" smtClean="0"/>
              <a:t>SolutionTypeEnum</a:t>
            </a:r>
            <a:r>
              <a:rPr lang="de-AT" dirty="0" smtClean="0"/>
              <a:t>“</a:t>
            </a:r>
            <a:endParaRPr lang="de-AT" dirty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200" dirty="0" smtClean="0"/>
          </a:p>
          <a:p>
            <a:pPr lvl="1"/>
            <a:endParaRPr lang="en-US" sz="1100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400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269905"/>
              </p:ext>
            </p:extLst>
          </p:nvPr>
        </p:nvGraphicFramePr>
        <p:xfrm>
          <a:off x="1140026" y="1413159"/>
          <a:ext cx="6923311" cy="3111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311134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::map&lt;</a:t>
                      </a:r>
                      <a:r>
                        <a:rPr lang="en-US" sz="1400" dirty="0" err="1" smtClean="0">
                          <a:effectLst/>
                        </a:rPr>
                        <a:t>SolutionType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FeSpace</a:t>
                      </a:r>
                      <a:r>
                        <a:rPr lang="en-US" sz="1400" dirty="0" smtClean="0">
                          <a:effectLst/>
                        </a:rPr>
                        <a:t>&gt; 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TestPDE</a:t>
                      </a:r>
                      <a:r>
                        <a:rPr lang="en-US" sz="1400" dirty="0" smtClean="0">
                          <a:effectLst/>
                        </a:rPr>
                        <a:t>::</a:t>
                      </a:r>
                      <a:r>
                        <a:rPr lang="en-US" sz="1400" dirty="0" err="1" smtClean="0">
                          <a:effectLst/>
                        </a:rPr>
                        <a:t>CreateFeSpaces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const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::string&amp; formulation, </a:t>
                      </a:r>
                      <a:r>
                        <a:rPr lang="en-US" sz="1400" dirty="0" err="1" smtClean="0">
                          <a:effectLst/>
                        </a:rPr>
                        <a:t>PtrParamNode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infoNode</a:t>
                      </a:r>
                      <a:r>
                        <a:rPr lang="en-US" sz="1400" dirty="0" smtClean="0">
                          <a:effectLst/>
                        </a:rPr>
                        <a:t>) {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::map&lt;</a:t>
                      </a:r>
                      <a:r>
                        <a:rPr lang="en-US" sz="1400" dirty="0" err="1" smtClean="0">
                          <a:effectLst/>
                        </a:rPr>
                        <a:t>SolutionType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FeSpace</a:t>
                      </a:r>
                      <a:r>
                        <a:rPr lang="en-US" sz="1400" dirty="0" smtClean="0">
                          <a:effectLst/>
                        </a:rPr>
                        <a:t>&gt; &gt; </a:t>
                      </a:r>
                      <a:r>
                        <a:rPr lang="en-US" sz="1400" dirty="0" err="1" smtClean="0">
                          <a:effectLst/>
                        </a:rPr>
                        <a:t>crSpaces</a:t>
                      </a:r>
                      <a:r>
                        <a:rPr lang="en-US" sz="1400" dirty="0" smtClean="0">
                          <a:effectLst/>
                        </a:rPr>
                        <a:t>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if(formulation == "default" || formulation == "H1"){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</a:t>
                      </a:r>
                      <a:r>
                        <a:rPr lang="en-US" sz="1400" dirty="0" err="1" smtClean="0">
                          <a:effectLst/>
                        </a:rPr>
                        <a:t>PtrParamNode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potSpaceNode</a:t>
                      </a:r>
                      <a:r>
                        <a:rPr lang="en-US" sz="1400" dirty="0" smtClean="0">
                          <a:effectLst/>
                        </a:rPr>
                        <a:t> = </a:t>
                      </a:r>
                      <a:r>
                        <a:rPr lang="en-US" sz="1400" dirty="0" err="1" smtClean="0">
                          <a:effectLst/>
                        </a:rPr>
                        <a:t>infoNode</a:t>
                      </a:r>
                      <a:r>
                        <a:rPr lang="en-US" sz="1400" dirty="0" smtClean="0">
                          <a:effectLst/>
                        </a:rPr>
                        <a:t>-&gt;Get("</a:t>
                      </a:r>
                      <a:r>
                        <a:rPr lang="en-US" sz="1400" dirty="0" err="1" smtClean="0">
                          <a:effectLst/>
                        </a:rPr>
                        <a:t>testDof</a:t>
                      </a:r>
                      <a:r>
                        <a:rPr lang="en-US" sz="1400" dirty="0" smtClean="0">
                          <a:effectLst/>
                        </a:rPr>
                        <a:t>");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</a:t>
                      </a:r>
                      <a:r>
                        <a:rPr lang="en-US" sz="1400" dirty="0" err="1" smtClean="0">
                          <a:effectLst/>
                        </a:rPr>
                        <a:t>crSpaces</a:t>
                      </a:r>
                      <a:r>
                        <a:rPr lang="en-US" sz="1400" dirty="0" smtClean="0">
                          <a:effectLst/>
                        </a:rPr>
                        <a:t>[TEST_DOF] =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</a:t>
                      </a:r>
                      <a:r>
                        <a:rPr lang="en-US" sz="1400" dirty="0" err="1" smtClean="0">
                          <a:effectLst/>
                        </a:rPr>
                        <a:t>FeSpace</a:t>
                      </a:r>
                      <a:r>
                        <a:rPr lang="en-US" sz="1400" dirty="0" smtClean="0">
                          <a:effectLst/>
                        </a:rPr>
                        <a:t>::</a:t>
                      </a:r>
                      <a:r>
                        <a:rPr lang="en-US" sz="1400" dirty="0" err="1" smtClean="0">
                          <a:effectLst/>
                        </a:rPr>
                        <a:t>CreateInstance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myParam</a:t>
                      </a:r>
                      <a:r>
                        <a:rPr lang="en-US" sz="1400" dirty="0" smtClean="0">
                          <a:effectLst/>
                        </a:rPr>
                        <a:t>_,</a:t>
                      </a:r>
                      <a:r>
                        <a:rPr lang="en-US" sz="1400" dirty="0" err="1" smtClean="0">
                          <a:effectLst/>
                        </a:rPr>
                        <a:t>potSpaceNode,FeSpace</a:t>
                      </a:r>
                      <a:r>
                        <a:rPr lang="en-US" sz="1400" dirty="0" smtClean="0">
                          <a:effectLst/>
                        </a:rPr>
                        <a:t>::H1, </a:t>
                      </a:r>
                      <a:r>
                        <a:rPr lang="en-US" sz="1400" dirty="0" err="1" smtClean="0">
                          <a:effectLst/>
                        </a:rPr>
                        <a:t>ptGrid</a:t>
                      </a:r>
                      <a:r>
                        <a:rPr lang="en-US" sz="1400" dirty="0" smtClean="0">
                          <a:effectLst/>
                        </a:rPr>
                        <a:t>_);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</a:t>
                      </a:r>
                      <a:r>
                        <a:rPr lang="en-US" sz="1400" dirty="0" err="1" smtClean="0">
                          <a:effectLst/>
                        </a:rPr>
                        <a:t>crSpaces</a:t>
                      </a:r>
                      <a:r>
                        <a:rPr lang="en-US" sz="1400" dirty="0" smtClean="0">
                          <a:effectLst/>
                        </a:rPr>
                        <a:t>[TEST_DOF]-&gt;</a:t>
                      </a:r>
                      <a:r>
                        <a:rPr lang="en-US" sz="1400" dirty="0" err="1" smtClean="0">
                          <a:effectLst/>
                        </a:rPr>
                        <a:t>Init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solStrat</a:t>
                      </a:r>
                      <a:r>
                        <a:rPr lang="en-US" sz="1400" dirty="0" smtClean="0">
                          <a:effectLst/>
                        </a:rPr>
                        <a:t>_);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}else{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EXCEPTION("The formulation " &lt;&lt; formulation &lt;&lt; "of TEST PDE is not known!");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}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return </a:t>
                      </a:r>
                      <a:r>
                        <a:rPr lang="en-US" sz="1400" dirty="0" err="1" smtClean="0">
                          <a:effectLst/>
                        </a:rPr>
                        <a:t>crSpaces</a:t>
                      </a:r>
                      <a:r>
                        <a:rPr lang="en-US" sz="1400" dirty="0" smtClean="0">
                          <a:effectLst/>
                        </a:rPr>
                        <a:t>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}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25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/>
          </a:bodyPr>
          <a:lstStyle/>
          <a:p>
            <a:r>
              <a:rPr lang="en-US" dirty="0" smtClean="0"/>
              <a:t>Define result types</a:t>
            </a:r>
          </a:p>
          <a:p>
            <a:pPr lvl="1"/>
            <a:r>
              <a:rPr lang="de-AT" dirty="0" err="1"/>
              <a:t>Method</a:t>
            </a:r>
            <a:r>
              <a:rPr lang="de-AT" dirty="0"/>
              <a:t> </a:t>
            </a:r>
            <a:r>
              <a:rPr lang="de-AT" dirty="0" err="1" smtClean="0"/>
              <a:t>DefinePrimaryResults</a:t>
            </a:r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200" dirty="0" smtClean="0"/>
          </a:p>
          <a:p>
            <a:pPr lvl="1"/>
            <a:endParaRPr lang="en-US" sz="1100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400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478572"/>
              </p:ext>
            </p:extLst>
          </p:nvPr>
        </p:nvGraphicFramePr>
        <p:xfrm>
          <a:off x="1140026" y="1508159"/>
          <a:ext cx="692331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311134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void </a:t>
                      </a:r>
                      <a:r>
                        <a:rPr lang="en-US" sz="1400" dirty="0" err="1" smtClean="0">
                          <a:effectLst/>
                        </a:rPr>
                        <a:t>TestPDE</a:t>
                      </a:r>
                      <a:r>
                        <a:rPr lang="en-US" sz="1400" dirty="0" smtClean="0">
                          <a:effectLst/>
                        </a:rPr>
                        <a:t>::</a:t>
                      </a:r>
                      <a:r>
                        <a:rPr lang="en-US" sz="1400" dirty="0" err="1" smtClean="0">
                          <a:effectLst/>
                        </a:rPr>
                        <a:t>DefinePrimaryResults</a:t>
                      </a:r>
                      <a:r>
                        <a:rPr lang="en-US" sz="1400" dirty="0" smtClean="0">
                          <a:effectLst/>
                        </a:rPr>
                        <a:t>() {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// === TEST ===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ResultInfo</a:t>
                      </a:r>
                      <a:r>
                        <a:rPr lang="en-US" sz="1400" dirty="0" smtClean="0">
                          <a:effectLst/>
                        </a:rPr>
                        <a:t>&gt; res1( new </a:t>
                      </a:r>
                      <a:r>
                        <a:rPr lang="en-US" sz="1400" dirty="0" err="1" smtClean="0">
                          <a:effectLst/>
                        </a:rPr>
                        <a:t>ResultInfo</a:t>
                      </a:r>
                      <a:r>
                        <a:rPr lang="en-US" sz="1400" dirty="0" smtClean="0">
                          <a:effectLst/>
                        </a:rPr>
                        <a:t>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res1-&gt;</a:t>
                      </a:r>
                      <a:r>
                        <a:rPr lang="en-US" sz="1400" dirty="0" err="1" smtClean="0">
                          <a:effectLst/>
                        </a:rPr>
                        <a:t>resultType</a:t>
                      </a:r>
                      <a:r>
                        <a:rPr lang="en-US" sz="1400" dirty="0" smtClean="0">
                          <a:effectLst/>
                        </a:rPr>
                        <a:t> = TEST_DOF;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res1-&gt;</a:t>
                      </a:r>
                      <a:r>
                        <a:rPr lang="en-US" sz="1400" dirty="0" err="1" smtClean="0">
                          <a:effectLst/>
                        </a:rPr>
                        <a:t>dofNames</a:t>
                      </a:r>
                      <a:r>
                        <a:rPr lang="en-US" sz="1400" dirty="0" smtClean="0">
                          <a:effectLst/>
                        </a:rPr>
                        <a:t> = "";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res1-&gt;unit = "?";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res1-&gt;</a:t>
                      </a:r>
                      <a:r>
                        <a:rPr lang="en-US" sz="1400" dirty="0" err="1" smtClean="0">
                          <a:effectLst/>
                        </a:rPr>
                        <a:t>definedOn</a:t>
                      </a:r>
                      <a:r>
                        <a:rPr lang="en-US" sz="1400" dirty="0" smtClean="0">
                          <a:effectLst/>
                        </a:rPr>
                        <a:t> = </a:t>
                      </a:r>
                      <a:r>
                        <a:rPr lang="en-US" sz="1400" dirty="0" err="1" smtClean="0">
                          <a:effectLst/>
                        </a:rPr>
                        <a:t>ResultInfo</a:t>
                      </a:r>
                      <a:r>
                        <a:rPr lang="en-US" sz="1400" dirty="0" smtClean="0">
                          <a:effectLst/>
                        </a:rPr>
                        <a:t>::NODE;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res1-&gt;</a:t>
                      </a:r>
                      <a:r>
                        <a:rPr lang="en-US" sz="1400" dirty="0" err="1" smtClean="0">
                          <a:effectLst/>
                        </a:rPr>
                        <a:t>entryType</a:t>
                      </a:r>
                      <a:r>
                        <a:rPr lang="en-US" sz="1400" dirty="0" smtClean="0">
                          <a:effectLst/>
                        </a:rPr>
                        <a:t> = </a:t>
                      </a:r>
                      <a:r>
                        <a:rPr lang="en-US" sz="1400" dirty="0" err="1" smtClean="0">
                          <a:effectLst/>
                        </a:rPr>
                        <a:t>ResultInfo</a:t>
                      </a:r>
                      <a:r>
                        <a:rPr lang="en-US" sz="1400" dirty="0" smtClean="0">
                          <a:effectLst/>
                        </a:rPr>
                        <a:t>::SCALAR;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feFunctions</a:t>
                      </a:r>
                      <a:r>
                        <a:rPr lang="en-US" sz="1400" dirty="0" smtClean="0">
                          <a:effectLst/>
                        </a:rPr>
                        <a:t>_[TEST_DOF]-&gt;</a:t>
                      </a:r>
                      <a:r>
                        <a:rPr lang="en-US" sz="1400" dirty="0" err="1" smtClean="0">
                          <a:effectLst/>
                        </a:rPr>
                        <a:t>SetResultInfo</a:t>
                      </a:r>
                      <a:r>
                        <a:rPr lang="en-US" sz="1400" dirty="0" smtClean="0">
                          <a:effectLst/>
                        </a:rPr>
                        <a:t>(res1);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results_.</a:t>
                      </a:r>
                      <a:r>
                        <a:rPr lang="en-US" sz="1400" dirty="0" err="1" smtClean="0">
                          <a:effectLst/>
                        </a:rPr>
                        <a:t>Push_back</a:t>
                      </a:r>
                      <a:r>
                        <a:rPr lang="en-US" sz="1400" dirty="0" smtClean="0">
                          <a:effectLst/>
                        </a:rPr>
                        <a:t>( res1 );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availResults</a:t>
                      </a:r>
                      <a:r>
                        <a:rPr lang="en-US" sz="1400" dirty="0" smtClean="0">
                          <a:effectLst/>
                        </a:rPr>
                        <a:t>_.insert( res1 );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res1-&gt;</a:t>
                      </a:r>
                      <a:r>
                        <a:rPr lang="en-US" sz="1400" dirty="0" err="1" smtClean="0">
                          <a:effectLst/>
                        </a:rPr>
                        <a:t>SetFeFunction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feFunctions</a:t>
                      </a:r>
                      <a:r>
                        <a:rPr lang="en-US" sz="1400" dirty="0" smtClean="0">
                          <a:effectLst/>
                        </a:rPr>
                        <a:t>_[TEST_DOF]);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DefineFieldResult</a:t>
                      </a:r>
                      <a:r>
                        <a:rPr lang="en-US" sz="1400" dirty="0" smtClean="0">
                          <a:effectLst/>
                        </a:rPr>
                        <a:t>( </a:t>
                      </a:r>
                      <a:r>
                        <a:rPr lang="en-US" sz="1400" dirty="0" err="1" smtClean="0">
                          <a:effectLst/>
                        </a:rPr>
                        <a:t>feFunctions</a:t>
                      </a:r>
                      <a:r>
                        <a:rPr lang="en-US" sz="1400" dirty="0" smtClean="0">
                          <a:effectLst/>
                        </a:rPr>
                        <a:t>_[TEST_DOF], res1 );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// -----------------------------------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//  Define xml-names of </a:t>
                      </a:r>
                      <a:r>
                        <a:rPr lang="en-US" sz="1400" dirty="0" err="1" smtClean="0">
                          <a:effectLst/>
                        </a:rPr>
                        <a:t>Dirichlet</a:t>
                      </a:r>
                      <a:r>
                        <a:rPr lang="en-US" sz="1400" dirty="0" smtClean="0">
                          <a:effectLst/>
                        </a:rPr>
                        <a:t> BCs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// -----------------------------------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hdbcSolNameMap</a:t>
                      </a:r>
                      <a:r>
                        <a:rPr lang="en-US" sz="1400" dirty="0" smtClean="0">
                          <a:effectLst/>
                        </a:rPr>
                        <a:t>_[TEST_DOF] = "</a:t>
                      </a:r>
                      <a:r>
                        <a:rPr lang="en-US" sz="1400" dirty="0" err="1" smtClean="0">
                          <a:effectLst/>
                        </a:rPr>
                        <a:t>testGround</a:t>
                      </a:r>
                      <a:r>
                        <a:rPr lang="en-US" sz="1400" dirty="0" smtClean="0">
                          <a:effectLst/>
                        </a:rPr>
                        <a:t>";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idbcSolNameMap</a:t>
                      </a:r>
                      <a:r>
                        <a:rPr lang="en-US" sz="1400" dirty="0" smtClean="0">
                          <a:effectLst/>
                        </a:rPr>
                        <a:t>_[TEST_DOF] = "</a:t>
                      </a:r>
                      <a:r>
                        <a:rPr lang="en-US" sz="1400" dirty="0" err="1" smtClean="0">
                          <a:effectLst/>
                        </a:rPr>
                        <a:t>testPotential</a:t>
                      </a:r>
                      <a:r>
                        <a:rPr lang="en-US" sz="1400" dirty="0" smtClean="0">
                          <a:effectLst/>
                        </a:rPr>
                        <a:t>";  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" name="Gerade Verbindung mit Pfeil 4"/>
          <p:cNvCxnSpPr/>
          <p:nvPr/>
        </p:nvCxnSpPr>
        <p:spPr>
          <a:xfrm flipH="1" flipV="1">
            <a:off x="5035139" y="5759532"/>
            <a:ext cx="1496290" cy="320634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/>
          <p:cNvSpPr txBox="1"/>
          <p:nvPr/>
        </p:nvSpPr>
        <p:spPr>
          <a:xfrm>
            <a:off x="6448302" y="6008908"/>
            <a:ext cx="1513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Tag in </a:t>
            </a:r>
            <a:r>
              <a:rPr lang="de-AT" dirty="0" err="1" smtClean="0"/>
              <a:t>xml</a:t>
            </a:r>
            <a:r>
              <a:rPr lang="de-AT" dirty="0" smtClean="0"/>
              <a:t>-File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92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/>
          </a:bodyPr>
          <a:lstStyle/>
          <a:p>
            <a:r>
              <a:rPr lang="en-US" dirty="0" smtClean="0"/>
              <a:t>Define result types</a:t>
            </a:r>
          </a:p>
          <a:p>
            <a:pPr lvl="1"/>
            <a:r>
              <a:rPr lang="de-AT" dirty="0" err="1"/>
              <a:t>Method</a:t>
            </a:r>
            <a:r>
              <a:rPr lang="de-AT" dirty="0"/>
              <a:t> </a:t>
            </a:r>
            <a:r>
              <a:rPr lang="en-US" dirty="0" err="1" smtClean="0"/>
              <a:t>DefinePostProcResults</a:t>
            </a:r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200" dirty="0" smtClean="0"/>
          </a:p>
          <a:p>
            <a:pPr lvl="1"/>
            <a:endParaRPr lang="en-US" sz="1100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400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894936"/>
              </p:ext>
            </p:extLst>
          </p:nvPr>
        </p:nvGraphicFramePr>
        <p:xfrm>
          <a:off x="1140026" y="1508159"/>
          <a:ext cx="6923311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252945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 void </a:t>
                      </a:r>
                      <a:r>
                        <a:rPr lang="en-US" sz="1400" dirty="0" err="1" smtClean="0">
                          <a:effectLst/>
                        </a:rPr>
                        <a:t>TestPDE</a:t>
                      </a:r>
                      <a:r>
                        <a:rPr lang="en-US" sz="1400" dirty="0" smtClean="0">
                          <a:effectLst/>
                        </a:rPr>
                        <a:t>::</a:t>
                      </a:r>
                      <a:r>
                        <a:rPr lang="en-US" sz="1400" dirty="0" err="1" smtClean="0">
                          <a:effectLst/>
                        </a:rPr>
                        <a:t>DefinePostProcResults</a:t>
                      </a:r>
                      <a:r>
                        <a:rPr lang="en-US" sz="1400" dirty="0" smtClean="0">
                          <a:effectLst/>
                        </a:rPr>
                        <a:t>() {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// === TEST FIELD ===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</a:t>
                      </a:r>
                      <a:r>
                        <a:rPr lang="en-US" sz="1400" dirty="0" err="1" smtClean="0">
                          <a:effectLst/>
                        </a:rPr>
                        <a:t>StdVector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::string&gt; </a:t>
                      </a:r>
                      <a:r>
                        <a:rPr lang="en-US" sz="1400" dirty="0" err="1" smtClean="0">
                          <a:effectLst/>
                        </a:rPr>
                        <a:t>vecComponents</a:t>
                      </a:r>
                      <a:r>
                        <a:rPr lang="en-US" sz="1400" dirty="0" smtClean="0">
                          <a:effectLst/>
                        </a:rPr>
                        <a:t>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if( dim_ == 3 )</a:t>
                      </a:r>
                    </a:p>
                    <a:p>
                      <a:r>
                        <a:rPr lang="en-US" sz="1400" baseline="0" dirty="0" smtClean="0">
                          <a:effectLst/>
                        </a:rPr>
                        <a:t>                  </a:t>
                      </a:r>
                      <a:r>
                        <a:rPr lang="en-US" sz="1400" dirty="0" err="1" smtClean="0">
                          <a:effectLst/>
                        </a:rPr>
                        <a:t>vecComponents</a:t>
                      </a:r>
                      <a:r>
                        <a:rPr lang="en-US" sz="1400" dirty="0" smtClean="0">
                          <a:effectLst/>
                        </a:rPr>
                        <a:t> = "x", "y", "z";</a:t>
                      </a:r>
                    </a:p>
                    <a:p>
                      <a:r>
                        <a:rPr lang="en-US" sz="1400" baseline="0" dirty="0" smtClean="0">
                          <a:effectLst/>
                        </a:rPr>
                        <a:t>          </a:t>
                      </a:r>
                      <a:r>
                        <a:rPr lang="en-US" sz="1400" dirty="0" smtClean="0">
                          <a:effectLst/>
                        </a:rPr>
                        <a:t>else if ( </a:t>
                      </a:r>
                      <a:r>
                        <a:rPr lang="en-US" sz="1400" dirty="0" err="1" smtClean="0">
                          <a:effectLst/>
                        </a:rPr>
                        <a:t>isaxi</a:t>
                      </a:r>
                      <a:r>
                        <a:rPr lang="en-US" sz="1400" dirty="0" smtClean="0">
                          <a:effectLst/>
                        </a:rPr>
                        <a:t>_ )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</a:t>
                      </a:r>
                      <a:r>
                        <a:rPr lang="en-US" sz="1400" dirty="0" err="1" smtClean="0">
                          <a:effectLst/>
                        </a:rPr>
                        <a:t>vecComponents</a:t>
                      </a:r>
                      <a:r>
                        <a:rPr lang="en-US" sz="1400" dirty="0" smtClean="0">
                          <a:effectLst/>
                        </a:rPr>
                        <a:t> = "r", "z";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else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</a:t>
                      </a:r>
                      <a:r>
                        <a:rPr lang="en-US" sz="1400" dirty="0" err="1" smtClean="0">
                          <a:effectLst/>
                        </a:rPr>
                        <a:t>vecComponents</a:t>
                      </a:r>
                      <a:r>
                        <a:rPr lang="en-US" sz="1400" dirty="0" smtClean="0">
                          <a:effectLst/>
                        </a:rPr>
                        <a:t> = "x", "y";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	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BaseFeFunction</a:t>
                      </a:r>
                      <a:r>
                        <a:rPr lang="en-US" sz="1400" dirty="0" smtClean="0">
                          <a:effectLst/>
                        </a:rPr>
                        <a:t>&gt; </a:t>
                      </a:r>
                      <a:r>
                        <a:rPr lang="en-US" sz="1400" dirty="0" err="1" smtClean="0">
                          <a:effectLst/>
                        </a:rPr>
                        <a:t>feFct</a:t>
                      </a:r>
                      <a:r>
                        <a:rPr lang="en-US" sz="1400" dirty="0" smtClean="0">
                          <a:effectLst/>
                        </a:rPr>
                        <a:t> = </a:t>
                      </a:r>
                      <a:r>
                        <a:rPr lang="en-US" sz="1400" dirty="0" err="1" smtClean="0">
                          <a:effectLst/>
                        </a:rPr>
                        <a:t>feFunctions</a:t>
                      </a:r>
                      <a:r>
                        <a:rPr lang="en-US" sz="1400" dirty="0" smtClean="0">
                          <a:effectLst/>
                        </a:rPr>
                        <a:t>_[TEST_DOF];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ResultInfo</a:t>
                      </a:r>
                      <a:r>
                        <a:rPr lang="en-US" sz="1400" dirty="0" smtClean="0">
                          <a:effectLst/>
                        </a:rPr>
                        <a:t>&gt; field(new </a:t>
                      </a:r>
                      <a:r>
                        <a:rPr lang="en-US" sz="1400" dirty="0" err="1" smtClean="0">
                          <a:effectLst/>
                        </a:rPr>
                        <a:t>ResultInfo</a:t>
                      </a:r>
                      <a:r>
                        <a:rPr lang="en-US" sz="1400" dirty="0" smtClean="0">
                          <a:effectLst/>
                        </a:rPr>
                        <a:t>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field-&gt;</a:t>
                      </a:r>
                      <a:r>
                        <a:rPr lang="en-US" sz="1400" dirty="0" err="1" smtClean="0">
                          <a:effectLst/>
                        </a:rPr>
                        <a:t>resultType</a:t>
                      </a:r>
                      <a:r>
                        <a:rPr lang="en-US" sz="1400" dirty="0" smtClean="0">
                          <a:effectLst/>
                        </a:rPr>
                        <a:t> = TEST_FIELD;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field-&gt;</a:t>
                      </a:r>
                      <a:r>
                        <a:rPr lang="en-US" sz="1400" dirty="0" err="1" smtClean="0">
                          <a:effectLst/>
                        </a:rPr>
                        <a:t>dofNames</a:t>
                      </a:r>
                      <a:r>
                        <a:rPr lang="en-US" sz="1400" dirty="0" smtClean="0">
                          <a:effectLst/>
                        </a:rPr>
                        <a:t> = </a:t>
                      </a:r>
                      <a:r>
                        <a:rPr lang="en-US" sz="1400" dirty="0" err="1" smtClean="0">
                          <a:effectLst/>
                        </a:rPr>
                        <a:t>vecComponents</a:t>
                      </a:r>
                      <a:r>
                        <a:rPr lang="en-US" sz="1400" dirty="0" smtClean="0">
                          <a:effectLst/>
                        </a:rPr>
                        <a:t>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field-&gt;unit = "??";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field-&gt;</a:t>
                      </a:r>
                      <a:r>
                        <a:rPr lang="en-US" sz="1400" dirty="0" err="1" smtClean="0">
                          <a:effectLst/>
                        </a:rPr>
                        <a:t>definedOn</a:t>
                      </a:r>
                      <a:r>
                        <a:rPr lang="en-US" sz="1400" dirty="0" smtClean="0">
                          <a:effectLst/>
                        </a:rPr>
                        <a:t> = </a:t>
                      </a:r>
                      <a:r>
                        <a:rPr lang="en-US" sz="1400" dirty="0" err="1" smtClean="0">
                          <a:effectLst/>
                        </a:rPr>
                        <a:t>ResultInfo</a:t>
                      </a:r>
                      <a:r>
                        <a:rPr lang="en-US" sz="1400" dirty="0" smtClean="0">
                          <a:effectLst/>
                        </a:rPr>
                        <a:t>::ELEMENT;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field-&gt;</a:t>
                      </a:r>
                      <a:r>
                        <a:rPr lang="en-US" sz="1400" dirty="0" err="1" smtClean="0">
                          <a:effectLst/>
                        </a:rPr>
                        <a:t>entryType</a:t>
                      </a:r>
                      <a:r>
                        <a:rPr lang="en-US" sz="1400" dirty="0" smtClean="0">
                          <a:effectLst/>
                        </a:rPr>
                        <a:t> = </a:t>
                      </a:r>
                      <a:r>
                        <a:rPr lang="en-US" sz="1400" dirty="0" err="1" smtClean="0">
                          <a:effectLst/>
                        </a:rPr>
                        <a:t>ResultInfo</a:t>
                      </a:r>
                      <a:r>
                        <a:rPr lang="en-US" sz="1400" dirty="0" smtClean="0">
                          <a:effectLst/>
                        </a:rPr>
                        <a:t>::VECTOR;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</a:t>
                      </a:r>
                      <a:r>
                        <a:rPr lang="en-US" sz="1400" dirty="0" err="1" smtClean="0">
                          <a:effectLst/>
                        </a:rPr>
                        <a:t>availResults</a:t>
                      </a:r>
                      <a:r>
                        <a:rPr lang="en-US" sz="1400" dirty="0" smtClean="0">
                          <a:effectLst/>
                        </a:rPr>
                        <a:t>_.insert( field );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59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/>
          </a:bodyPr>
          <a:lstStyle/>
          <a:p>
            <a:r>
              <a:rPr lang="en-US" dirty="0" smtClean="0"/>
              <a:t>Define result types</a:t>
            </a:r>
          </a:p>
          <a:p>
            <a:pPr lvl="1"/>
            <a:r>
              <a:rPr lang="de-AT" dirty="0" err="1"/>
              <a:t>Method</a:t>
            </a:r>
            <a:r>
              <a:rPr lang="de-AT" dirty="0"/>
              <a:t> </a:t>
            </a:r>
            <a:r>
              <a:rPr lang="en-US" dirty="0" err="1" smtClean="0"/>
              <a:t>DefinePostProcResults</a:t>
            </a:r>
            <a:r>
              <a:rPr lang="de-AT" dirty="0" smtClean="0"/>
              <a:t> (</a:t>
            </a:r>
            <a:r>
              <a:rPr lang="de-AT" dirty="0" err="1" smtClean="0"/>
              <a:t>cont</a:t>
            </a:r>
            <a:r>
              <a:rPr lang="de-AT" dirty="0" smtClean="0"/>
              <a:t>.)</a:t>
            </a:r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200" dirty="0" smtClean="0"/>
          </a:p>
          <a:p>
            <a:pPr lvl="1"/>
            <a:endParaRPr lang="en-US" sz="1100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400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940105"/>
              </p:ext>
            </p:extLst>
          </p:nvPr>
        </p:nvGraphicFramePr>
        <p:xfrm>
          <a:off x="1140026" y="1508159"/>
          <a:ext cx="6923311" cy="2529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252945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        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CoefFunctionFormBased</a:t>
                      </a:r>
                      <a:r>
                        <a:rPr lang="en-US" sz="1400" dirty="0" smtClean="0">
                          <a:effectLst/>
                        </a:rPr>
                        <a:t>&gt; </a:t>
                      </a:r>
                      <a:r>
                        <a:rPr lang="en-US" sz="1400" dirty="0" err="1" smtClean="0">
                          <a:effectLst/>
                        </a:rPr>
                        <a:t>fieldFunc</a:t>
                      </a:r>
                      <a:r>
                        <a:rPr lang="en-US" sz="1400" dirty="0" smtClean="0">
                          <a:effectLst/>
                        </a:rPr>
                        <a:t>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if( </a:t>
                      </a:r>
                      <a:r>
                        <a:rPr lang="en-US" sz="1400" dirty="0" err="1" smtClean="0">
                          <a:effectLst/>
                        </a:rPr>
                        <a:t>isComplex</a:t>
                      </a:r>
                      <a:r>
                        <a:rPr lang="en-US" sz="1400" dirty="0" smtClean="0">
                          <a:effectLst/>
                        </a:rPr>
                        <a:t>_ )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</a:t>
                      </a:r>
                      <a:r>
                        <a:rPr lang="en-US" sz="1400" dirty="0" err="1" smtClean="0">
                          <a:effectLst/>
                        </a:rPr>
                        <a:t>fieldFunc.reset</a:t>
                      </a:r>
                      <a:r>
                        <a:rPr lang="en-US" sz="1400" dirty="0" smtClean="0">
                          <a:effectLst/>
                        </a:rPr>
                        <a:t>(new </a:t>
                      </a:r>
                      <a:r>
                        <a:rPr lang="en-US" sz="1400" dirty="0" err="1" smtClean="0">
                          <a:effectLst/>
                        </a:rPr>
                        <a:t>CoefFunctionBOp</a:t>
                      </a:r>
                      <a:r>
                        <a:rPr lang="en-US" sz="1400" dirty="0" smtClean="0">
                          <a:effectLst/>
                        </a:rPr>
                        <a:t>&lt;Complex&gt;(</a:t>
                      </a:r>
                      <a:r>
                        <a:rPr lang="en-US" sz="1400" dirty="0" err="1" smtClean="0">
                          <a:effectLst/>
                        </a:rPr>
                        <a:t>feFct</a:t>
                      </a:r>
                      <a:r>
                        <a:rPr lang="en-US" sz="1400" dirty="0" smtClean="0">
                          <a:effectLst/>
                        </a:rPr>
                        <a:t>, field));</a:t>
                      </a:r>
                    </a:p>
                    <a:p>
                      <a:r>
                        <a:rPr lang="en-US" sz="1400" baseline="0" dirty="0" smtClean="0">
                          <a:effectLst/>
                        </a:rPr>
                        <a:t>           </a:t>
                      </a:r>
                      <a:r>
                        <a:rPr lang="en-US" sz="1400" dirty="0" smtClean="0">
                          <a:effectLst/>
                        </a:rPr>
                        <a:t>else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</a:t>
                      </a:r>
                      <a:r>
                        <a:rPr lang="en-US" sz="1400" dirty="0" err="1" smtClean="0">
                          <a:effectLst/>
                        </a:rPr>
                        <a:t>fieldFunc.reset</a:t>
                      </a:r>
                      <a:r>
                        <a:rPr lang="en-US" sz="1400" dirty="0" smtClean="0">
                          <a:effectLst/>
                        </a:rPr>
                        <a:t>(new </a:t>
                      </a:r>
                      <a:r>
                        <a:rPr lang="en-US" sz="1400" dirty="0" err="1" smtClean="0">
                          <a:effectLst/>
                        </a:rPr>
                        <a:t>CoefFunctionBOp</a:t>
                      </a:r>
                      <a:r>
                        <a:rPr lang="en-US" sz="1400" dirty="0" smtClean="0">
                          <a:effectLst/>
                        </a:rPr>
                        <a:t>&lt;Double&gt;(</a:t>
                      </a:r>
                      <a:r>
                        <a:rPr lang="en-US" sz="1400" dirty="0" err="1" smtClean="0">
                          <a:effectLst/>
                        </a:rPr>
                        <a:t>feFct</a:t>
                      </a:r>
                      <a:r>
                        <a:rPr lang="en-US" sz="1400" dirty="0" smtClean="0">
                          <a:effectLst/>
                        </a:rPr>
                        <a:t>, field));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</a:t>
                      </a:r>
                      <a:r>
                        <a:rPr lang="en-US" sz="1400" dirty="0" err="1" smtClean="0">
                          <a:effectLst/>
                        </a:rPr>
                        <a:t>DefineFieldResult</a:t>
                      </a:r>
                      <a:r>
                        <a:rPr lang="en-US" sz="1400" dirty="0" smtClean="0">
                          <a:effectLst/>
                        </a:rPr>
                        <a:t>( </a:t>
                      </a:r>
                      <a:r>
                        <a:rPr lang="en-US" sz="1400" dirty="0" err="1" smtClean="0">
                          <a:effectLst/>
                        </a:rPr>
                        <a:t>fieldFunc</a:t>
                      </a:r>
                      <a:r>
                        <a:rPr lang="en-US" sz="1400" dirty="0" smtClean="0">
                          <a:effectLst/>
                        </a:rPr>
                        <a:t>, field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</a:t>
                      </a:r>
                      <a:r>
                        <a:rPr lang="en-US" sz="1400" dirty="0" err="1" smtClean="0">
                          <a:effectLst/>
                        </a:rPr>
                        <a:t>stiffFormCoefs</a:t>
                      </a:r>
                      <a:r>
                        <a:rPr lang="en-US" sz="1400" dirty="0" smtClean="0">
                          <a:effectLst/>
                        </a:rPr>
                        <a:t>_.insert(</a:t>
                      </a:r>
                      <a:r>
                        <a:rPr lang="en-US" sz="1400" dirty="0" err="1" smtClean="0">
                          <a:effectLst/>
                        </a:rPr>
                        <a:t>fieldFunc</a:t>
                      </a:r>
                      <a:r>
                        <a:rPr lang="en-US" sz="1400" dirty="0" smtClean="0">
                          <a:effectLst/>
                        </a:rPr>
                        <a:t>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}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20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/>
          </a:bodyPr>
          <a:lstStyle/>
          <a:p>
            <a:r>
              <a:rPr lang="en-US" dirty="0" smtClean="0"/>
              <a:t>Define the bilinear forms: </a:t>
            </a:r>
            <a:r>
              <a:rPr lang="de-AT" dirty="0" err="1" smtClean="0"/>
              <a:t>Method</a:t>
            </a:r>
            <a:r>
              <a:rPr lang="de-AT" dirty="0" smtClean="0"/>
              <a:t> </a:t>
            </a:r>
            <a:r>
              <a:rPr lang="de-AT" dirty="0" err="1"/>
              <a:t>DefineIntegrators</a:t>
            </a:r>
            <a:r>
              <a:rPr lang="de-AT" dirty="0"/>
              <a:t>() </a:t>
            </a:r>
            <a:endParaRPr lang="de-AT" dirty="0" smtClean="0"/>
          </a:p>
          <a:p>
            <a:pPr lvl="1"/>
            <a:r>
              <a:rPr lang="de-AT" dirty="0" err="1" smtClean="0"/>
              <a:t>Define</a:t>
            </a:r>
            <a:r>
              <a:rPr lang="de-AT" dirty="0" smtClean="0"/>
              <a:t> </a:t>
            </a:r>
            <a:r>
              <a:rPr lang="de-AT" dirty="0" err="1" smtClean="0"/>
              <a:t>local</a:t>
            </a:r>
            <a:r>
              <a:rPr lang="de-AT" dirty="0" smtClean="0"/>
              <a:t> variables</a:t>
            </a:r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sz="1000" dirty="0"/>
          </a:p>
          <a:p>
            <a:pPr lvl="1"/>
            <a:r>
              <a:rPr lang="de-AT" dirty="0" smtClean="0"/>
              <a:t>Loop </a:t>
            </a:r>
            <a:r>
              <a:rPr lang="de-AT" dirty="0" err="1" smtClean="0"/>
              <a:t>over</a:t>
            </a:r>
            <a:r>
              <a:rPr lang="de-AT" dirty="0" smtClean="0"/>
              <a:t> all </a:t>
            </a:r>
            <a:r>
              <a:rPr lang="de-AT" dirty="0" err="1" smtClean="0"/>
              <a:t>regions</a:t>
            </a:r>
            <a:r>
              <a:rPr lang="de-AT" dirty="0" smtClean="0"/>
              <a:t>, </a:t>
            </a:r>
            <a:r>
              <a:rPr lang="de-AT" dirty="0" err="1" smtClean="0"/>
              <a:t>the</a:t>
            </a:r>
            <a:r>
              <a:rPr lang="de-AT" dirty="0" smtClean="0"/>
              <a:t> PDE </a:t>
            </a:r>
            <a:r>
              <a:rPr lang="de-AT" dirty="0" err="1" smtClean="0"/>
              <a:t>is</a:t>
            </a:r>
            <a:r>
              <a:rPr lang="de-AT" dirty="0" smtClean="0"/>
              <a:t> </a:t>
            </a:r>
            <a:r>
              <a:rPr lang="de-AT" dirty="0" err="1" smtClean="0"/>
              <a:t>defined</a:t>
            </a:r>
            <a:r>
              <a:rPr lang="de-AT" dirty="0" smtClean="0"/>
              <a:t> on</a:t>
            </a:r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200" dirty="0" smtClean="0"/>
          </a:p>
          <a:p>
            <a:pPr lvl="1"/>
            <a:endParaRPr lang="en-US" sz="1100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400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167632"/>
              </p:ext>
            </p:extLst>
          </p:nvPr>
        </p:nvGraphicFramePr>
        <p:xfrm>
          <a:off x="1140026" y="1460660"/>
          <a:ext cx="6923311" cy="2137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2137566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RegionIdType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actRegion</a:t>
                      </a:r>
                      <a:r>
                        <a:rPr lang="en-US" sz="1400" dirty="0" smtClean="0">
                          <a:effectLst/>
                        </a:rPr>
                        <a:t>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BaseMaterial</a:t>
                      </a:r>
                      <a:r>
                        <a:rPr lang="en-US" sz="1400" dirty="0" smtClean="0">
                          <a:effectLst/>
                        </a:rPr>
                        <a:t> * </a:t>
                      </a:r>
                      <a:r>
                        <a:rPr lang="en-US" sz="1400" dirty="0" err="1" smtClean="0">
                          <a:effectLst/>
                        </a:rPr>
                        <a:t>actSDMat</a:t>
                      </a:r>
                      <a:r>
                        <a:rPr lang="en-US" sz="1400" dirty="0" smtClean="0">
                          <a:effectLst/>
                        </a:rPr>
                        <a:t> = NULL;  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// Define integrators for all (material)</a:t>
                      </a:r>
                      <a:r>
                        <a:rPr lang="en-US" sz="1400" baseline="0" dirty="0" smtClean="0">
                          <a:effectLst/>
                        </a:rPr>
                        <a:t> </a:t>
                      </a:r>
                      <a:r>
                        <a:rPr lang="en-US" sz="1400" dirty="0" smtClean="0">
                          <a:effectLst/>
                        </a:rPr>
                        <a:t>regions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::map&lt;</a:t>
                      </a:r>
                      <a:r>
                        <a:rPr lang="en-US" sz="1400" dirty="0" err="1" smtClean="0">
                          <a:effectLst/>
                        </a:rPr>
                        <a:t>RegionIdType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BaseMaterial</a:t>
                      </a:r>
                      <a:r>
                        <a:rPr lang="en-US" sz="1400" dirty="0" smtClean="0">
                          <a:effectLst/>
                        </a:rPr>
                        <a:t>*&gt;::iterator it;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//get </a:t>
                      </a:r>
                      <a:r>
                        <a:rPr lang="en-US" sz="1400" dirty="0" err="1" smtClean="0">
                          <a:effectLst/>
                        </a:rPr>
                        <a:t>FEFunction</a:t>
                      </a:r>
                      <a:r>
                        <a:rPr lang="en-US" sz="1400" dirty="0" smtClean="0">
                          <a:effectLst/>
                        </a:rPr>
                        <a:t> and space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BaseFeFunction</a:t>
                      </a:r>
                      <a:r>
                        <a:rPr lang="en-US" sz="1400" dirty="0" smtClean="0">
                          <a:effectLst/>
                        </a:rPr>
                        <a:t>&gt; </a:t>
                      </a:r>
                      <a:r>
                        <a:rPr lang="en-US" sz="1400" dirty="0" err="1" smtClean="0">
                          <a:effectLst/>
                        </a:rPr>
                        <a:t>feFunc</a:t>
                      </a:r>
                      <a:r>
                        <a:rPr lang="en-US" sz="1400" dirty="0" smtClean="0">
                          <a:effectLst/>
                        </a:rPr>
                        <a:t> = </a:t>
                      </a:r>
                      <a:r>
                        <a:rPr lang="en-US" sz="1400" dirty="0" err="1" smtClean="0">
                          <a:effectLst/>
                        </a:rPr>
                        <a:t>feFunctions</a:t>
                      </a:r>
                      <a:r>
                        <a:rPr lang="en-US" sz="1400" dirty="0" smtClean="0">
                          <a:effectLst/>
                        </a:rPr>
                        <a:t>_[TEST_DOF];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FeSpace</a:t>
                      </a:r>
                      <a:r>
                        <a:rPr lang="en-US" sz="1400" dirty="0" smtClean="0">
                          <a:effectLst/>
                        </a:rPr>
                        <a:t>&gt; </a:t>
                      </a:r>
                      <a:r>
                        <a:rPr lang="en-US" sz="1400" dirty="0" err="1" smtClean="0">
                          <a:effectLst/>
                        </a:rPr>
                        <a:t>mySpace</a:t>
                      </a:r>
                      <a:r>
                        <a:rPr lang="en-US" sz="1400" dirty="0" smtClean="0">
                          <a:effectLst/>
                        </a:rPr>
                        <a:t> = </a:t>
                      </a:r>
                      <a:r>
                        <a:rPr lang="en-US" sz="1400" dirty="0" err="1" smtClean="0">
                          <a:effectLst/>
                        </a:rPr>
                        <a:t>feFunc</a:t>
                      </a:r>
                      <a:r>
                        <a:rPr lang="en-US" sz="1400" dirty="0" smtClean="0">
                          <a:effectLst/>
                        </a:rPr>
                        <a:t>-&gt;</a:t>
                      </a:r>
                      <a:r>
                        <a:rPr lang="en-US" sz="1400" dirty="0" err="1" smtClean="0">
                          <a:effectLst/>
                        </a:rPr>
                        <a:t>GetFeSpace</a:t>
                      </a:r>
                      <a:r>
                        <a:rPr lang="en-US" sz="1400" dirty="0" smtClean="0">
                          <a:effectLst/>
                        </a:rPr>
                        <a:t>();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198482"/>
              </p:ext>
            </p:extLst>
          </p:nvPr>
        </p:nvGraphicFramePr>
        <p:xfrm>
          <a:off x="1138047" y="3905001"/>
          <a:ext cx="6923311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2137566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for ( it = </a:t>
                      </a:r>
                      <a:r>
                        <a:rPr lang="en-US" sz="1400" dirty="0" err="1" smtClean="0">
                          <a:effectLst/>
                        </a:rPr>
                        <a:t>materials_.begin</a:t>
                      </a:r>
                      <a:r>
                        <a:rPr lang="en-US" sz="1400" dirty="0" smtClean="0">
                          <a:effectLst/>
                        </a:rPr>
                        <a:t>(); it != </a:t>
                      </a:r>
                      <a:r>
                        <a:rPr lang="en-US" sz="1400" dirty="0" err="1" smtClean="0">
                          <a:effectLst/>
                        </a:rPr>
                        <a:t>materials_.end</a:t>
                      </a:r>
                      <a:r>
                        <a:rPr lang="en-US" sz="1400" dirty="0" smtClean="0">
                          <a:effectLst/>
                        </a:rPr>
                        <a:t>(); it++ ) {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// Set current region and material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actRegion</a:t>
                      </a:r>
                      <a:r>
                        <a:rPr lang="en-US" sz="1400" dirty="0" smtClean="0">
                          <a:effectLst/>
                        </a:rPr>
                        <a:t> = it-&gt;first;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actSDMat</a:t>
                      </a:r>
                      <a:r>
                        <a:rPr lang="en-US" sz="1400" dirty="0" smtClean="0">
                          <a:effectLst/>
                        </a:rPr>
                        <a:t> = it-&gt;second;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// Get current region name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::string </a:t>
                      </a:r>
                      <a:r>
                        <a:rPr lang="en-US" sz="1400" dirty="0" err="1" smtClean="0">
                          <a:effectLst/>
                        </a:rPr>
                        <a:t>regionName</a:t>
                      </a:r>
                      <a:r>
                        <a:rPr lang="en-US" sz="1400" dirty="0" smtClean="0">
                          <a:effectLst/>
                        </a:rPr>
                        <a:t> = </a:t>
                      </a:r>
                      <a:r>
                        <a:rPr lang="en-US" sz="1400" dirty="0" err="1" smtClean="0">
                          <a:effectLst/>
                        </a:rPr>
                        <a:t>ptGrid</a:t>
                      </a:r>
                      <a:r>
                        <a:rPr lang="en-US" sz="1400" dirty="0" smtClean="0">
                          <a:effectLst/>
                        </a:rPr>
                        <a:t>_-&gt;</a:t>
                      </a:r>
                      <a:r>
                        <a:rPr lang="en-US" sz="1400" dirty="0" err="1" smtClean="0">
                          <a:effectLst/>
                        </a:rPr>
                        <a:t>GetRegion</a:t>
                      </a:r>
                      <a:r>
                        <a:rPr lang="en-US" sz="1400" dirty="0" smtClean="0">
                          <a:effectLst/>
                        </a:rPr>
                        <a:t>().</a:t>
                      </a:r>
                      <a:r>
                        <a:rPr lang="en-US" sz="1400" dirty="0" err="1" smtClean="0">
                          <a:effectLst/>
                        </a:rPr>
                        <a:t>ToString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actRegion</a:t>
                      </a:r>
                      <a:r>
                        <a:rPr lang="en-US" sz="1400" dirty="0" smtClean="0">
                          <a:effectLst/>
                        </a:rPr>
                        <a:t>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// create new entity list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shared_ptr</a:t>
                      </a:r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ElemList</a:t>
                      </a:r>
                      <a:r>
                        <a:rPr lang="en-US" sz="1400" dirty="0" smtClean="0">
                          <a:effectLst/>
                        </a:rPr>
                        <a:t>&gt; </a:t>
                      </a:r>
                      <a:r>
                        <a:rPr lang="en-US" sz="1400" dirty="0" err="1" smtClean="0">
                          <a:effectLst/>
                        </a:rPr>
                        <a:t>actSDList</a:t>
                      </a:r>
                      <a:r>
                        <a:rPr lang="en-US" sz="1400" dirty="0" smtClean="0">
                          <a:effectLst/>
                        </a:rPr>
                        <a:t>( new </a:t>
                      </a:r>
                      <a:r>
                        <a:rPr lang="en-US" sz="1400" dirty="0" err="1" smtClean="0">
                          <a:effectLst/>
                        </a:rPr>
                        <a:t>ElemList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ptGrid</a:t>
                      </a:r>
                      <a:r>
                        <a:rPr lang="en-US" sz="1400" dirty="0" smtClean="0">
                          <a:effectLst/>
                        </a:rPr>
                        <a:t>_ )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actSDList</a:t>
                      </a:r>
                      <a:r>
                        <a:rPr lang="en-US" sz="1400" dirty="0" smtClean="0">
                          <a:effectLst/>
                        </a:rPr>
                        <a:t>-&gt;</a:t>
                      </a:r>
                      <a:r>
                        <a:rPr lang="en-US" sz="1400" dirty="0" err="1" smtClean="0">
                          <a:effectLst/>
                        </a:rPr>
                        <a:t>SetRegion</a:t>
                      </a:r>
                      <a:r>
                        <a:rPr lang="en-US" sz="1400" dirty="0" smtClean="0">
                          <a:effectLst/>
                        </a:rPr>
                        <a:t>( </a:t>
                      </a:r>
                      <a:r>
                        <a:rPr lang="en-US" sz="1400" dirty="0" err="1" smtClean="0">
                          <a:effectLst/>
                        </a:rPr>
                        <a:t>actRegion</a:t>
                      </a:r>
                      <a:r>
                        <a:rPr lang="en-US" sz="1400" dirty="0" smtClean="0">
                          <a:effectLst/>
                        </a:rPr>
                        <a:t> );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94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/>
          </a:bodyPr>
          <a:lstStyle/>
          <a:p>
            <a:r>
              <a:rPr lang="en-US" dirty="0" smtClean="0"/>
              <a:t>Define the bilinear forms: </a:t>
            </a:r>
            <a:r>
              <a:rPr lang="de-AT" dirty="0" err="1" smtClean="0"/>
              <a:t>Method</a:t>
            </a:r>
            <a:r>
              <a:rPr lang="de-AT" dirty="0" smtClean="0"/>
              <a:t> </a:t>
            </a:r>
            <a:r>
              <a:rPr lang="de-AT" dirty="0" err="1"/>
              <a:t>DefineIntegrators</a:t>
            </a:r>
            <a:r>
              <a:rPr lang="de-AT" dirty="0"/>
              <a:t>() </a:t>
            </a:r>
            <a:r>
              <a:rPr lang="de-AT" dirty="0" smtClean="0"/>
              <a:t> (</a:t>
            </a:r>
            <a:r>
              <a:rPr lang="de-AT" dirty="0" err="1" smtClean="0"/>
              <a:t>cont</a:t>
            </a:r>
            <a:r>
              <a:rPr lang="de-AT" dirty="0" smtClean="0"/>
              <a:t>.)</a:t>
            </a:r>
          </a:p>
          <a:p>
            <a:pPr lvl="1"/>
            <a:r>
              <a:rPr lang="de-AT" dirty="0" smtClean="0"/>
              <a:t>Set </a:t>
            </a:r>
            <a:r>
              <a:rPr lang="de-AT" dirty="0" err="1" smtClean="0"/>
              <a:t>the</a:t>
            </a:r>
            <a:r>
              <a:rPr lang="de-AT" dirty="0" smtClean="0"/>
              <a:t> FE </a:t>
            </a:r>
            <a:r>
              <a:rPr lang="de-AT" dirty="0" err="1" smtClean="0"/>
              <a:t>ansatz</a:t>
            </a:r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sz="1400" dirty="0"/>
          </a:p>
          <a:p>
            <a:pPr lvl="1"/>
            <a:r>
              <a:rPr lang="de-AT" dirty="0" err="1" smtClean="0"/>
              <a:t>Define</a:t>
            </a:r>
            <a:r>
              <a:rPr lang="de-AT" dirty="0" smtClean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set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bilinear form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stiffness</a:t>
            </a:r>
            <a:r>
              <a:rPr lang="de-AT" dirty="0" smtClean="0"/>
              <a:t> </a:t>
            </a:r>
            <a:r>
              <a:rPr lang="de-AT" dirty="0" err="1" smtClean="0"/>
              <a:t>matrix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226083"/>
              </p:ext>
            </p:extLst>
          </p:nvPr>
        </p:nvGraphicFramePr>
        <p:xfrm>
          <a:off x="1140026" y="1460660"/>
          <a:ext cx="783771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7719"/>
              </a:tblGrid>
              <a:tr h="2137566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// --- Set the FE </a:t>
                      </a:r>
                      <a:r>
                        <a:rPr lang="en-US" sz="1400" dirty="0" err="1" smtClean="0">
                          <a:effectLst/>
                        </a:rPr>
                        <a:t>ansatz</a:t>
                      </a:r>
                      <a:r>
                        <a:rPr lang="en-US" sz="1400" dirty="0" smtClean="0">
                          <a:effectLst/>
                        </a:rPr>
                        <a:t> for the current region ---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PtrParamNode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curRegNode</a:t>
                      </a:r>
                      <a:r>
                        <a:rPr lang="en-US" sz="1400" dirty="0" smtClean="0">
                          <a:effectLst/>
                        </a:rPr>
                        <a:t> = </a:t>
                      </a:r>
                      <a:r>
                        <a:rPr lang="en-US" sz="1400" dirty="0" err="1" smtClean="0">
                          <a:effectLst/>
                        </a:rPr>
                        <a:t>myParam</a:t>
                      </a:r>
                      <a:r>
                        <a:rPr lang="en-US" sz="1400" dirty="0" smtClean="0">
                          <a:effectLst/>
                        </a:rPr>
                        <a:t>_-&gt;Get("</a:t>
                      </a:r>
                      <a:r>
                        <a:rPr lang="en-US" sz="1400" dirty="0" err="1" smtClean="0">
                          <a:effectLst/>
                        </a:rPr>
                        <a:t>regionList</a:t>
                      </a:r>
                      <a:r>
                        <a:rPr lang="en-US" sz="1400" dirty="0" smtClean="0">
                          <a:effectLst/>
                        </a:rPr>
                        <a:t>")-&gt;                   </a:t>
                      </a:r>
                      <a:br>
                        <a:rPr lang="en-US" sz="1400" dirty="0" smtClean="0">
                          <a:effectLst/>
                        </a:rPr>
                      </a:br>
                      <a:r>
                        <a:rPr lang="en-US" sz="1400" dirty="0" smtClean="0">
                          <a:effectLst/>
                        </a:rPr>
                        <a:t>                                                                                   </a:t>
                      </a:r>
                      <a:r>
                        <a:rPr lang="en-US" sz="1400" dirty="0" err="1" smtClean="0">
                          <a:effectLst/>
                        </a:rPr>
                        <a:t>GetByVal</a:t>
                      </a:r>
                      <a:r>
                        <a:rPr lang="en-US" sz="1400" dirty="0" smtClean="0">
                          <a:effectLst/>
                        </a:rPr>
                        <a:t>("region","name",</a:t>
                      </a:r>
                      <a:r>
                        <a:rPr lang="en-US" sz="1400" dirty="0" err="1" smtClean="0">
                          <a:effectLst/>
                        </a:rPr>
                        <a:t>regionName.c_str</a:t>
                      </a:r>
                      <a:r>
                        <a:rPr lang="en-US" sz="1400" dirty="0" smtClean="0">
                          <a:effectLst/>
                        </a:rPr>
                        <a:t>());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::string </a:t>
                      </a:r>
                      <a:r>
                        <a:rPr lang="en-US" sz="1400" dirty="0" err="1" smtClean="0">
                          <a:effectLst/>
                        </a:rPr>
                        <a:t>polyId</a:t>
                      </a:r>
                      <a:r>
                        <a:rPr lang="en-US" sz="1400" dirty="0" smtClean="0">
                          <a:effectLst/>
                        </a:rPr>
                        <a:t> = </a:t>
                      </a:r>
                      <a:r>
                        <a:rPr lang="en-US" sz="1400" dirty="0" err="1" smtClean="0">
                          <a:effectLst/>
                        </a:rPr>
                        <a:t>curRegNode</a:t>
                      </a:r>
                      <a:r>
                        <a:rPr lang="en-US" sz="1400" dirty="0" smtClean="0">
                          <a:effectLst/>
                        </a:rPr>
                        <a:t>-&gt;Get("</a:t>
                      </a:r>
                      <a:r>
                        <a:rPr lang="en-US" sz="1400" dirty="0" err="1" smtClean="0">
                          <a:effectLst/>
                        </a:rPr>
                        <a:t>polyId</a:t>
                      </a:r>
                      <a:r>
                        <a:rPr lang="en-US" sz="1400" dirty="0" smtClean="0">
                          <a:effectLst/>
                        </a:rPr>
                        <a:t>")-&gt;As&lt;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::string&gt;();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::string </a:t>
                      </a:r>
                      <a:r>
                        <a:rPr lang="en-US" sz="1400" dirty="0" err="1" smtClean="0">
                          <a:effectLst/>
                        </a:rPr>
                        <a:t>integId</a:t>
                      </a:r>
                      <a:r>
                        <a:rPr lang="en-US" sz="1400" dirty="0" smtClean="0">
                          <a:effectLst/>
                        </a:rPr>
                        <a:t> = </a:t>
                      </a:r>
                      <a:r>
                        <a:rPr lang="en-US" sz="1400" dirty="0" err="1" smtClean="0">
                          <a:effectLst/>
                        </a:rPr>
                        <a:t>curRegNode</a:t>
                      </a:r>
                      <a:r>
                        <a:rPr lang="en-US" sz="1400" dirty="0" smtClean="0">
                          <a:effectLst/>
                        </a:rPr>
                        <a:t>-&gt;Get("</a:t>
                      </a:r>
                      <a:r>
                        <a:rPr lang="en-US" sz="1400" dirty="0" err="1" smtClean="0">
                          <a:effectLst/>
                        </a:rPr>
                        <a:t>integId</a:t>
                      </a:r>
                      <a:r>
                        <a:rPr lang="en-US" sz="1400" dirty="0" smtClean="0">
                          <a:effectLst/>
                        </a:rPr>
                        <a:t>")-&gt;As&lt;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::string&gt;();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mySpace</a:t>
                      </a:r>
                      <a:r>
                        <a:rPr lang="en-US" sz="1400" dirty="0" smtClean="0">
                          <a:effectLst/>
                        </a:rPr>
                        <a:t>-&gt;</a:t>
                      </a:r>
                      <a:r>
                        <a:rPr lang="en-US" sz="1400" dirty="0" err="1" smtClean="0">
                          <a:effectLst/>
                        </a:rPr>
                        <a:t>SetRegionApproximation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actRegion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polyId,integId</a:t>
                      </a:r>
                      <a:r>
                        <a:rPr lang="en-US" sz="1400" dirty="0" smtClean="0">
                          <a:effectLst/>
                        </a:rPr>
                        <a:t>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// pass </a:t>
                      </a:r>
                      <a:r>
                        <a:rPr lang="en-US" sz="1400" dirty="0" err="1" smtClean="0">
                          <a:effectLst/>
                        </a:rPr>
                        <a:t>entitylist</a:t>
                      </a:r>
                      <a:r>
                        <a:rPr lang="en-US" sz="1400" dirty="0" smtClean="0">
                          <a:effectLst/>
                        </a:rPr>
                        <a:t> of </a:t>
                      </a:r>
                      <a:r>
                        <a:rPr lang="en-US" sz="1400" dirty="0" err="1" smtClean="0">
                          <a:effectLst/>
                        </a:rPr>
                        <a:t>fespace</a:t>
                      </a:r>
                      <a:r>
                        <a:rPr lang="en-US" sz="1400" dirty="0" smtClean="0">
                          <a:effectLst/>
                        </a:rPr>
                        <a:t> / </a:t>
                      </a:r>
                      <a:r>
                        <a:rPr lang="en-US" sz="1400" dirty="0" err="1" smtClean="0">
                          <a:effectLst/>
                        </a:rPr>
                        <a:t>fefunction</a:t>
                      </a:r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feFunc</a:t>
                      </a:r>
                      <a:r>
                        <a:rPr lang="en-US" sz="1400" dirty="0" smtClean="0">
                          <a:effectLst/>
                        </a:rPr>
                        <a:t>-&gt;</a:t>
                      </a:r>
                      <a:r>
                        <a:rPr lang="en-US" sz="1400" dirty="0" err="1" smtClean="0">
                          <a:effectLst/>
                        </a:rPr>
                        <a:t>AddEntityList</a:t>
                      </a:r>
                      <a:r>
                        <a:rPr lang="en-US" sz="1400" dirty="0" smtClean="0">
                          <a:effectLst/>
                        </a:rPr>
                        <a:t>( </a:t>
                      </a:r>
                      <a:r>
                        <a:rPr lang="en-US" sz="1400" dirty="0" err="1" smtClean="0">
                          <a:effectLst/>
                        </a:rPr>
                        <a:t>actSDList</a:t>
                      </a:r>
                      <a:r>
                        <a:rPr lang="en-US" sz="1400" dirty="0" smtClean="0">
                          <a:effectLst/>
                        </a:rPr>
                        <a:t> 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292310"/>
              </p:ext>
            </p:extLst>
          </p:nvPr>
        </p:nvGraphicFramePr>
        <p:xfrm>
          <a:off x="1138047" y="4096990"/>
          <a:ext cx="692331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200693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  </a:t>
                      </a:r>
                      <a:r>
                        <a:rPr lang="en-US" sz="1400" dirty="0" err="1" smtClean="0">
                          <a:effectLst/>
                        </a:rPr>
                        <a:t>PtrCoefFct</a:t>
                      </a:r>
                      <a:r>
                        <a:rPr lang="en-US" sz="1400" dirty="0" smtClean="0">
                          <a:effectLst/>
                        </a:rPr>
                        <a:t> beta = </a:t>
                      </a:r>
                      <a:r>
                        <a:rPr lang="en-US" sz="1400" dirty="0" err="1" smtClean="0">
                          <a:effectLst/>
                        </a:rPr>
                        <a:t>actSDMat</a:t>
                      </a:r>
                      <a:r>
                        <a:rPr lang="en-US" sz="1400" dirty="0" smtClean="0">
                          <a:effectLst/>
                        </a:rPr>
                        <a:t>-&gt;</a:t>
                      </a:r>
                      <a:r>
                        <a:rPr lang="en-US" sz="1400" dirty="0" err="1" smtClean="0">
                          <a:effectLst/>
                        </a:rPr>
                        <a:t>GetScalCoefFnc</a:t>
                      </a:r>
                      <a:r>
                        <a:rPr lang="en-US" sz="1400" dirty="0" smtClean="0">
                          <a:effectLst/>
                        </a:rPr>
                        <a:t>( TEST_BETA, Global::REAL 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BaseBDBInt</a:t>
                      </a:r>
                      <a:r>
                        <a:rPr lang="en-US" sz="1400" dirty="0" smtClean="0">
                          <a:effectLst/>
                        </a:rPr>
                        <a:t>* </a:t>
                      </a:r>
                      <a:r>
                        <a:rPr lang="en-US" sz="1400" dirty="0" err="1" smtClean="0">
                          <a:effectLst/>
                        </a:rPr>
                        <a:t>stiffInt</a:t>
                      </a:r>
                      <a:r>
                        <a:rPr lang="en-US" sz="1400" dirty="0" smtClean="0">
                          <a:effectLst/>
                        </a:rPr>
                        <a:t> = NULL;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if( dim_ == 2 ) {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</a:t>
                      </a:r>
                      <a:r>
                        <a:rPr lang="en-US" sz="1400" dirty="0" err="1" smtClean="0">
                          <a:effectLst/>
                        </a:rPr>
                        <a:t>stiffInt</a:t>
                      </a:r>
                      <a:r>
                        <a:rPr lang="en-US" sz="1400" dirty="0" smtClean="0">
                          <a:effectLst/>
                        </a:rPr>
                        <a:t> = new </a:t>
                      </a:r>
                      <a:r>
                        <a:rPr lang="en-US" sz="1400" dirty="0" err="1" smtClean="0">
                          <a:effectLst/>
                        </a:rPr>
                        <a:t>BBInt</a:t>
                      </a:r>
                      <a:r>
                        <a:rPr lang="en-US" sz="1400" dirty="0" smtClean="0">
                          <a:effectLst/>
                        </a:rPr>
                        <a:t>&lt;&gt;(new </a:t>
                      </a:r>
                      <a:r>
                        <a:rPr lang="en-US" sz="1400" dirty="0" err="1" smtClean="0">
                          <a:effectLst/>
                        </a:rPr>
                        <a:t>GradientOperator</a:t>
                      </a:r>
                      <a:r>
                        <a:rPr lang="en-US" sz="1400" dirty="0" smtClean="0">
                          <a:effectLst/>
                        </a:rPr>
                        <a:t>&lt;FeH1,2&gt;(), beta,1.0, </a:t>
                      </a:r>
                      <a:r>
                        <a:rPr lang="en-US" sz="1400" dirty="0" err="1" smtClean="0">
                          <a:effectLst/>
                        </a:rPr>
                        <a:t>updatedGeo</a:t>
                      </a:r>
                      <a:r>
                        <a:rPr lang="en-US" sz="1400" dirty="0" smtClean="0">
                          <a:effectLst/>
                        </a:rPr>
                        <a:t>_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} else {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</a:t>
                      </a:r>
                      <a:r>
                        <a:rPr lang="en-US" sz="1400" dirty="0" err="1" smtClean="0">
                          <a:effectLst/>
                        </a:rPr>
                        <a:t>stiffInt</a:t>
                      </a:r>
                      <a:r>
                        <a:rPr lang="en-US" sz="1400" dirty="0" smtClean="0">
                          <a:effectLst/>
                        </a:rPr>
                        <a:t> = new </a:t>
                      </a:r>
                      <a:r>
                        <a:rPr lang="en-US" sz="1400" dirty="0" err="1" smtClean="0">
                          <a:effectLst/>
                        </a:rPr>
                        <a:t>BBInt</a:t>
                      </a:r>
                      <a:r>
                        <a:rPr lang="en-US" sz="1400" dirty="0" smtClean="0">
                          <a:effectLst/>
                        </a:rPr>
                        <a:t>&lt;&gt;(new </a:t>
                      </a:r>
                      <a:r>
                        <a:rPr lang="en-US" sz="1400" dirty="0" err="1" smtClean="0">
                          <a:effectLst/>
                        </a:rPr>
                        <a:t>GradientOperator</a:t>
                      </a:r>
                      <a:r>
                        <a:rPr lang="en-US" sz="1400" dirty="0" smtClean="0">
                          <a:effectLst/>
                        </a:rPr>
                        <a:t>&lt;FeH1,3&gt;(), beta,1.0, </a:t>
                      </a:r>
                      <a:r>
                        <a:rPr lang="en-US" sz="1400" dirty="0" err="1" smtClean="0">
                          <a:effectLst/>
                        </a:rPr>
                        <a:t>updatedGeo</a:t>
                      </a:r>
                      <a:r>
                        <a:rPr lang="en-US" sz="1400" dirty="0" smtClean="0">
                          <a:effectLst/>
                        </a:rPr>
                        <a:t>_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}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stiffInt</a:t>
                      </a:r>
                      <a:r>
                        <a:rPr lang="en-US" sz="1400" dirty="0" smtClean="0">
                          <a:effectLst/>
                        </a:rPr>
                        <a:t>-&gt;</a:t>
                      </a:r>
                      <a:r>
                        <a:rPr lang="en-US" sz="1400" dirty="0" err="1" smtClean="0">
                          <a:effectLst/>
                        </a:rPr>
                        <a:t>SetName</a:t>
                      </a:r>
                      <a:r>
                        <a:rPr lang="en-US" sz="1400" dirty="0" smtClean="0">
                          <a:effectLst/>
                        </a:rPr>
                        <a:t>("</a:t>
                      </a:r>
                      <a:r>
                        <a:rPr lang="en-US" sz="1400" dirty="0" err="1" smtClean="0">
                          <a:effectLst/>
                        </a:rPr>
                        <a:t>StiffnessIntegrator</a:t>
                      </a:r>
                      <a:r>
                        <a:rPr lang="en-US" sz="1400" dirty="0" smtClean="0">
                          <a:effectLst/>
                        </a:rPr>
                        <a:t>");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57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 Steps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/>
          </a:bodyPr>
          <a:lstStyle/>
          <a:p>
            <a:r>
              <a:rPr lang="en-US" dirty="0" smtClean="0"/>
              <a:t>Define the bilinear forms: </a:t>
            </a:r>
            <a:r>
              <a:rPr lang="de-AT" dirty="0" err="1" smtClean="0"/>
              <a:t>Method</a:t>
            </a:r>
            <a:r>
              <a:rPr lang="de-AT" dirty="0" smtClean="0"/>
              <a:t> </a:t>
            </a:r>
            <a:r>
              <a:rPr lang="de-AT" dirty="0" err="1"/>
              <a:t>DefineIntegrators</a:t>
            </a:r>
            <a:r>
              <a:rPr lang="de-AT" dirty="0"/>
              <a:t>() </a:t>
            </a:r>
            <a:r>
              <a:rPr lang="de-AT" dirty="0" smtClean="0"/>
              <a:t> (</a:t>
            </a:r>
            <a:r>
              <a:rPr lang="de-AT" dirty="0" err="1" smtClean="0"/>
              <a:t>cont</a:t>
            </a:r>
            <a:r>
              <a:rPr lang="de-AT" dirty="0" smtClean="0"/>
              <a:t>.)</a:t>
            </a:r>
          </a:p>
          <a:p>
            <a:pPr lvl="1"/>
            <a:r>
              <a:rPr lang="de-AT" dirty="0" err="1" smtClean="0"/>
              <a:t>Define</a:t>
            </a:r>
            <a:r>
              <a:rPr lang="de-AT" dirty="0" smtClean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set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bilinear form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stiffness</a:t>
            </a:r>
            <a:r>
              <a:rPr lang="de-AT" dirty="0" smtClean="0"/>
              <a:t> </a:t>
            </a:r>
            <a:r>
              <a:rPr lang="de-AT" dirty="0" err="1" smtClean="0"/>
              <a:t>matrix</a:t>
            </a:r>
            <a:r>
              <a:rPr lang="de-AT" dirty="0" smtClean="0"/>
              <a:t> (</a:t>
            </a:r>
            <a:r>
              <a:rPr lang="de-AT" dirty="0" err="1" smtClean="0"/>
              <a:t>cont</a:t>
            </a:r>
            <a:r>
              <a:rPr lang="de-AT" dirty="0" smtClean="0"/>
              <a:t>.)</a:t>
            </a:r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 smtClean="0"/>
          </a:p>
          <a:p>
            <a:pPr lvl="1"/>
            <a:r>
              <a:rPr lang="de-AT" dirty="0" smtClean="0"/>
              <a:t>Just </a:t>
            </a:r>
            <a:r>
              <a:rPr lang="de-AT" dirty="0" err="1" smtClean="0"/>
              <a:t>the</a:t>
            </a:r>
            <a:r>
              <a:rPr lang="de-AT" dirty="0" smtClean="0"/>
              <a:t> same do </a:t>
            </a:r>
            <a:r>
              <a:rPr lang="de-AT" dirty="0" err="1" smtClean="0"/>
              <a:t>for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bilinear form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mass</a:t>
            </a:r>
            <a:r>
              <a:rPr lang="de-AT" dirty="0" smtClean="0"/>
              <a:t> </a:t>
            </a:r>
            <a:r>
              <a:rPr lang="de-AT" dirty="0" err="1" smtClean="0"/>
              <a:t>matrix</a:t>
            </a:r>
            <a:r>
              <a:rPr lang="de-AT" dirty="0" smtClean="0"/>
              <a:t> (material </a:t>
            </a:r>
            <a:r>
              <a:rPr lang="de-AT" dirty="0" err="1" smtClean="0"/>
              <a:t>parameter</a:t>
            </a:r>
            <a:r>
              <a:rPr lang="de-AT" dirty="0" smtClean="0"/>
              <a:t> </a:t>
            </a:r>
            <a:r>
              <a:rPr lang="de-AT" dirty="0" err="1" smtClean="0"/>
              <a:t>alpha</a:t>
            </a:r>
            <a:r>
              <a:rPr lang="de-AT" dirty="0" smtClean="0"/>
              <a:t>)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627986"/>
              </p:ext>
            </p:extLst>
          </p:nvPr>
        </p:nvGraphicFramePr>
        <p:xfrm>
          <a:off x="1090546" y="1555667"/>
          <a:ext cx="692331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179120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  </a:t>
                      </a:r>
                      <a:r>
                        <a:rPr lang="en-US" sz="1400" dirty="0" err="1" smtClean="0">
                          <a:effectLst/>
                        </a:rPr>
                        <a:t>BiLinFormContext</a:t>
                      </a:r>
                      <a:r>
                        <a:rPr lang="en-US" sz="1400" dirty="0" smtClean="0">
                          <a:effectLst/>
                        </a:rPr>
                        <a:t> * </a:t>
                      </a:r>
                      <a:r>
                        <a:rPr lang="en-US" sz="1400" dirty="0" err="1" smtClean="0">
                          <a:effectLst/>
                        </a:rPr>
                        <a:t>stiffIntDescr</a:t>
                      </a:r>
                      <a:r>
                        <a:rPr lang="en-US" sz="1400" dirty="0" smtClean="0">
                          <a:effectLst/>
                        </a:rPr>
                        <a:t> =  new </a:t>
                      </a:r>
                      <a:r>
                        <a:rPr lang="en-US" sz="1400" dirty="0" err="1" smtClean="0">
                          <a:effectLst/>
                        </a:rPr>
                        <a:t>BiLinFormContext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stiffInt</a:t>
                      </a:r>
                      <a:r>
                        <a:rPr lang="en-US" sz="1400" dirty="0" smtClean="0">
                          <a:effectLst/>
                        </a:rPr>
                        <a:t>, STIFFNESS 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</a:t>
                      </a:r>
                      <a:r>
                        <a:rPr lang="en-US" sz="1400" dirty="0" err="1" smtClean="0">
                          <a:effectLst/>
                        </a:rPr>
                        <a:t>stiffIntDescr</a:t>
                      </a:r>
                      <a:r>
                        <a:rPr lang="en-US" sz="1400" dirty="0" smtClean="0">
                          <a:effectLst/>
                        </a:rPr>
                        <a:t>-&gt;</a:t>
                      </a:r>
                      <a:r>
                        <a:rPr lang="en-US" sz="1400" dirty="0" err="1" smtClean="0">
                          <a:effectLst/>
                        </a:rPr>
                        <a:t>SetPtPdes</a:t>
                      </a:r>
                      <a:r>
                        <a:rPr lang="en-US" sz="1400" dirty="0" smtClean="0">
                          <a:effectLst/>
                        </a:rPr>
                        <a:t>(this, this);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stiffIntDescr</a:t>
                      </a:r>
                      <a:r>
                        <a:rPr lang="en-US" sz="1400" dirty="0" smtClean="0">
                          <a:effectLst/>
                        </a:rPr>
                        <a:t>-&gt;</a:t>
                      </a:r>
                      <a:r>
                        <a:rPr lang="en-US" sz="1400" dirty="0" err="1" smtClean="0">
                          <a:effectLst/>
                        </a:rPr>
                        <a:t>SetEntities</a:t>
                      </a:r>
                      <a:r>
                        <a:rPr lang="en-US" sz="1400" dirty="0" smtClean="0">
                          <a:effectLst/>
                        </a:rPr>
                        <a:t>( </a:t>
                      </a:r>
                      <a:r>
                        <a:rPr lang="en-US" sz="1400" dirty="0" err="1" smtClean="0">
                          <a:effectLst/>
                        </a:rPr>
                        <a:t>actSDList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actSDList</a:t>
                      </a:r>
                      <a:r>
                        <a:rPr lang="en-US" sz="1400" dirty="0" smtClean="0">
                          <a:effectLst/>
                        </a:rPr>
                        <a:t>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stiffIntDescr</a:t>
                      </a:r>
                      <a:r>
                        <a:rPr lang="en-US" sz="1400" dirty="0" smtClean="0">
                          <a:effectLst/>
                        </a:rPr>
                        <a:t>-&gt;</a:t>
                      </a:r>
                      <a:r>
                        <a:rPr lang="en-US" sz="1400" dirty="0" err="1" smtClean="0">
                          <a:effectLst/>
                        </a:rPr>
                        <a:t>SetFeFunctions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feFunc,feFunc</a:t>
                      </a:r>
                      <a:r>
                        <a:rPr lang="en-US" sz="1400" dirty="0" smtClean="0">
                          <a:effectLst/>
                        </a:rPr>
                        <a:t>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stiffInt</a:t>
                      </a:r>
                      <a:r>
                        <a:rPr lang="en-US" sz="1400" dirty="0" smtClean="0">
                          <a:effectLst/>
                        </a:rPr>
                        <a:t>-&gt;</a:t>
                      </a:r>
                      <a:r>
                        <a:rPr lang="en-US" sz="1400" dirty="0" err="1" smtClean="0">
                          <a:effectLst/>
                        </a:rPr>
                        <a:t>SetFeSpace</a:t>
                      </a:r>
                      <a:r>
                        <a:rPr lang="en-US" sz="1400" dirty="0" smtClean="0">
                          <a:effectLst/>
                        </a:rPr>
                        <a:t>( </a:t>
                      </a:r>
                      <a:r>
                        <a:rPr lang="en-US" sz="1400" dirty="0" err="1" smtClean="0">
                          <a:effectLst/>
                        </a:rPr>
                        <a:t>mySpace</a:t>
                      </a:r>
                      <a:r>
                        <a:rPr lang="en-US" sz="1400" dirty="0" smtClean="0">
                          <a:effectLst/>
                        </a:rPr>
                        <a:t> 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assemble_-&gt;</a:t>
                      </a:r>
                      <a:r>
                        <a:rPr lang="en-US" sz="1400" dirty="0" err="1" smtClean="0">
                          <a:effectLst/>
                        </a:rPr>
                        <a:t>AddBiLinearForm</a:t>
                      </a:r>
                      <a:r>
                        <a:rPr lang="en-US" sz="1400" dirty="0" smtClean="0">
                          <a:effectLst/>
                        </a:rPr>
                        <a:t>( </a:t>
                      </a:r>
                      <a:r>
                        <a:rPr lang="en-US" sz="1400" dirty="0" err="1" smtClean="0">
                          <a:effectLst/>
                        </a:rPr>
                        <a:t>stiffIntDescr</a:t>
                      </a:r>
                      <a:r>
                        <a:rPr lang="en-US" sz="1400" dirty="0" smtClean="0">
                          <a:effectLst/>
                        </a:rPr>
                        <a:t>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bdbInts</a:t>
                      </a:r>
                      <a:r>
                        <a:rPr lang="en-US" sz="1400" dirty="0" smtClean="0">
                          <a:effectLst/>
                        </a:rPr>
                        <a:t>_[</a:t>
                      </a:r>
                      <a:r>
                        <a:rPr lang="en-US" sz="1400" dirty="0" err="1" smtClean="0">
                          <a:effectLst/>
                        </a:rPr>
                        <a:t>actRegion</a:t>
                      </a:r>
                      <a:r>
                        <a:rPr lang="en-US" sz="1400" dirty="0" smtClean="0">
                          <a:effectLst/>
                        </a:rPr>
                        <a:t>] = </a:t>
                      </a:r>
                      <a:r>
                        <a:rPr lang="en-US" sz="1400" dirty="0" err="1" smtClean="0">
                          <a:effectLst/>
                        </a:rPr>
                        <a:t>stiffInt</a:t>
                      </a:r>
                      <a:r>
                        <a:rPr lang="en-US" sz="1400" dirty="0" smtClean="0">
                          <a:effectLst/>
                        </a:rPr>
                        <a:t>;   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Gerade Verbindung mit Pfeil 5"/>
          <p:cNvCxnSpPr/>
          <p:nvPr/>
        </p:nvCxnSpPr>
        <p:spPr>
          <a:xfrm flipH="1" flipV="1">
            <a:off x="3859482" y="3443843"/>
            <a:ext cx="1496290" cy="320634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5272645" y="3693219"/>
            <a:ext cx="199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For</a:t>
            </a:r>
            <a:r>
              <a:rPr lang="de-AT" dirty="0" smtClean="0"/>
              <a:t> </a:t>
            </a:r>
            <a:r>
              <a:rPr lang="de-AT" dirty="0" err="1" smtClean="0"/>
              <a:t>postprocessing</a:t>
            </a:r>
            <a:r>
              <a:rPr lang="de-AT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49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Steps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/>
          </a:bodyPr>
          <a:lstStyle/>
          <a:p>
            <a:r>
              <a:rPr lang="de-AT" dirty="0" err="1" smtClean="0"/>
              <a:t>Extend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material </a:t>
            </a:r>
            <a:r>
              <a:rPr lang="de-AT" dirty="0" err="1" smtClean="0"/>
              <a:t>class</a:t>
            </a:r>
            <a:r>
              <a:rPr lang="de-AT" dirty="0" smtClean="0"/>
              <a:t>: </a:t>
            </a:r>
            <a:r>
              <a:rPr lang="de-AT" dirty="0" err="1" smtClean="0"/>
              <a:t>directory</a:t>
            </a:r>
            <a:r>
              <a:rPr lang="de-AT" dirty="0" smtClean="0"/>
              <a:t> „</a:t>
            </a:r>
            <a:r>
              <a:rPr lang="de-AT" dirty="0" err="1" smtClean="0"/>
              <a:t>source</a:t>
            </a:r>
            <a:r>
              <a:rPr lang="de-AT" dirty="0" smtClean="0"/>
              <a:t>/Materials“</a:t>
            </a:r>
          </a:p>
          <a:p>
            <a:pPr lvl="1"/>
            <a:r>
              <a:rPr lang="de-AT" dirty="0" err="1" smtClean="0"/>
              <a:t>Generate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files</a:t>
            </a:r>
            <a:r>
              <a:rPr lang="de-AT" dirty="0" smtClean="0"/>
              <a:t> „</a:t>
            </a:r>
            <a:r>
              <a:rPr lang="de-AT" dirty="0" err="1" smtClean="0"/>
              <a:t>testMaterial.hh</a:t>
            </a:r>
            <a:r>
              <a:rPr lang="de-AT" dirty="0" smtClean="0"/>
              <a:t>“ </a:t>
            </a:r>
            <a:r>
              <a:rPr lang="de-AT" dirty="0" err="1" smtClean="0"/>
              <a:t>and</a:t>
            </a:r>
            <a:r>
              <a:rPr lang="de-AT" dirty="0" smtClean="0"/>
              <a:t> „TestMaterial.cc“</a:t>
            </a:r>
          </a:p>
          <a:p>
            <a:pPr lvl="1"/>
            <a:r>
              <a:rPr lang="de-AT" dirty="0" smtClean="0"/>
              <a:t>Add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file</a:t>
            </a:r>
            <a:r>
              <a:rPr lang="de-AT" dirty="0" smtClean="0"/>
              <a:t> „Testmaterial.cc“ </a:t>
            </a:r>
            <a:r>
              <a:rPr lang="de-AT" dirty="0" err="1" smtClean="0"/>
              <a:t>to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/>
              <a:t> </a:t>
            </a:r>
            <a:r>
              <a:rPr lang="de-AT" dirty="0" smtClean="0"/>
              <a:t>CMakeLists.txt</a:t>
            </a:r>
          </a:p>
          <a:p>
            <a:pPr lvl="1"/>
            <a:r>
              <a:rPr lang="de-AT" dirty="0" smtClean="0"/>
              <a:t>Class </a:t>
            </a:r>
            <a:r>
              <a:rPr lang="de-AT" dirty="0" err="1" smtClean="0"/>
              <a:t>TestMaterial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113598"/>
              </p:ext>
            </p:extLst>
          </p:nvPr>
        </p:nvGraphicFramePr>
        <p:xfrm>
          <a:off x="1090545" y="2161308"/>
          <a:ext cx="73290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9060"/>
              </a:tblGrid>
              <a:tr h="179120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class </a:t>
                      </a:r>
                      <a:r>
                        <a:rPr lang="en-US" sz="1400" dirty="0" err="1" smtClean="0">
                          <a:effectLst/>
                        </a:rPr>
                        <a:t>TestMaterial</a:t>
                      </a:r>
                      <a:r>
                        <a:rPr lang="en-US" sz="1400" dirty="0" smtClean="0">
                          <a:effectLst/>
                        </a:rPr>
                        <a:t> : public </a:t>
                      </a:r>
                      <a:r>
                        <a:rPr lang="en-US" sz="1400" dirty="0" err="1" smtClean="0">
                          <a:effectLst/>
                        </a:rPr>
                        <a:t>BaseMaterial</a:t>
                      </a:r>
                      <a:r>
                        <a:rPr lang="en-US" sz="1400" dirty="0" smtClean="0">
                          <a:effectLst/>
                        </a:rPr>
                        <a:t> {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public: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//! Default constructor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TestMaterial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MathParser</a:t>
                      </a:r>
                      <a:r>
                        <a:rPr lang="en-US" sz="1400" dirty="0" smtClean="0">
                          <a:effectLst/>
                        </a:rPr>
                        <a:t>* </a:t>
                      </a:r>
                      <a:r>
                        <a:rPr lang="en-US" sz="1400" dirty="0" err="1" smtClean="0">
                          <a:effectLst/>
                        </a:rPr>
                        <a:t>mp</a:t>
                      </a:r>
                      <a:r>
                        <a:rPr lang="en-US" sz="1400" dirty="0" smtClean="0">
                          <a:effectLst/>
                        </a:rPr>
                        <a:t>,  </a:t>
                      </a:r>
                      <a:r>
                        <a:rPr lang="en-US" sz="1400" dirty="0" err="1" smtClean="0">
                          <a:effectLst/>
                        </a:rPr>
                        <a:t>CoordSystem</a:t>
                      </a:r>
                      <a:r>
                        <a:rPr lang="en-US" sz="1400" dirty="0" smtClean="0">
                          <a:effectLst/>
                        </a:rPr>
                        <a:t> * </a:t>
                      </a:r>
                      <a:r>
                        <a:rPr lang="en-US" sz="1400" dirty="0" err="1" smtClean="0">
                          <a:effectLst/>
                        </a:rPr>
                        <a:t>defaultCoosy</a:t>
                      </a:r>
                      <a:r>
                        <a:rPr lang="en-US" sz="1400" dirty="0" smtClean="0">
                          <a:effectLst/>
                        </a:rPr>
                        <a:t>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//! Destructor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~</a:t>
                      </a:r>
                      <a:r>
                        <a:rPr lang="en-US" sz="1400" dirty="0" err="1" smtClean="0">
                          <a:effectLst/>
                        </a:rPr>
                        <a:t>TestMaterial</a:t>
                      </a:r>
                      <a:r>
                        <a:rPr lang="en-US" sz="1400" dirty="0" smtClean="0">
                          <a:effectLst/>
                        </a:rPr>
                        <a:t>();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//! set a scalar real material parameter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void </a:t>
                      </a:r>
                      <a:r>
                        <a:rPr lang="en-US" sz="1400" dirty="0" err="1" smtClean="0">
                          <a:effectLst/>
                        </a:rPr>
                        <a:t>SetScalar</a:t>
                      </a:r>
                      <a:r>
                        <a:rPr lang="en-US" sz="1400" dirty="0" smtClean="0">
                          <a:effectLst/>
                        </a:rPr>
                        <a:t>( Double </a:t>
                      </a:r>
                      <a:r>
                        <a:rPr lang="en-US" sz="1400" dirty="0" err="1" smtClean="0">
                          <a:effectLst/>
                        </a:rPr>
                        <a:t>param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MaterialType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matType</a:t>
                      </a:r>
                      <a:r>
                        <a:rPr lang="en-US" sz="1400" dirty="0" smtClean="0">
                          <a:effectLst/>
                        </a:rPr>
                        <a:t>,  Global::</a:t>
                      </a:r>
                      <a:r>
                        <a:rPr lang="en-US" sz="1400" dirty="0" err="1" smtClean="0">
                          <a:effectLst/>
                        </a:rPr>
                        <a:t>ComplexPart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dataType</a:t>
                      </a:r>
                      <a:r>
                        <a:rPr lang="en-US" sz="1400" dirty="0" smtClean="0">
                          <a:effectLst/>
                        </a:rPr>
                        <a:t> );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//! get a scalar real material parameter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void </a:t>
                      </a:r>
                      <a:r>
                        <a:rPr lang="en-US" sz="1400" dirty="0" err="1" smtClean="0">
                          <a:effectLst/>
                        </a:rPr>
                        <a:t>GetScalar</a:t>
                      </a:r>
                      <a:r>
                        <a:rPr lang="en-US" sz="1400" dirty="0" smtClean="0">
                          <a:effectLst/>
                        </a:rPr>
                        <a:t>( Double&amp; </a:t>
                      </a:r>
                      <a:r>
                        <a:rPr lang="en-US" sz="1400" dirty="0" err="1" smtClean="0">
                          <a:effectLst/>
                        </a:rPr>
                        <a:t>param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MaterialType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matType</a:t>
                      </a:r>
                      <a:r>
                        <a:rPr lang="en-US" sz="1400" dirty="0" smtClean="0">
                          <a:effectLst/>
                        </a:rPr>
                        <a:t>,  Global::</a:t>
                      </a:r>
                      <a:r>
                        <a:rPr lang="en-US" sz="1400" dirty="0" err="1" smtClean="0">
                          <a:effectLst/>
                        </a:rPr>
                        <a:t>ComplexPart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dataType</a:t>
                      </a:r>
                      <a:r>
                        <a:rPr lang="en-US" sz="1400" dirty="0" smtClean="0">
                          <a:effectLst/>
                        </a:rPr>
                        <a:t> ) </a:t>
                      </a:r>
                      <a:r>
                        <a:rPr lang="en-US" sz="1400" dirty="0" err="1" smtClean="0">
                          <a:effectLst/>
                        </a:rPr>
                        <a:t>const</a:t>
                      </a:r>
                      <a:r>
                        <a:rPr lang="en-US" sz="1400" dirty="0" smtClean="0">
                          <a:effectLst/>
                        </a:rPr>
                        <a:t>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private: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};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607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Steps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/>
          </a:bodyPr>
          <a:lstStyle/>
          <a:p>
            <a:r>
              <a:rPr lang="de-AT" dirty="0" err="1" smtClean="0"/>
              <a:t>Extend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material </a:t>
            </a:r>
            <a:r>
              <a:rPr lang="de-AT" dirty="0" err="1" smtClean="0"/>
              <a:t>class</a:t>
            </a:r>
            <a:r>
              <a:rPr lang="de-AT" dirty="0" smtClean="0"/>
              <a:t>: </a:t>
            </a:r>
            <a:r>
              <a:rPr lang="de-AT" dirty="0" err="1" smtClean="0"/>
              <a:t>directory</a:t>
            </a:r>
            <a:r>
              <a:rPr lang="de-AT" dirty="0" smtClean="0"/>
              <a:t> „</a:t>
            </a:r>
            <a:r>
              <a:rPr lang="de-AT" dirty="0" err="1" smtClean="0"/>
              <a:t>source</a:t>
            </a:r>
            <a:r>
              <a:rPr lang="de-AT" dirty="0" smtClean="0"/>
              <a:t>/Materials“ (</a:t>
            </a:r>
            <a:r>
              <a:rPr lang="de-AT" dirty="0" err="1" smtClean="0"/>
              <a:t>cont</a:t>
            </a:r>
            <a:r>
              <a:rPr lang="de-AT" dirty="0" smtClean="0"/>
              <a:t>.)</a:t>
            </a:r>
          </a:p>
          <a:p>
            <a:pPr lvl="1"/>
            <a:r>
              <a:rPr lang="de-AT" dirty="0" err="1" smtClean="0"/>
              <a:t>Svn</a:t>
            </a:r>
            <a:r>
              <a:rPr lang="de-AT" dirty="0" smtClean="0"/>
              <a:t> </a:t>
            </a:r>
            <a:r>
              <a:rPr lang="de-AT" dirty="0" err="1" smtClean="0"/>
              <a:t>add</a:t>
            </a:r>
            <a:r>
              <a:rPr lang="de-AT" dirty="0" smtClean="0"/>
              <a:t> TestMaterial.cc </a:t>
            </a:r>
            <a:r>
              <a:rPr lang="de-AT" dirty="0" err="1" smtClean="0"/>
              <a:t>TestMaterial.hh</a:t>
            </a:r>
            <a:endParaRPr lang="de-AT" dirty="0" smtClean="0"/>
          </a:p>
          <a:p>
            <a:pPr lvl="1"/>
            <a:r>
              <a:rPr lang="de-AT" dirty="0" smtClean="0"/>
              <a:t>Class </a:t>
            </a:r>
            <a:r>
              <a:rPr lang="de-AT" dirty="0" err="1" smtClean="0"/>
              <a:t>TestMaterial</a:t>
            </a:r>
            <a:r>
              <a:rPr lang="de-AT" dirty="0" smtClean="0"/>
              <a:t>: </a:t>
            </a:r>
            <a:r>
              <a:rPr lang="de-AT" dirty="0" err="1" smtClean="0"/>
              <a:t>Construtor</a:t>
            </a:r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r>
              <a:rPr lang="de-AT" dirty="0" err="1" smtClean="0"/>
              <a:t>Extend</a:t>
            </a:r>
            <a:r>
              <a:rPr lang="de-AT" dirty="0" smtClean="0"/>
              <a:t> </a:t>
            </a:r>
            <a:r>
              <a:rPr lang="de-AT" dirty="0" err="1" smtClean="0"/>
              <a:t>class</a:t>
            </a:r>
            <a:r>
              <a:rPr lang="de-AT" dirty="0"/>
              <a:t> „</a:t>
            </a:r>
            <a:r>
              <a:rPr lang="de-AT" dirty="0" err="1" smtClean="0"/>
              <a:t>XMLMaterialHandler</a:t>
            </a:r>
            <a:r>
              <a:rPr lang="de-AT" dirty="0" smtClean="0"/>
              <a:t>“ in </a:t>
            </a:r>
            <a:r>
              <a:rPr lang="de-AT" dirty="0" err="1" smtClean="0"/>
              <a:t>source</a:t>
            </a:r>
            <a:r>
              <a:rPr lang="de-AT" dirty="0" smtClean="0"/>
              <a:t>/</a:t>
            </a:r>
            <a:r>
              <a:rPr lang="de-AT" dirty="0" err="1" smtClean="0"/>
              <a:t>DataInOut</a:t>
            </a:r>
            <a:r>
              <a:rPr lang="de-AT" dirty="0" smtClean="0"/>
              <a:t>/</a:t>
            </a:r>
            <a:r>
              <a:rPr lang="de-AT" dirty="0" err="1" smtClean="0"/>
              <a:t>ParamHandling</a:t>
            </a:r>
            <a:r>
              <a:rPr lang="de-AT" dirty="0" smtClean="0"/>
              <a:t>/</a:t>
            </a:r>
          </a:p>
          <a:p>
            <a:pPr lvl="1"/>
            <a:r>
              <a:rPr lang="de-AT" dirty="0"/>
              <a:t>Add </a:t>
            </a:r>
            <a:r>
              <a:rPr lang="de-AT" dirty="0" smtClean="0"/>
              <a:t>in „</a:t>
            </a:r>
            <a:r>
              <a:rPr lang="de-AT" dirty="0"/>
              <a:t> </a:t>
            </a:r>
            <a:r>
              <a:rPr lang="de-AT" dirty="0" smtClean="0"/>
              <a:t>XMLMaterialHandler.cc“ #</a:t>
            </a:r>
            <a:r>
              <a:rPr lang="de-AT" dirty="0" err="1" smtClean="0"/>
              <a:t>include</a:t>
            </a:r>
            <a:r>
              <a:rPr lang="de-AT" dirty="0" smtClean="0"/>
              <a:t> </a:t>
            </a:r>
            <a:r>
              <a:rPr lang="de-AT" dirty="0"/>
              <a:t>"Materials/</a:t>
            </a:r>
            <a:r>
              <a:rPr lang="de-AT" dirty="0" err="1"/>
              <a:t>TestMaterial.hh</a:t>
            </a:r>
            <a:r>
              <a:rPr lang="de-AT" dirty="0"/>
              <a:t>"</a:t>
            </a:r>
            <a:endParaRPr lang="de-AT" dirty="0" smtClean="0"/>
          </a:p>
          <a:p>
            <a:pPr lvl="1"/>
            <a:r>
              <a:rPr lang="de-AT" dirty="0" err="1" smtClean="0"/>
              <a:t>Method</a:t>
            </a:r>
            <a:r>
              <a:rPr lang="de-AT" dirty="0"/>
              <a:t> </a:t>
            </a:r>
            <a:r>
              <a:rPr lang="de-AT" dirty="0" err="1"/>
              <a:t>LoadMaterial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58504"/>
              </p:ext>
            </p:extLst>
          </p:nvPr>
        </p:nvGraphicFramePr>
        <p:xfrm>
          <a:off x="1102420" y="1866563"/>
          <a:ext cx="73290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9060"/>
              </a:tblGrid>
              <a:tr h="179120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TestMaterial</a:t>
                      </a:r>
                      <a:r>
                        <a:rPr lang="en-US" sz="1400" dirty="0" smtClean="0">
                          <a:effectLst/>
                        </a:rPr>
                        <a:t>::</a:t>
                      </a:r>
                      <a:r>
                        <a:rPr lang="en-US" sz="1400" dirty="0" err="1" smtClean="0">
                          <a:effectLst/>
                        </a:rPr>
                        <a:t>TestMaterial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MathParser</a:t>
                      </a:r>
                      <a:r>
                        <a:rPr lang="en-US" sz="1400" dirty="0" smtClean="0">
                          <a:effectLst/>
                        </a:rPr>
                        <a:t>* </a:t>
                      </a:r>
                      <a:r>
                        <a:rPr lang="en-US" sz="1400" dirty="0" err="1" smtClean="0">
                          <a:effectLst/>
                        </a:rPr>
                        <a:t>mp</a:t>
                      </a:r>
                      <a:r>
                        <a:rPr lang="en-US" sz="1400" dirty="0" smtClean="0">
                          <a:effectLst/>
                        </a:rPr>
                        <a:t>,  </a:t>
                      </a:r>
                      <a:r>
                        <a:rPr lang="en-US" sz="1400" dirty="0" err="1" smtClean="0">
                          <a:effectLst/>
                        </a:rPr>
                        <a:t>CoordSystem</a:t>
                      </a:r>
                      <a:r>
                        <a:rPr lang="en-US" sz="1400" dirty="0" smtClean="0">
                          <a:effectLst/>
                        </a:rPr>
                        <a:t> * </a:t>
                      </a:r>
                      <a:r>
                        <a:rPr lang="en-US" sz="1400" dirty="0" err="1" smtClean="0">
                          <a:effectLst/>
                        </a:rPr>
                        <a:t>defaultCoosy</a:t>
                      </a:r>
                      <a:r>
                        <a:rPr lang="en-US" sz="1400" dirty="0" smtClean="0">
                          <a:effectLst/>
                        </a:rPr>
                        <a:t>)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   : </a:t>
                      </a:r>
                      <a:r>
                        <a:rPr lang="en-US" sz="1400" dirty="0" err="1" smtClean="0">
                          <a:effectLst/>
                        </a:rPr>
                        <a:t>BaseMaterial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mp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defaultCoosy</a:t>
                      </a:r>
                      <a:r>
                        <a:rPr lang="en-US" sz="1400" dirty="0" smtClean="0">
                          <a:effectLst/>
                        </a:rPr>
                        <a:t>) {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materialDatabaseName</a:t>
                      </a:r>
                      <a:r>
                        <a:rPr lang="en-US" sz="1400" dirty="0" smtClean="0">
                          <a:effectLst/>
                        </a:rPr>
                        <a:t>_ = "Test";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//set the allowed material parameters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isAllowed</a:t>
                      </a:r>
                      <a:r>
                        <a:rPr lang="en-US" sz="1400" dirty="0" smtClean="0">
                          <a:effectLst/>
                        </a:rPr>
                        <a:t>_.insert( TEST_ALPHA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</a:t>
                      </a:r>
                      <a:r>
                        <a:rPr lang="en-US" sz="1400" dirty="0" err="1" smtClean="0">
                          <a:effectLst/>
                        </a:rPr>
                        <a:t>isAllowed</a:t>
                      </a:r>
                      <a:r>
                        <a:rPr lang="en-US" sz="1400" dirty="0" smtClean="0">
                          <a:effectLst/>
                        </a:rPr>
                        <a:t>_.insert( TEST_BETA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}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51914"/>
              </p:ext>
            </p:extLst>
          </p:nvPr>
        </p:nvGraphicFramePr>
        <p:xfrm>
          <a:off x="1076690" y="4807519"/>
          <a:ext cx="7329060" cy="1058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9060"/>
              </a:tblGrid>
              <a:tr h="105888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 else if ( </a:t>
                      </a:r>
                      <a:r>
                        <a:rPr lang="en-US" sz="1400" dirty="0" err="1" smtClean="0">
                          <a:effectLst/>
                        </a:rPr>
                        <a:t>matClass</a:t>
                      </a:r>
                      <a:r>
                        <a:rPr lang="en-US" sz="1400" dirty="0" smtClean="0">
                          <a:effectLst/>
                        </a:rPr>
                        <a:t> == TEST ) {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material = new </a:t>
                      </a:r>
                      <a:r>
                        <a:rPr lang="en-US" sz="1400" dirty="0" err="1" smtClean="0">
                          <a:effectLst/>
                        </a:rPr>
                        <a:t>TestMaterial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mp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 err="1" smtClean="0">
                          <a:effectLst/>
                        </a:rPr>
                        <a:t>cs</a:t>
                      </a:r>
                      <a:r>
                        <a:rPr lang="en-US" sz="1400" dirty="0" smtClean="0">
                          <a:effectLst/>
                        </a:rPr>
                        <a:t>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</a:t>
                      </a:r>
                      <a:r>
                        <a:rPr lang="en-US" sz="1400" dirty="0" err="1" smtClean="0">
                          <a:effectLst/>
                        </a:rPr>
                        <a:t>ReadTest</a:t>
                      </a:r>
                      <a:r>
                        <a:rPr lang="en-US" sz="1400" dirty="0" smtClean="0">
                          <a:effectLst/>
                        </a:rPr>
                        <a:t>( material, </a:t>
                      </a:r>
                      <a:r>
                        <a:rPr lang="en-US" sz="1400" dirty="0" err="1" smtClean="0">
                          <a:effectLst/>
                        </a:rPr>
                        <a:t>pn</a:t>
                      </a:r>
                      <a:r>
                        <a:rPr lang="en-US" sz="1400" dirty="0" smtClean="0">
                          <a:effectLst/>
                        </a:rPr>
                        <a:t>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}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Gerade Verbindung mit Pfeil 6"/>
          <p:cNvCxnSpPr/>
          <p:nvPr/>
        </p:nvCxnSpPr>
        <p:spPr>
          <a:xfrm flipV="1">
            <a:off x="1425039" y="5510144"/>
            <a:ext cx="403761" cy="522521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/>
          <p:cNvSpPr txBox="1"/>
          <p:nvPr/>
        </p:nvSpPr>
        <p:spPr>
          <a:xfrm>
            <a:off x="914401" y="5973283"/>
            <a:ext cx="425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Add </a:t>
            </a:r>
            <a:r>
              <a:rPr lang="de-AT" dirty="0" err="1" smtClean="0"/>
              <a:t>declaration</a:t>
            </a:r>
            <a:r>
              <a:rPr lang="de-AT" dirty="0" smtClean="0"/>
              <a:t> </a:t>
            </a:r>
            <a:r>
              <a:rPr lang="de-AT" dirty="0" err="1" smtClean="0"/>
              <a:t>to</a:t>
            </a:r>
            <a:r>
              <a:rPr lang="de-AT" dirty="0" smtClean="0"/>
              <a:t> </a:t>
            </a:r>
            <a:r>
              <a:rPr lang="de-AT" dirty="0" err="1" smtClean="0"/>
              <a:t>XMLMaterialHandler.hh</a:t>
            </a:r>
            <a:r>
              <a:rPr lang="de-AT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54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Steps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/>
          </a:bodyPr>
          <a:lstStyle/>
          <a:p>
            <a:r>
              <a:rPr lang="de-AT" dirty="0" smtClean="0"/>
              <a:t>Class </a:t>
            </a:r>
            <a:r>
              <a:rPr lang="de-AT" dirty="0"/>
              <a:t>„</a:t>
            </a:r>
            <a:r>
              <a:rPr lang="de-AT" dirty="0" err="1" smtClean="0"/>
              <a:t>XMLMaterialHandler</a:t>
            </a:r>
            <a:r>
              <a:rPr lang="de-AT" dirty="0" smtClean="0"/>
              <a:t>“ in </a:t>
            </a:r>
            <a:r>
              <a:rPr lang="de-AT" dirty="0" err="1" smtClean="0"/>
              <a:t>source</a:t>
            </a:r>
            <a:r>
              <a:rPr lang="de-AT" dirty="0" smtClean="0"/>
              <a:t>/</a:t>
            </a:r>
            <a:r>
              <a:rPr lang="de-AT" dirty="0" err="1" smtClean="0"/>
              <a:t>DataInOut</a:t>
            </a:r>
            <a:r>
              <a:rPr lang="de-AT" dirty="0" smtClean="0"/>
              <a:t>/</a:t>
            </a:r>
            <a:r>
              <a:rPr lang="de-AT" dirty="0" err="1" smtClean="0"/>
              <a:t>ParamHandling</a:t>
            </a:r>
            <a:r>
              <a:rPr lang="de-AT" dirty="0" smtClean="0"/>
              <a:t>/ (</a:t>
            </a:r>
            <a:r>
              <a:rPr lang="de-AT" dirty="0" err="1" smtClean="0"/>
              <a:t>cont</a:t>
            </a:r>
            <a:r>
              <a:rPr lang="de-AT" dirty="0" smtClean="0"/>
              <a:t>.)</a:t>
            </a:r>
          </a:p>
          <a:p>
            <a:pPr lvl="1"/>
            <a:r>
              <a:rPr lang="de-AT" dirty="0" err="1" smtClean="0"/>
              <a:t>Method</a:t>
            </a:r>
            <a:r>
              <a:rPr lang="de-AT" dirty="0"/>
              <a:t> </a:t>
            </a:r>
            <a:r>
              <a:rPr lang="de-AT" dirty="0" err="1" smtClean="0"/>
              <a:t>ReadTest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974073"/>
              </p:ext>
            </p:extLst>
          </p:nvPr>
        </p:nvGraphicFramePr>
        <p:xfrm>
          <a:off x="1102420" y="1555667"/>
          <a:ext cx="73290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9060"/>
              </a:tblGrid>
              <a:tr h="179120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void </a:t>
                      </a:r>
                      <a:r>
                        <a:rPr lang="en-US" sz="1400" dirty="0" err="1" smtClean="0">
                          <a:effectLst/>
                        </a:rPr>
                        <a:t>XMLMaterialHandler</a:t>
                      </a:r>
                      <a:r>
                        <a:rPr lang="en-US" sz="1400" dirty="0" smtClean="0">
                          <a:effectLst/>
                        </a:rPr>
                        <a:t>::</a:t>
                      </a:r>
                      <a:r>
                        <a:rPr lang="en-US" sz="1400" dirty="0" err="1" smtClean="0">
                          <a:effectLst/>
                        </a:rPr>
                        <a:t>ReadTest</a:t>
                      </a:r>
                      <a:r>
                        <a:rPr lang="en-US" sz="1400" dirty="0" smtClean="0">
                          <a:effectLst/>
                        </a:rPr>
                        <a:t>(</a:t>
                      </a:r>
                      <a:r>
                        <a:rPr lang="en-US" sz="1400" dirty="0" err="1" smtClean="0">
                          <a:effectLst/>
                        </a:rPr>
                        <a:t>BaseMaterial</a:t>
                      </a:r>
                      <a:r>
                        <a:rPr lang="en-US" sz="1400" dirty="0" smtClean="0">
                          <a:effectLst/>
                        </a:rPr>
                        <a:t> *material, </a:t>
                      </a:r>
                      <a:r>
                        <a:rPr lang="en-US" sz="1400" dirty="0" err="1" smtClean="0">
                          <a:effectLst/>
                        </a:rPr>
                        <a:t>PtrParamNode</a:t>
                      </a:r>
                      <a:r>
                        <a:rPr lang="en-US" sz="1400" dirty="0" smtClean="0">
                          <a:effectLst/>
                        </a:rPr>
                        <a:t> test)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{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// read alpha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if(test-&gt;Has("alpha")) {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</a:t>
                      </a:r>
                      <a:r>
                        <a:rPr lang="en-US" sz="1400" dirty="0" err="1" smtClean="0">
                          <a:effectLst/>
                        </a:rPr>
                        <a:t>PtrCoefFct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alphaFct</a:t>
                      </a:r>
                      <a:r>
                        <a:rPr lang="en-US" sz="1400" dirty="0" smtClean="0">
                          <a:effectLst/>
                        </a:rPr>
                        <a:t> =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</a:t>
                      </a:r>
                      <a:r>
                        <a:rPr lang="en-US" sz="1400" dirty="0" err="1" smtClean="0">
                          <a:effectLst/>
                        </a:rPr>
                        <a:t>CoefFunction</a:t>
                      </a:r>
                      <a:r>
                        <a:rPr lang="en-US" sz="1400" dirty="0" smtClean="0">
                          <a:effectLst/>
                        </a:rPr>
                        <a:t>::Generate(</a:t>
                      </a:r>
                      <a:r>
                        <a:rPr lang="en-US" sz="1400" dirty="0" err="1" smtClean="0">
                          <a:effectLst/>
                        </a:rPr>
                        <a:t>mp</a:t>
                      </a:r>
                      <a:r>
                        <a:rPr lang="en-US" sz="1400" dirty="0" smtClean="0">
                          <a:effectLst/>
                        </a:rPr>
                        <a:t>_, Global::REAL,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          test-&gt;Get("alpha")-&gt;As&lt;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::string&gt;()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material-&gt;</a:t>
                      </a:r>
                      <a:r>
                        <a:rPr lang="en-US" sz="1400" dirty="0" err="1" smtClean="0">
                          <a:effectLst/>
                        </a:rPr>
                        <a:t>SetCoefFct</a:t>
                      </a:r>
                      <a:r>
                        <a:rPr lang="en-US" sz="1400" dirty="0" smtClean="0">
                          <a:effectLst/>
                        </a:rPr>
                        <a:t>( TEST_ALPHA, </a:t>
                      </a:r>
                      <a:r>
                        <a:rPr lang="en-US" sz="1400" dirty="0" err="1" smtClean="0">
                          <a:effectLst/>
                        </a:rPr>
                        <a:t>alphaFct</a:t>
                      </a:r>
                      <a:r>
                        <a:rPr lang="en-US" sz="1400" dirty="0" smtClean="0">
                          <a:effectLst/>
                        </a:rPr>
                        <a:t>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}</a:t>
                      </a:r>
                    </a:p>
                    <a:p>
                      <a:endParaRPr lang="de-AT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// read beta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if(test-&gt;Has("beta")) {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</a:t>
                      </a:r>
                      <a:r>
                        <a:rPr lang="en-US" sz="1400" dirty="0" err="1" smtClean="0">
                          <a:effectLst/>
                        </a:rPr>
                        <a:t>PtrCoefFct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betaFnc</a:t>
                      </a:r>
                      <a:r>
                        <a:rPr lang="en-US" sz="1400" dirty="0" smtClean="0">
                          <a:effectLst/>
                        </a:rPr>
                        <a:t> =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</a:t>
                      </a:r>
                      <a:r>
                        <a:rPr lang="en-US" sz="1400" dirty="0" err="1" smtClean="0">
                          <a:effectLst/>
                        </a:rPr>
                        <a:t>CoefFunction</a:t>
                      </a:r>
                      <a:r>
                        <a:rPr lang="en-US" sz="1400" dirty="0" smtClean="0">
                          <a:effectLst/>
                        </a:rPr>
                        <a:t>::Generate(</a:t>
                      </a:r>
                      <a:r>
                        <a:rPr lang="en-US" sz="1400" dirty="0" err="1" smtClean="0">
                          <a:effectLst/>
                        </a:rPr>
                        <a:t>mp</a:t>
                      </a:r>
                      <a:r>
                        <a:rPr lang="en-US" sz="1400" dirty="0" smtClean="0">
                          <a:effectLst/>
                        </a:rPr>
                        <a:t>_, Global::REAL,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          test-&gt;Get("beta")-&gt;As&lt;</a:t>
                      </a:r>
                      <a:r>
                        <a:rPr lang="en-US" sz="1400" dirty="0" err="1" smtClean="0">
                          <a:effectLst/>
                        </a:rPr>
                        <a:t>std</a:t>
                      </a:r>
                      <a:r>
                        <a:rPr lang="en-US" sz="1400" dirty="0" smtClean="0">
                          <a:effectLst/>
                        </a:rPr>
                        <a:t>::string&gt;()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material-&gt;</a:t>
                      </a:r>
                      <a:r>
                        <a:rPr lang="en-US" sz="1400" dirty="0" err="1" smtClean="0">
                          <a:effectLst/>
                        </a:rPr>
                        <a:t>SetCoefFct</a:t>
                      </a:r>
                      <a:r>
                        <a:rPr lang="en-US" sz="1400" dirty="0" smtClean="0">
                          <a:effectLst/>
                        </a:rPr>
                        <a:t>( TEST_BETA, </a:t>
                      </a:r>
                      <a:r>
                        <a:rPr lang="en-US" sz="1400" dirty="0" err="1" smtClean="0">
                          <a:effectLst/>
                        </a:rPr>
                        <a:t>betaFnc</a:t>
                      </a:r>
                      <a:r>
                        <a:rPr lang="en-US" sz="1400" dirty="0" smtClean="0">
                          <a:effectLst/>
                        </a:rPr>
                        <a:t> );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}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}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14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Steps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/>
          </a:bodyPr>
          <a:lstStyle/>
          <a:p>
            <a:r>
              <a:rPr lang="de-AT" dirty="0" err="1" smtClean="0"/>
              <a:t>Extend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XML-</a:t>
            </a:r>
            <a:r>
              <a:rPr lang="de-AT" dirty="0" err="1" smtClean="0"/>
              <a:t>Scheme</a:t>
            </a:r>
            <a:r>
              <a:rPr lang="de-AT" dirty="0" smtClean="0"/>
              <a:t>: </a:t>
            </a:r>
            <a:r>
              <a:rPr lang="de-AT" dirty="0" err="1" smtClean="0"/>
              <a:t>see</a:t>
            </a:r>
            <a:r>
              <a:rPr lang="de-AT" dirty="0"/>
              <a:t> </a:t>
            </a:r>
            <a:r>
              <a:rPr lang="de-AT" dirty="0" err="1" smtClean="0"/>
              <a:t>share</a:t>
            </a:r>
            <a:r>
              <a:rPr lang="de-AT" dirty="0" smtClean="0"/>
              <a:t>/</a:t>
            </a:r>
            <a:r>
              <a:rPr lang="de-AT" dirty="0" err="1" smtClean="0"/>
              <a:t>xml</a:t>
            </a:r>
            <a:r>
              <a:rPr lang="de-AT" dirty="0" smtClean="0"/>
              <a:t>/CFS-Simulation/Schemas/</a:t>
            </a:r>
          </a:p>
          <a:p>
            <a:pPr lvl="1"/>
            <a:r>
              <a:rPr lang="de-AT" dirty="0" err="1" smtClean="0"/>
              <a:t>Generate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file</a:t>
            </a:r>
            <a:r>
              <a:rPr lang="de-AT" dirty="0"/>
              <a:t> </a:t>
            </a:r>
            <a:r>
              <a:rPr lang="de-AT" dirty="0" smtClean="0"/>
              <a:t>„CFS_PDEtest.xsd“</a:t>
            </a:r>
          </a:p>
          <a:p>
            <a:pPr lvl="1"/>
            <a:r>
              <a:rPr lang="de-AT" dirty="0" smtClean="0"/>
              <a:t>Main </a:t>
            </a:r>
            <a:r>
              <a:rPr lang="de-AT" dirty="0" err="1" smtClean="0"/>
              <a:t>entries</a:t>
            </a:r>
            <a:endParaRPr lang="de-AT" dirty="0" smtClean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793074"/>
              </p:ext>
            </p:extLst>
          </p:nvPr>
        </p:nvGraphicFramePr>
        <p:xfrm>
          <a:off x="1102419" y="1745675"/>
          <a:ext cx="774469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4698"/>
              </a:tblGrid>
              <a:tr h="179120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xsd:complexType</a:t>
                      </a:r>
                      <a:r>
                        <a:rPr lang="en-US" sz="1400" dirty="0" smtClean="0">
                          <a:effectLst/>
                        </a:rPr>
                        <a:t> name="</a:t>
                      </a:r>
                      <a:r>
                        <a:rPr lang="en-US" sz="1400" dirty="0" err="1" smtClean="0">
                          <a:effectLst/>
                        </a:rPr>
                        <a:t>DT_PDETest</a:t>
                      </a:r>
                      <a:r>
                        <a:rPr lang="en-US" sz="1400" dirty="0" smtClean="0">
                          <a:effectLst/>
                        </a:rPr>
                        <a:t>"&gt;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&lt;</a:t>
                      </a:r>
                      <a:r>
                        <a:rPr lang="en-US" sz="1400" dirty="0" err="1" smtClean="0">
                          <a:effectLst/>
                        </a:rPr>
                        <a:t>xsd:complexContent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&lt;</a:t>
                      </a:r>
                      <a:r>
                        <a:rPr lang="en-US" sz="1400" dirty="0" err="1" smtClean="0">
                          <a:effectLst/>
                        </a:rPr>
                        <a:t>xsd:extension</a:t>
                      </a:r>
                      <a:r>
                        <a:rPr lang="en-US" sz="1400" dirty="0" smtClean="0">
                          <a:effectLst/>
                        </a:rPr>
                        <a:t> base="</a:t>
                      </a:r>
                      <a:r>
                        <a:rPr lang="en-US" sz="1400" dirty="0" err="1" smtClean="0">
                          <a:effectLst/>
                        </a:rPr>
                        <a:t>DT_PDEBasic</a:t>
                      </a:r>
                      <a:r>
                        <a:rPr lang="en-US" sz="1400" dirty="0" smtClean="0">
                          <a:effectLst/>
                        </a:rPr>
                        <a:t>"&gt;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&lt;</a:t>
                      </a:r>
                      <a:r>
                        <a:rPr lang="en-US" sz="1400" dirty="0" err="1" smtClean="0">
                          <a:effectLst/>
                        </a:rPr>
                        <a:t>xsd:sequence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&lt;!-- Regions the PDE lives on --&gt;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&lt;</a:t>
                      </a:r>
                      <a:r>
                        <a:rPr lang="en-US" sz="1400" dirty="0" err="1" smtClean="0">
                          <a:effectLst/>
                        </a:rPr>
                        <a:t>xsd:element</a:t>
                      </a:r>
                      <a:r>
                        <a:rPr lang="en-US" sz="1400" dirty="0" smtClean="0">
                          <a:effectLst/>
                        </a:rPr>
                        <a:t> name="</a:t>
                      </a:r>
                      <a:r>
                        <a:rPr lang="en-US" sz="1400" dirty="0" err="1" smtClean="0">
                          <a:effectLst/>
                        </a:rPr>
                        <a:t>regionList</a:t>
                      </a:r>
                      <a:r>
                        <a:rPr lang="en-US" sz="1400" dirty="0" smtClean="0">
                          <a:effectLst/>
                        </a:rPr>
                        <a:t>" </a:t>
                      </a:r>
                      <a:r>
                        <a:rPr lang="en-US" sz="1400" dirty="0" err="1" smtClean="0">
                          <a:effectLst/>
                        </a:rPr>
                        <a:t>minOccurs</a:t>
                      </a:r>
                      <a:r>
                        <a:rPr lang="en-US" sz="1400" dirty="0" smtClean="0">
                          <a:effectLst/>
                        </a:rPr>
                        <a:t>="1" </a:t>
                      </a:r>
                      <a:r>
                        <a:rPr lang="en-US" sz="1400" dirty="0" err="1" smtClean="0">
                          <a:effectLst/>
                        </a:rPr>
                        <a:t>maxOccurs</a:t>
                      </a:r>
                      <a:r>
                        <a:rPr lang="en-US" sz="1400" dirty="0" smtClean="0">
                          <a:effectLst/>
                        </a:rPr>
                        <a:t>="1"&gt;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   &lt;</a:t>
                      </a:r>
                      <a:r>
                        <a:rPr lang="en-US" sz="1400" dirty="0" err="1" smtClean="0">
                          <a:effectLst/>
                        </a:rPr>
                        <a:t>xsd:complexType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      &lt;</a:t>
                      </a:r>
                      <a:r>
                        <a:rPr lang="en-US" sz="1400" dirty="0" err="1" smtClean="0">
                          <a:effectLst/>
                        </a:rPr>
                        <a:t>xsd:sequence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          &lt;</a:t>
                      </a:r>
                      <a:r>
                        <a:rPr lang="en-US" sz="1400" dirty="0" err="1" smtClean="0">
                          <a:effectLst/>
                        </a:rPr>
                        <a:t>xsd:element</a:t>
                      </a:r>
                      <a:r>
                        <a:rPr lang="en-US" sz="1400" dirty="0" smtClean="0">
                          <a:effectLst/>
                        </a:rPr>
                        <a:t> name="region" </a:t>
                      </a:r>
                      <a:r>
                        <a:rPr lang="en-US" sz="1400" dirty="0" err="1" smtClean="0">
                          <a:effectLst/>
                        </a:rPr>
                        <a:t>minOccurs</a:t>
                      </a:r>
                      <a:r>
                        <a:rPr lang="en-US" sz="1400" dirty="0" smtClean="0">
                          <a:effectLst/>
                        </a:rPr>
                        <a:t>="1" </a:t>
                      </a:r>
                      <a:r>
                        <a:rPr lang="en-US" sz="1400" dirty="0" err="1" smtClean="0">
                          <a:effectLst/>
                        </a:rPr>
                        <a:t>maxOccurs</a:t>
                      </a:r>
                      <a:r>
                        <a:rPr lang="en-US" sz="1400" dirty="0" smtClean="0">
                          <a:effectLst/>
                        </a:rPr>
                        <a:t>="unbounded"&gt;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             &lt;</a:t>
                      </a:r>
                      <a:r>
                        <a:rPr lang="en-US" sz="1400" dirty="0" err="1" smtClean="0">
                          <a:effectLst/>
                        </a:rPr>
                        <a:t>xsd:complexType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                &lt;</a:t>
                      </a:r>
                      <a:r>
                        <a:rPr lang="en-US" sz="1400" dirty="0" err="1" smtClean="0">
                          <a:effectLst/>
                        </a:rPr>
                        <a:t>xsd:attribute</a:t>
                      </a:r>
                      <a:r>
                        <a:rPr lang="en-US" sz="1400" dirty="0" smtClean="0">
                          <a:effectLst/>
                        </a:rPr>
                        <a:t> name="name" type="</a:t>
                      </a:r>
                      <a:r>
                        <a:rPr lang="en-US" sz="1400" dirty="0" err="1" smtClean="0">
                          <a:effectLst/>
                        </a:rPr>
                        <a:t>xsd:token</a:t>
                      </a:r>
                      <a:r>
                        <a:rPr lang="en-US" sz="1400" dirty="0" smtClean="0">
                          <a:effectLst/>
                        </a:rPr>
                        <a:t>" use="required"/&gt;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               &lt;</a:t>
                      </a:r>
                      <a:r>
                        <a:rPr lang="en-US" sz="1400" dirty="0" err="1" smtClean="0">
                          <a:effectLst/>
                        </a:rPr>
                        <a:t>xsd:attribute</a:t>
                      </a:r>
                      <a:r>
                        <a:rPr lang="en-US" sz="1400" dirty="0" smtClean="0">
                          <a:effectLst/>
                        </a:rPr>
                        <a:t> name="</a:t>
                      </a:r>
                      <a:r>
                        <a:rPr lang="en-US" sz="1400" dirty="0" err="1" smtClean="0">
                          <a:effectLst/>
                        </a:rPr>
                        <a:t>polyId</a:t>
                      </a:r>
                      <a:r>
                        <a:rPr lang="en-US" sz="1400" dirty="0" smtClean="0">
                          <a:effectLst/>
                        </a:rPr>
                        <a:t>" type="</a:t>
                      </a:r>
                      <a:r>
                        <a:rPr lang="en-US" sz="1400" dirty="0" err="1" smtClean="0">
                          <a:effectLst/>
                        </a:rPr>
                        <a:t>xsd:string</a:t>
                      </a:r>
                      <a:r>
                        <a:rPr lang="en-US" sz="1400" dirty="0" smtClean="0">
                          <a:effectLst/>
                        </a:rPr>
                        <a:t>" use="optional" </a:t>
                      </a:r>
                      <a:br>
                        <a:rPr lang="en-US" sz="1400" dirty="0" smtClean="0">
                          <a:effectLst/>
                        </a:rPr>
                      </a:br>
                      <a:r>
                        <a:rPr lang="en-US" sz="1400" dirty="0" smtClean="0">
                          <a:effectLst/>
                        </a:rPr>
                        <a:t>                                                                                                           default="default"&gt; &lt;/</a:t>
                      </a:r>
                      <a:r>
                        <a:rPr lang="en-US" sz="1400" dirty="0" err="1" smtClean="0">
                          <a:effectLst/>
                        </a:rPr>
                        <a:t>xsd:attribute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               &lt;</a:t>
                      </a:r>
                      <a:r>
                        <a:rPr lang="en-US" sz="1400" dirty="0" err="1" smtClean="0">
                          <a:effectLst/>
                        </a:rPr>
                        <a:t>xsd:attribute</a:t>
                      </a:r>
                      <a:r>
                        <a:rPr lang="en-US" sz="1400" dirty="0" smtClean="0">
                          <a:effectLst/>
                        </a:rPr>
                        <a:t> name="</a:t>
                      </a:r>
                      <a:r>
                        <a:rPr lang="en-US" sz="1400" dirty="0" err="1" smtClean="0">
                          <a:effectLst/>
                        </a:rPr>
                        <a:t>integId</a:t>
                      </a:r>
                      <a:r>
                        <a:rPr lang="en-US" sz="1400" dirty="0" smtClean="0">
                          <a:effectLst/>
                        </a:rPr>
                        <a:t>" type="</a:t>
                      </a:r>
                      <a:r>
                        <a:rPr lang="en-US" sz="1400" dirty="0" err="1" smtClean="0">
                          <a:effectLst/>
                        </a:rPr>
                        <a:t>xsd:string</a:t>
                      </a:r>
                      <a:r>
                        <a:rPr lang="en-US" sz="1400" dirty="0" smtClean="0">
                          <a:effectLst/>
                        </a:rPr>
                        <a:t>" use="optional" </a:t>
                      </a:r>
                      <a:br>
                        <a:rPr lang="en-US" sz="1400" dirty="0" smtClean="0">
                          <a:effectLst/>
                        </a:rPr>
                      </a:br>
                      <a:r>
                        <a:rPr lang="en-US" sz="1400" dirty="0" smtClean="0">
                          <a:effectLst/>
                        </a:rPr>
                        <a:t>                                                                                                           default="default"&gt; &lt;/</a:t>
                      </a:r>
                      <a:r>
                        <a:rPr lang="en-US" sz="1400" dirty="0" err="1" smtClean="0">
                          <a:effectLst/>
                        </a:rPr>
                        <a:t>xsd:attribute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            &lt;/</a:t>
                      </a:r>
                      <a:r>
                        <a:rPr lang="en-US" sz="1400" dirty="0" err="1" smtClean="0">
                          <a:effectLst/>
                        </a:rPr>
                        <a:t>xsd:complexType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        &lt;/</a:t>
                      </a:r>
                      <a:r>
                        <a:rPr lang="en-US" sz="1400" dirty="0" err="1" smtClean="0">
                          <a:effectLst/>
                        </a:rPr>
                        <a:t>xsd:element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    &lt;/</a:t>
                      </a:r>
                      <a:r>
                        <a:rPr lang="en-US" sz="1400" dirty="0" err="1" smtClean="0">
                          <a:effectLst/>
                        </a:rPr>
                        <a:t>xsd:sequence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 &lt;/</a:t>
                      </a:r>
                      <a:r>
                        <a:rPr lang="en-US" sz="1400" dirty="0" err="1" smtClean="0">
                          <a:effectLst/>
                        </a:rPr>
                        <a:t>xsd:complexType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&lt;/</a:t>
                      </a:r>
                      <a:r>
                        <a:rPr lang="en-US" sz="1400" dirty="0" err="1" smtClean="0">
                          <a:effectLst/>
                        </a:rPr>
                        <a:t>xsd:element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29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Steps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564844"/>
          </a:xfrm>
        </p:spPr>
        <p:txBody>
          <a:bodyPr>
            <a:normAutofit lnSpcReduction="10000"/>
          </a:bodyPr>
          <a:lstStyle/>
          <a:p>
            <a:r>
              <a:rPr lang="de-AT" dirty="0" err="1" smtClean="0"/>
              <a:t>Extend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XML-</a:t>
            </a:r>
            <a:r>
              <a:rPr lang="de-AT" dirty="0" err="1" smtClean="0"/>
              <a:t>Scheme</a:t>
            </a:r>
            <a:r>
              <a:rPr lang="de-AT" dirty="0" smtClean="0"/>
              <a:t>: </a:t>
            </a:r>
            <a:r>
              <a:rPr lang="de-AT" dirty="0" err="1" smtClean="0"/>
              <a:t>see</a:t>
            </a:r>
            <a:r>
              <a:rPr lang="de-AT" dirty="0"/>
              <a:t> </a:t>
            </a:r>
            <a:r>
              <a:rPr lang="de-AT" dirty="0" err="1" smtClean="0"/>
              <a:t>share</a:t>
            </a:r>
            <a:r>
              <a:rPr lang="de-AT" dirty="0" smtClean="0"/>
              <a:t>/</a:t>
            </a:r>
            <a:r>
              <a:rPr lang="de-AT" dirty="0" err="1" smtClean="0"/>
              <a:t>xml</a:t>
            </a:r>
            <a:r>
              <a:rPr lang="de-AT" dirty="0" smtClean="0"/>
              <a:t>/CFS-Simulation/Schemas/</a:t>
            </a:r>
          </a:p>
          <a:p>
            <a:pPr lvl="1"/>
            <a:r>
              <a:rPr lang="de-AT" dirty="0" smtClean="0"/>
              <a:t>Main </a:t>
            </a:r>
            <a:r>
              <a:rPr lang="de-AT" dirty="0" err="1" smtClean="0"/>
              <a:t>entries</a:t>
            </a:r>
            <a:r>
              <a:rPr lang="de-AT" dirty="0" smtClean="0"/>
              <a:t> (</a:t>
            </a:r>
            <a:r>
              <a:rPr lang="de-AT" dirty="0" err="1" smtClean="0"/>
              <a:t>cont</a:t>
            </a:r>
            <a:r>
              <a:rPr lang="de-AT" dirty="0" smtClean="0"/>
              <a:t>.)</a:t>
            </a:r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sz="2800" dirty="0"/>
          </a:p>
          <a:p>
            <a:pPr lvl="1"/>
            <a:r>
              <a:rPr lang="de-AT" dirty="0" err="1" smtClean="0"/>
              <a:t>Svn</a:t>
            </a:r>
            <a:r>
              <a:rPr lang="de-AT" dirty="0" smtClean="0"/>
              <a:t> </a:t>
            </a:r>
            <a:r>
              <a:rPr lang="de-AT" dirty="0" err="1" smtClean="0"/>
              <a:t>add</a:t>
            </a:r>
            <a:r>
              <a:rPr lang="de-AT" dirty="0" smtClean="0"/>
              <a:t> CFS_PDEtest.xsd</a:t>
            </a:r>
          </a:p>
          <a:p>
            <a:pPr lvl="1"/>
            <a:r>
              <a:rPr lang="de-AT" dirty="0" smtClean="0"/>
              <a:t>Add in CFS.xsd</a:t>
            </a:r>
          </a:p>
          <a:p>
            <a:pPr lvl="2"/>
            <a:r>
              <a:rPr lang="de-AT" dirty="0"/>
              <a:t> &lt;</a:t>
            </a:r>
            <a:r>
              <a:rPr lang="de-AT" sz="1600" dirty="0" err="1"/>
              <a:t>xsd:include</a:t>
            </a:r>
            <a:r>
              <a:rPr lang="de-AT" sz="1600" dirty="0"/>
              <a:t> </a:t>
            </a:r>
            <a:r>
              <a:rPr lang="de-AT" sz="1600" dirty="0" err="1"/>
              <a:t>schemaLocation</a:t>
            </a:r>
            <a:r>
              <a:rPr lang="de-AT" sz="1600" dirty="0"/>
              <a:t>="Schemas/CFS_PDEtest.xsd</a:t>
            </a:r>
            <a:r>
              <a:rPr lang="de-AT" sz="1600" dirty="0" smtClean="0"/>
              <a:t>"/&gt;</a:t>
            </a:r>
          </a:p>
          <a:p>
            <a:pPr lvl="2"/>
            <a:endParaRPr lang="de-AT" sz="500" dirty="0"/>
          </a:p>
          <a:p>
            <a:pPr lvl="1"/>
            <a:r>
              <a:rPr lang="de-AT" dirty="0" smtClean="0"/>
              <a:t>Add </a:t>
            </a:r>
            <a:r>
              <a:rPr lang="de-AT" dirty="0"/>
              <a:t>in </a:t>
            </a:r>
            <a:r>
              <a:rPr lang="de-AT" dirty="0" smtClean="0"/>
              <a:t>CMakeLists.txt </a:t>
            </a:r>
            <a:r>
              <a:rPr lang="de-AT" dirty="0"/>
              <a:t>(in </a:t>
            </a:r>
            <a:r>
              <a:rPr lang="de-AT" dirty="0" err="1"/>
              <a:t>share</a:t>
            </a:r>
            <a:r>
              <a:rPr lang="de-AT" dirty="0"/>
              <a:t>/</a:t>
            </a:r>
            <a:r>
              <a:rPr lang="de-AT" dirty="0" err="1"/>
              <a:t>xml</a:t>
            </a:r>
            <a:r>
              <a:rPr lang="de-AT" dirty="0" smtClean="0"/>
              <a:t>/)</a:t>
            </a:r>
          </a:p>
          <a:p>
            <a:pPr lvl="2"/>
            <a:r>
              <a:rPr lang="de-AT" sz="1600" dirty="0"/>
              <a:t> COMMAND ${CMAKE_COMMAND} -E </a:t>
            </a:r>
            <a:r>
              <a:rPr lang="de-AT" sz="1600" dirty="0" err="1"/>
              <a:t>copy_if_different</a:t>
            </a:r>
            <a:r>
              <a:rPr lang="de-AT" sz="1600" dirty="0"/>
              <a:t> ${SRC_DIR}/Schemas/CFS_PDEtest.xsd ${DST_DIR}/Schemas/CFS_PDEtest.xsd</a:t>
            </a:r>
            <a:endParaRPr lang="de-AT" sz="1600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marL="457200" lvl="1" indent="0">
              <a:buNone/>
            </a:pPr>
            <a:endParaRPr lang="de-AT" dirty="0" smtClean="0"/>
          </a:p>
          <a:p>
            <a:endParaRPr lang="de-AT" dirty="0" smtClean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330287"/>
              </p:ext>
            </p:extLst>
          </p:nvPr>
        </p:nvGraphicFramePr>
        <p:xfrm>
          <a:off x="1102419" y="1385621"/>
          <a:ext cx="732906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9060"/>
              </a:tblGrid>
              <a:tr h="179120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      &lt;!-- Boundary Conditions &amp; Loads (optional) --&gt;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&lt;</a:t>
                      </a:r>
                      <a:r>
                        <a:rPr lang="en-US" sz="1400" dirty="0" err="1" smtClean="0">
                          <a:effectLst/>
                        </a:rPr>
                        <a:t>xsd:element</a:t>
                      </a:r>
                      <a:r>
                        <a:rPr lang="en-US" sz="1400" dirty="0" smtClean="0">
                          <a:effectLst/>
                        </a:rPr>
                        <a:t> name="</a:t>
                      </a:r>
                      <a:r>
                        <a:rPr lang="en-US" sz="1400" dirty="0" err="1" smtClean="0">
                          <a:effectLst/>
                        </a:rPr>
                        <a:t>bcsAndLoads</a:t>
                      </a:r>
                      <a:r>
                        <a:rPr lang="en-US" sz="1400" dirty="0" smtClean="0">
                          <a:effectLst/>
                        </a:rPr>
                        <a:t>" </a:t>
                      </a:r>
                      <a:r>
                        <a:rPr lang="en-US" sz="1400" dirty="0" err="1" smtClean="0">
                          <a:effectLst/>
                        </a:rPr>
                        <a:t>minOccurs</a:t>
                      </a:r>
                      <a:r>
                        <a:rPr lang="en-US" sz="1400" dirty="0" smtClean="0">
                          <a:effectLst/>
                        </a:rPr>
                        <a:t>="0" </a:t>
                      </a:r>
                      <a:r>
                        <a:rPr lang="en-US" sz="1400" dirty="0" err="1" smtClean="0">
                          <a:effectLst/>
                        </a:rPr>
                        <a:t>maxOccurs</a:t>
                      </a:r>
                      <a:r>
                        <a:rPr lang="en-US" sz="1400" dirty="0" smtClean="0">
                          <a:effectLst/>
                        </a:rPr>
                        <a:t>="unbounded"&gt;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&lt;</a:t>
                      </a:r>
                      <a:r>
                        <a:rPr lang="en-US" sz="1400" dirty="0" err="1" smtClean="0">
                          <a:effectLst/>
                        </a:rPr>
                        <a:t>xsd:complexType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&lt;</a:t>
                      </a:r>
                      <a:r>
                        <a:rPr lang="en-US" sz="1400" dirty="0" err="1" smtClean="0">
                          <a:effectLst/>
                        </a:rPr>
                        <a:t>xsd:choice</a:t>
                      </a:r>
                      <a:r>
                        <a:rPr lang="en-US" sz="1400" dirty="0" smtClean="0">
                          <a:effectLst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</a:rPr>
                        <a:t>minOccurs</a:t>
                      </a:r>
                      <a:r>
                        <a:rPr lang="en-US" sz="1400" dirty="0" smtClean="0">
                          <a:effectLst/>
                        </a:rPr>
                        <a:t>="0" </a:t>
                      </a:r>
                      <a:r>
                        <a:rPr lang="en-US" sz="1400" dirty="0" err="1" smtClean="0">
                          <a:effectLst/>
                        </a:rPr>
                        <a:t>maxOccurs</a:t>
                      </a:r>
                      <a:r>
                        <a:rPr lang="en-US" sz="1400" dirty="0" smtClean="0">
                          <a:effectLst/>
                        </a:rPr>
                        <a:t>="unbounded"&gt;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&lt;!-- </a:t>
                      </a:r>
                      <a:r>
                        <a:rPr lang="en-US" sz="1400" dirty="0" err="1" smtClean="0">
                          <a:effectLst/>
                        </a:rPr>
                        <a:t>Dirichlet</a:t>
                      </a:r>
                      <a:r>
                        <a:rPr lang="en-US" sz="1400" dirty="0" smtClean="0">
                          <a:effectLst/>
                        </a:rPr>
                        <a:t> Boundary Conditions --&gt;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&lt;</a:t>
                      </a:r>
                      <a:r>
                        <a:rPr lang="en-US" sz="1400" dirty="0" err="1" smtClean="0">
                          <a:effectLst/>
                        </a:rPr>
                        <a:t>xsd:element</a:t>
                      </a:r>
                      <a:r>
                        <a:rPr lang="en-US" sz="1400" dirty="0" smtClean="0">
                          <a:effectLst/>
                        </a:rPr>
                        <a:t> name="</a:t>
                      </a:r>
                      <a:r>
                        <a:rPr lang="en-US" sz="1400" dirty="0" err="1" smtClean="0">
                          <a:effectLst/>
                        </a:rPr>
                        <a:t>testGround</a:t>
                      </a:r>
                      <a:r>
                        <a:rPr lang="en-US" sz="1400" dirty="0" smtClean="0">
                          <a:effectLst/>
                        </a:rPr>
                        <a:t>" type="</a:t>
                      </a:r>
                      <a:r>
                        <a:rPr lang="en-US" sz="1400" dirty="0" err="1" smtClean="0">
                          <a:effectLst/>
                        </a:rPr>
                        <a:t>DT_BcHomScalar</a:t>
                      </a:r>
                      <a:r>
                        <a:rPr lang="en-US" sz="1400" dirty="0" smtClean="0">
                          <a:effectLst/>
                        </a:rPr>
                        <a:t>"/&gt;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 &lt;</a:t>
                      </a:r>
                      <a:r>
                        <a:rPr lang="en-US" sz="1400" dirty="0" err="1" smtClean="0">
                          <a:effectLst/>
                        </a:rPr>
                        <a:t>xsd:element</a:t>
                      </a:r>
                      <a:r>
                        <a:rPr lang="en-US" sz="1400" dirty="0" smtClean="0">
                          <a:effectLst/>
                        </a:rPr>
                        <a:t> name="</a:t>
                      </a:r>
                      <a:r>
                        <a:rPr lang="en-US" sz="1400" dirty="0" err="1" smtClean="0">
                          <a:effectLst/>
                        </a:rPr>
                        <a:t>testPotential</a:t>
                      </a:r>
                      <a:r>
                        <a:rPr lang="en-US" sz="1400" dirty="0" smtClean="0">
                          <a:effectLst/>
                        </a:rPr>
                        <a:t>" type="</a:t>
                      </a:r>
                      <a:r>
                        <a:rPr lang="en-US" sz="1400" dirty="0" err="1" smtClean="0">
                          <a:effectLst/>
                        </a:rPr>
                        <a:t>DT_BcInhomScalar</a:t>
                      </a:r>
                      <a:r>
                        <a:rPr lang="en-US" sz="1400" dirty="0" smtClean="0">
                          <a:effectLst/>
                        </a:rPr>
                        <a:t>"/&gt; 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&lt;!-- test specific sources --&gt;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   &lt;</a:t>
                      </a:r>
                      <a:r>
                        <a:rPr lang="en-US" sz="1400" dirty="0" err="1" smtClean="0">
                          <a:effectLst/>
                        </a:rPr>
                        <a:t>xsd:element</a:t>
                      </a:r>
                      <a:r>
                        <a:rPr lang="en-US" sz="1400" dirty="0" smtClean="0">
                          <a:effectLst/>
                        </a:rPr>
                        <a:t> name="</a:t>
                      </a:r>
                      <a:r>
                        <a:rPr lang="en-US" sz="1400" dirty="0" err="1" smtClean="0">
                          <a:effectLst/>
                        </a:rPr>
                        <a:t>testSourceDensity</a:t>
                      </a:r>
                      <a:r>
                        <a:rPr lang="en-US" sz="1400" dirty="0" smtClean="0">
                          <a:effectLst/>
                        </a:rPr>
                        <a:t>" type="</a:t>
                      </a:r>
                      <a:r>
                        <a:rPr lang="en-US" sz="1400" dirty="0" err="1" smtClean="0">
                          <a:effectLst/>
                        </a:rPr>
                        <a:t>DT_BcInhomScalar</a:t>
                      </a:r>
                      <a:r>
                        <a:rPr lang="en-US" sz="1400" dirty="0" smtClean="0">
                          <a:effectLst/>
                        </a:rPr>
                        <a:t>"/&gt;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    &lt;/</a:t>
                      </a:r>
                      <a:r>
                        <a:rPr lang="en-US" sz="1400" dirty="0" err="1" smtClean="0">
                          <a:effectLst/>
                        </a:rPr>
                        <a:t>xsd:choice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&lt;/</a:t>
                      </a:r>
                      <a:r>
                        <a:rPr lang="en-US" sz="1400" dirty="0" err="1" smtClean="0">
                          <a:effectLst/>
                        </a:rPr>
                        <a:t>xsd:complexType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&lt;/</a:t>
                      </a:r>
                      <a:r>
                        <a:rPr lang="en-US" sz="1400" dirty="0" err="1" smtClean="0">
                          <a:effectLst/>
                        </a:rPr>
                        <a:t>xsd:element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63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Steps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3"/>
            <a:ext cx="8892480" cy="6289239"/>
          </a:xfrm>
        </p:spPr>
        <p:txBody>
          <a:bodyPr>
            <a:normAutofit/>
          </a:bodyPr>
          <a:lstStyle/>
          <a:p>
            <a:r>
              <a:rPr lang="de-AT" dirty="0" err="1" smtClean="0"/>
              <a:t>Extend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XML-</a:t>
            </a:r>
            <a:r>
              <a:rPr lang="de-AT" dirty="0" err="1" smtClean="0"/>
              <a:t>Scheme</a:t>
            </a:r>
            <a:r>
              <a:rPr lang="de-AT" dirty="0" smtClean="0"/>
              <a:t>: </a:t>
            </a:r>
            <a:r>
              <a:rPr lang="de-AT" dirty="0" err="1" smtClean="0"/>
              <a:t>see</a:t>
            </a:r>
            <a:r>
              <a:rPr lang="de-AT" dirty="0"/>
              <a:t> </a:t>
            </a:r>
            <a:r>
              <a:rPr lang="de-AT" dirty="0" err="1" smtClean="0"/>
              <a:t>share</a:t>
            </a:r>
            <a:r>
              <a:rPr lang="de-AT" dirty="0" smtClean="0"/>
              <a:t>/</a:t>
            </a:r>
            <a:r>
              <a:rPr lang="de-AT" dirty="0" err="1" smtClean="0"/>
              <a:t>xml</a:t>
            </a:r>
            <a:r>
              <a:rPr lang="de-AT" dirty="0" smtClean="0"/>
              <a:t>/CFS-Material/Schemas/</a:t>
            </a:r>
          </a:p>
          <a:p>
            <a:pPr lvl="1"/>
            <a:r>
              <a:rPr lang="de-AT" dirty="0" err="1" smtClean="0"/>
              <a:t>Generate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file</a:t>
            </a:r>
            <a:r>
              <a:rPr lang="de-AT" dirty="0"/>
              <a:t> „</a:t>
            </a:r>
            <a:r>
              <a:rPr lang="de-AT" dirty="0" smtClean="0"/>
              <a:t>CFS_MATtest.xsd“</a:t>
            </a:r>
          </a:p>
          <a:p>
            <a:pPr lvl="1"/>
            <a:r>
              <a:rPr lang="de-AT" dirty="0" smtClean="0"/>
              <a:t>Main </a:t>
            </a:r>
            <a:r>
              <a:rPr lang="de-AT" dirty="0" err="1" smtClean="0"/>
              <a:t>entries</a:t>
            </a:r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marL="457200" lvl="1" indent="0">
              <a:buNone/>
            </a:pPr>
            <a:endParaRPr lang="de-AT" dirty="0" smtClean="0"/>
          </a:p>
          <a:p>
            <a:pPr lvl="1"/>
            <a:endParaRPr lang="de-AT" sz="1000" dirty="0"/>
          </a:p>
          <a:p>
            <a:pPr lvl="1"/>
            <a:r>
              <a:rPr lang="de-AT" dirty="0"/>
              <a:t> </a:t>
            </a:r>
            <a:r>
              <a:rPr lang="de-AT" dirty="0" err="1"/>
              <a:t>svn</a:t>
            </a:r>
            <a:r>
              <a:rPr lang="de-AT" dirty="0"/>
              <a:t> </a:t>
            </a:r>
            <a:r>
              <a:rPr lang="de-AT" dirty="0" err="1"/>
              <a:t>add</a:t>
            </a:r>
            <a:r>
              <a:rPr lang="de-AT" dirty="0"/>
              <a:t> </a:t>
            </a:r>
            <a:r>
              <a:rPr lang="de-AT" dirty="0" smtClean="0"/>
              <a:t>CFS_MATtest.xsd</a:t>
            </a:r>
          </a:p>
          <a:p>
            <a:pPr lvl="1"/>
            <a:endParaRPr lang="de-AT" sz="500" dirty="0" smtClean="0"/>
          </a:p>
          <a:p>
            <a:pPr lvl="1"/>
            <a:r>
              <a:rPr lang="de-AT" dirty="0" smtClean="0"/>
              <a:t>Add </a:t>
            </a:r>
            <a:r>
              <a:rPr lang="de-AT" dirty="0"/>
              <a:t>in „</a:t>
            </a:r>
            <a:r>
              <a:rPr lang="de-AT" dirty="0" smtClean="0"/>
              <a:t>CFS_Material.xsd“ (in </a:t>
            </a:r>
            <a:r>
              <a:rPr lang="de-AT" dirty="0" err="1" smtClean="0"/>
              <a:t>share</a:t>
            </a:r>
            <a:r>
              <a:rPr lang="de-AT" dirty="0" smtClean="0"/>
              <a:t>/</a:t>
            </a:r>
            <a:r>
              <a:rPr lang="de-AT" dirty="0" err="1" smtClean="0"/>
              <a:t>xml</a:t>
            </a:r>
            <a:r>
              <a:rPr lang="de-AT" dirty="0" smtClean="0"/>
              <a:t>/CFS-Material/)</a:t>
            </a:r>
          </a:p>
          <a:p>
            <a:pPr lvl="2"/>
            <a:r>
              <a:rPr lang="de-AT" sz="1600" dirty="0" smtClean="0"/>
              <a:t>&lt;</a:t>
            </a:r>
            <a:r>
              <a:rPr lang="de-AT" sz="1600" dirty="0" err="1"/>
              <a:t>xsd:include</a:t>
            </a:r>
            <a:r>
              <a:rPr lang="de-AT" sz="1600" dirty="0"/>
              <a:t> </a:t>
            </a:r>
            <a:r>
              <a:rPr lang="de-AT" sz="1600" dirty="0" err="1"/>
              <a:t>schemaLocation</a:t>
            </a:r>
            <a:r>
              <a:rPr lang="de-AT" sz="1600" dirty="0"/>
              <a:t>="Schemas/CFS_MATtest.xsd"/&gt;</a:t>
            </a:r>
          </a:p>
          <a:p>
            <a:pPr lvl="2"/>
            <a:r>
              <a:rPr lang="de-AT" sz="1600" dirty="0" smtClean="0"/>
              <a:t>&lt;</a:t>
            </a:r>
            <a:r>
              <a:rPr lang="de-AT" sz="1600" dirty="0" err="1"/>
              <a:t>xsd:element</a:t>
            </a:r>
            <a:r>
              <a:rPr lang="de-AT" sz="1600" dirty="0"/>
              <a:t> </a:t>
            </a:r>
            <a:r>
              <a:rPr lang="de-AT" sz="1600" dirty="0" err="1"/>
              <a:t>name</a:t>
            </a:r>
            <a:r>
              <a:rPr lang="de-AT" sz="1600" dirty="0"/>
              <a:t>="</a:t>
            </a:r>
            <a:r>
              <a:rPr lang="de-AT" sz="1600" dirty="0" err="1"/>
              <a:t>test</a:t>
            </a:r>
            <a:r>
              <a:rPr lang="de-AT" sz="1600" dirty="0"/>
              <a:t>" type="</a:t>
            </a:r>
            <a:r>
              <a:rPr lang="de-AT" sz="1600" dirty="0" err="1"/>
              <a:t>DT_MatTest</a:t>
            </a:r>
            <a:r>
              <a:rPr lang="de-AT" sz="1600" dirty="0" smtClean="0"/>
              <a:t>"  </a:t>
            </a:r>
            <a:r>
              <a:rPr lang="de-AT" sz="1600" dirty="0" err="1"/>
              <a:t>minOccurs</a:t>
            </a:r>
            <a:r>
              <a:rPr lang="de-AT" sz="1600" dirty="0"/>
              <a:t>="0</a:t>
            </a:r>
            <a:r>
              <a:rPr lang="de-AT" sz="1600" dirty="0" smtClean="0"/>
              <a:t>"  </a:t>
            </a:r>
            <a:r>
              <a:rPr lang="de-AT" sz="1600" dirty="0" err="1" smtClean="0"/>
              <a:t>maxOccurs</a:t>
            </a:r>
            <a:r>
              <a:rPr lang="de-AT" sz="1600" dirty="0"/>
              <a:t>="</a:t>
            </a:r>
            <a:r>
              <a:rPr lang="de-AT" sz="1600" dirty="0" smtClean="0"/>
              <a:t>1</a:t>
            </a:r>
            <a:r>
              <a:rPr lang="de-AT" sz="1600" dirty="0"/>
              <a:t>"</a:t>
            </a:r>
            <a:r>
              <a:rPr lang="de-AT" sz="1600" dirty="0" smtClean="0"/>
              <a:t>  /&gt;</a:t>
            </a:r>
          </a:p>
          <a:p>
            <a:pPr lvl="2"/>
            <a:endParaRPr lang="de-AT" sz="500" dirty="0" smtClean="0"/>
          </a:p>
          <a:p>
            <a:pPr lvl="1"/>
            <a:r>
              <a:rPr lang="de-AT" dirty="0" smtClean="0"/>
              <a:t>Add </a:t>
            </a:r>
            <a:r>
              <a:rPr lang="de-AT" dirty="0" err="1" smtClean="0"/>
              <a:t>to</a:t>
            </a:r>
            <a:r>
              <a:rPr lang="de-AT" dirty="0" smtClean="0"/>
              <a:t>  CMakeLists.txt (in </a:t>
            </a:r>
            <a:r>
              <a:rPr lang="de-AT" dirty="0" err="1"/>
              <a:t>share</a:t>
            </a:r>
            <a:r>
              <a:rPr lang="de-AT" dirty="0"/>
              <a:t>/</a:t>
            </a:r>
            <a:r>
              <a:rPr lang="de-AT" dirty="0" err="1"/>
              <a:t>xml</a:t>
            </a:r>
            <a:r>
              <a:rPr lang="de-AT" dirty="0" smtClean="0"/>
              <a:t>/)</a:t>
            </a:r>
            <a:endParaRPr lang="de-AT" dirty="0"/>
          </a:p>
          <a:p>
            <a:pPr lvl="2"/>
            <a:r>
              <a:rPr lang="de-AT" sz="1600" dirty="0" smtClean="0"/>
              <a:t>COMMAND </a:t>
            </a:r>
            <a:r>
              <a:rPr lang="de-AT" sz="1600" dirty="0"/>
              <a:t>${CMAKE_COMMAND} -E </a:t>
            </a:r>
            <a:r>
              <a:rPr lang="de-AT" sz="1600" dirty="0" err="1"/>
              <a:t>copy_if_different</a:t>
            </a:r>
            <a:r>
              <a:rPr lang="de-AT" sz="1600" dirty="0"/>
              <a:t> ${SRC_DIR}/Schemas/CFS_MATtest.xsd ${DST_DIR}/Schemas/CFS_MATtest.xsd</a:t>
            </a:r>
          </a:p>
          <a:p>
            <a:pPr lvl="2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endParaRPr lang="de-AT" dirty="0" smtClean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17378"/>
              </p:ext>
            </p:extLst>
          </p:nvPr>
        </p:nvGraphicFramePr>
        <p:xfrm>
          <a:off x="1102419" y="1840675"/>
          <a:ext cx="73290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9060"/>
              </a:tblGrid>
              <a:tr h="179120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&lt;</a:t>
                      </a:r>
                      <a:r>
                        <a:rPr lang="en-US" sz="1400" dirty="0" err="1" smtClean="0">
                          <a:effectLst/>
                        </a:rPr>
                        <a:t>xsd:complexType</a:t>
                      </a:r>
                      <a:r>
                        <a:rPr lang="en-US" sz="1400" dirty="0" smtClean="0">
                          <a:effectLst/>
                        </a:rPr>
                        <a:t> name="</a:t>
                      </a:r>
                      <a:r>
                        <a:rPr lang="en-US" sz="1400" dirty="0" err="1" smtClean="0">
                          <a:effectLst/>
                        </a:rPr>
                        <a:t>DT_MatTest</a:t>
                      </a:r>
                      <a:r>
                        <a:rPr lang="en-US" sz="1400" dirty="0" smtClean="0">
                          <a:effectLst/>
                        </a:rPr>
                        <a:t>"&gt;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&lt;</a:t>
                      </a:r>
                      <a:r>
                        <a:rPr lang="en-US" sz="1400" dirty="0" err="1" smtClean="0">
                          <a:effectLst/>
                        </a:rPr>
                        <a:t>xsd:sequence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&lt;</a:t>
                      </a:r>
                      <a:r>
                        <a:rPr lang="en-US" sz="1400" dirty="0" err="1" smtClean="0">
                          <a:effectLst/>
                        </a:rPr>
                        <a:t>xsd:element</a:t>
                      </a:r>
                      <a:r>
                        <a:rPr lang="en-US" sz="1400" dirty="0" smtClean="0">
                          <a:effectLst/>
                        </a:rPr>
                        <a:t> name="alpha" type="</a:t>
                      </a:r>
                      <a:r>
                        <a:rPr lang="en-US" sz="1400" dirty="0" err="1" smtClean="0">
                          <a:effectLst/>
                        </a:rPr>
                        <a:t>xsd:token</a:t>
                      </a:r>
                      <a:r>
                        <a:rPr lang="en-US" sz="1400" dirty="0" smtClean="0">
                          <a:effectLst/>
                        </a:rPr>
                        <a:t>"&gt;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&lt;/</a:t>
                      </a:r>
                      <a:r>
                        <a:rPr lang="en-US" sz="1400" dirty="0" err="1" smtClean="0">
                          <a:effectLst/>
                        </a:rPr>
                        <a:t>xsd:element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endParaRPr lang="en-US" sz="1400" dirty="0" smtClean="0">
                        <a:effectLst/>
                      </a:endParaRPr>
                    </a:p>
                    <a:p>
                      <a:r>
                        <a:rPr lang="en-US" sz="1400" dirty="0" smtClean="0">
                          <a:effectLst/>
                        </a:rPr>
                        <a:t>             &lt;</a:t>
                      </a:r>
                      <a:r>
                        <a:rPr lang="en-US" sz="1400" dirty="0" err="1" smtClean="0">
                          <a:effectLst/>
                        </a:rPr>
                        <a:t>xsd:element</a:t>
                      </a:r>
                      <a:r>
                        <a:rPr lang="en-US" sz="1400" dirty="0" smtClean="0">
                          <a:effectLst/>
                        </a:rPr>
                        <a:t> name="beta" </a:t>
                      </a:r>
                      <a:r>
                        <a:rPr lang="en-US" sz="1400" dirty="0" err="1" smtClean="0">
                          <a:effectLst/>
                        </a:rPr>
                        <a:t>minOccurs</a:t>
                      </a:r>
                      <a:r>
                        <a:rPr lang="en-US" sz="1400" dirty="0" smtClean="0">
                          <a:effectLst/>
                        </a:rPr>
                        <a:t>="0" type="</a:t>
                      </a:r>
                      <a:r>
                        <a:rPr lang="en-US" sz="1400" dirty="0" err="1" smtClean="0">
                          <a:effectLst/>
                        </a:rPr>
                        <a:t>xsd:token</a:t>
                      </a:r>
                      <a:r>
                        <a:rPr lang="en-US" sz="1400" dirty="0" smtClean="0">
                          <a:effectLst/>
                        </a:rPr>
                        <a:t>"&gt;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       &lt;/</a:t>
                      </a:r>
                      <a:r>
                        <a:rPr lang="en-US" sz="1400" dirty="0" err="1" smtClean="0">
                          <a:effectLst/>
                        </a:rPr>
                        <a:t>xsd:element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      &lt;/</a:t>
                      </a:r>
                      <a:r>
                        <a:rPr lang="en-US" sz="1400" dirty="0" err="1" smtClean="0">
                          <a:effectLst/>
                        </a:rPr>
                        <a:t>xsd:sequence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400" dirty="0" smtClean="0">
                          <a:effectLst/>
                        </a:rPr>
                        <a:t>&lt;/</a:t>
                      </a:r>
                      <a:r>
                        <a:rPr lang="en-US" sz="1400" dirty="0" err="1" smtClean="0">
                          <a:effectLst/>
                        </a:rPr>
                        <a:t>xsd:complexType</a:t>
                      </a:r>
                      <a:r>
                        <a:rPr lang="en-US" sz="1400" dirty="0" smtClean="0">
                          <a:effectLst/>
                        </a:rPr>
                        <a:t>&gt;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233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Calling Structure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directory “source/Domain” add in “Domain.cc”</a:t>
            </a:r>
          </a:p>
          <a:p>
            <a:pPr lvl="1"/>
            <a:r>
              <a:rPr lang="en-US" dirty="0"/>
              <a:t>#include "</a:t>
            </a:r>
            <a:r>
              <a:rPr lang="en-US" dirty="0" smtClean="0"/>
              <a:t>PDE/</a:t>
            </a:r>
            <a:r>
              <a:rPr lang="en-US" dirty="0" err="1" smtClean="0"/>
              <a:t>TestPDE.hh</a:t>
            </a:r>
            <a:r>
              <a:rPr lang="en-US" dirty="0" smtClean="0"/>
              <a:t>“</a:t>
            </a:r>
          </a:p>
          <a:p>
            <a:pPr lvl="1"/>
            <a:r>
              <a:rPr lang="de-AT" dirty="0"/>
              <a:t>In </a:t>
            </a:r>
            <a:r>
              <a:rPr lang="de-AT" dirty="0" err="1"/>
              <a:t>method</a:t>
            </a:r>
            <a:r>
              <a:rPr lang="de-AT" dirty="0"/>
              <a:t> </a:t>
            </a:r>
            <a:r>
              <a:rPr lang="de-AT" dirty="0" err="1" smtClean="0"/>
              <a:t>CreateSinglePDEs</a:t>
            </a:r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dirty="0"/>
          </a:p>
          <a:p>
            <a:pPr marL="457200" lvl="1" indent="0">
              <a:buNone/>
            </a:pPr>
            <a:endParaRPr lang="de-AT" sz="1200" dirty="0"/>
          </a:p>
          <a:p>
            <a:r>
              <a:rPr lang="de-AT" dirty="0" smtClean="0"/>
              <a:t>Time </a:t>
            </a:r>
            <a:r>
              <a:rPr lang="de-AT" dirty="0" err="1" smtClean="0"/>
              <a:t>stepping</a:t>
            </a:r>
            <a:endParaRPr lang="de-AT" dirty="0" smtClean="0"/>
          </a:p>
          <a:p>
            <a:pPr lvl="1"/>
            <a:r>
              <a:rPr lang="de-AT" dirty="0" err="1" smtClean="0"/>
              <a:t>Define</a:t>
            </a:r>
            <a:r>
              <a:rPr lang="de-AT" dirty="0" smtClean="0"/>
              <a:t> </a:t>
            </a:r>
            <a:r>
              <a:rPr lang="de-AT" dirty="0" err="1" smtClean="0"/>
              <a:t>SolveStep</a:t>
            </a:r>
            <a:endParaRPr lang="de-AT" dirty="0" smtClean="0"/>
          </a:p>
          <a:p>
            <a:pPr lvl="1"/>
            <a:endParaRPr lang="de-AT" dirty="0"/>
          </a:p>
          <a:p>
            <a:pPr lvl="1"/>
            <a:endParaRPr lang="de-AT" dirty="0" smtClean="0"/>
          </a:p>
          <a:p>
            <a:pPr lvl="1"/>
            <a:endParaRPr lang="de-AT" sz="1400" dirty="0"/>
          </a:p>
          <a:p>
            <a:pPr lvl="1"/>
            <a:r>
              <a:rPr lang="de-AT" dirty="0" err="1" smtClean="0"/>
              <a:t>Init</a:t>
            </a:r>
            <a:endParaRPr lang="de-AT" dirty="0" smtClean="0"/>
          </a:p>
          <a:p>
            <a:pPr lvl="2"/>
            <a:endParaRPr lang="de-AT" dirty="0" smtClean="0"/>
          </a:p>
          <a:p>
            <a:pPr lvl="2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051089"/>
              </p:ext>
            </p:extLst>
          </p:nvPr>
        </p:nvGraphicFramePr>
        <p:xfrm>
          <a:off x="1114264" y="1833870"/>
          <a:ext cx="6923311" cy="1155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1155861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 else if (</a:t>
                      </a:r>
                      <a:r>
                        <a:rPr lang="en-US" sz="1600" dirty="0" err="1" smtClean="0">
                          <a:effectLst/>
                        </a:rPr>
                        <a:t>actPdeName</a:t>
                      </a:r>
                      <a:r>
                        <a:rPr lang="en-US" sz="1600" dirty="0" smtClean="0">
                          <a:effectLst/>
                        </a:rPr>
                        <a:t> == "</a:t>
                      </a:r>
                      <a:r>
                        <a:rPr lang="en-US" sz="1600" dirty="0" err="1" smtClean="0">
                          <a:effectLst/>
                        </a:rPr>
                        <a:t>testPDE</a:t>
                      </a:r>
                      <a:r>
                        <a:rPr lang="en-US" sz="1600" dirty="0" smtClean="0">
                          <a:effectLst/>
                        </a:rPr>
                        <a:t>") {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  </a:t>
                      </a:r>
                      <a:r>
                        <a:rPr lang="en-US" sz="1600" dirty="0" err="1" smtClean="0">
                          <a:effectLst/>
                        </a:rPr>
                        <a:t>ptSinglePde</a:t>
                      </a:r>
                      <a:r>
                        <a:rPr lang="en-US" sz="1600" dirty="0" smtClean="0">
                          <a:effectLst/>
                        </a:rPr>
                        <a:t>_[</a:t>
                      </a:r>
                      <a:r>
                        <a:rPr lang="en-US" sz="1600" dirty="0" err="1" smtClean="0">
                          <a:effectLst/>
                        </a:rPr>
                        <a:t>i</a:t>
                      </a:r>
                      <a:r>
                        <a:rPr lang="en-US" sz="1600" dirty="0" smtClean="0">
                          <a:effectLst/>
                        </a:rPr>
                        <a:t>] = new </a:t>
                      </a:r>
                      <a:r>
                        <a:rPr lang="en-US" sz="1600" dirty="0" err="1" smtClean="0">
                          <a:effectLst/>
                        </a:rPr>
                        <a:t>TestPDE</a:t>
                      </a:r>
                      <a:r>
                        <a:rPr lang="en-US" sz="1600" dirty="0" smtClean="0">
                          <a:effectLst/>
                        </a:rPr>
                        <a:t>(</a:t>
                      </a:r>
                      <a:r>
                        <a:rPr lang="en-US" sz="1600" dirty="0" err="1" smtClean="0">
                          <a:effectLst/>
                        </a:rPr>
                        <a:t>defaultGrid</a:t>
                      </a:r>
                      <a:r>
                        <a:rPr lang="en-US" sz="1600" dirty="0" smtClean="0">
                          <a:effectLst/>
                        </a:rPr>
                        <a:t>, </a:t>
                      </a:r>
                      <a:r>
                        <a:rPr lang="en-US" sz="1600" dirty="0" err="1" smtClean="0">
                          <a:effectLst/>
                        </a:rPr>
                        <a:t>actPdeNode</a:t>
                      </a:r>
                      <a:r>
                        <a:rPr lang="en-US" sz="1600" dirty="0" smtClean="0">
                          <a:effectLst/>
                        </a:rPr>
                        <a:t>, </a:t>
                      </a:r>
                      <a:r>
                        <a:rPr lang="en-US" sz="1600" dirty="0" err="1" smtClean="0">
                          <a:effectLst/>
                        </a:rPr>
                        <a:t>infoNode</a:t>
                      </a:r>
                      <a:r>
                        <a:rPr lang="en-US" sz="1600" dirty="0" smtClean="0">
                          <a:effectLst/>
                        </a:rPr>
                        <a:t>,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                                </a:t>
                      </a:r>
                      <a:r>
                        <a:rPr lang="en-US" sz="1600" dirty="0" err="1" smtClean="0">
                          <a:effectLst/>
                        </a:rPr>
                        <a:t>simState</a:t>
                      </a:r>
                      <a:r>
                        <a:rPr lang="en-US" sz="1600" dirty="0" smtClean="0">
                          <a:effectLst/>
                        </a:rPr>
                        <a:t>_, this 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}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29785"/>
              </p:ext>
            </p:extLst>
          </p:nvPr>
        </p:nvGraphicFramePr>
        <p:xfrm>
          <a:off x="1129504" y="3687054"/>
          <a:ext cx="6923311" cy="830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311"/>
              </a:tblGrid>
              <a:tr h="830082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void </a:t>
                      </a:r>
                      <a:r>
                        <a:rPr lang="en-US" sz="1600" dirty="0" err="1" smtClean="0">
                          <a:effectLst/>
                        </a:rPr>
                        <a:t>TestPDE</a:t>
                      </a:r>
                      <a:r>
                        <a:rPr lang="en-US" sz="1600" dirty="0" smtClean="0">
                          <a:effectLst/>
                        </a:rPr>
                        <a:t>::</a:t>
                      </a:r>
                      <a:r>
                        <a:rPr lang="en-US" sz="1600" dirty="0" err="1" smtClean="0">
                          <a:effectLst/>
                        </a:rPr>
                        <a:t>DefineSolveStep</a:t>
                      </a:r>
                      <a:r>
                        <a:rPr lang="en-US" sz="1600" dirty="0" smtClean="0">
                          <a:effectLst/>
                        </a:rPr>
                        <a:t>() {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</a:t>
                      </a:r>
                      <a:r>
                        <a:rPr lang="en-US" sz="1600" dirty="0" err="1" smtClean="0">
                          <a:effectLst/>
                        </a:rPr>
                        <a:t>solveStep</a:t>
                      </a:r>
                      <a:r>
                        <a:rPr lang="en-US" sz="1600" dirty="0" smtClean="0">
                          <a:effectLst/>
                        </a:rPr>
                        <a:t>_ = new </a:t>
                      </a:r>
                      <a:r>
                        <a:rPr lang="en-US" sz="1600" dirty="0" err="1" smtClean="0">
                          <a:effectLst/>
                        </a:rPr>
                        <a:t>StdSolveStep</a:t>
                      </a:r>
                      <a:r>
                        <a:rPr lang="en-US" sz="1600" dirty="0" smtClean="0">
                          <a:effectLst/>
                        </a:rPr>
                        <a:t>(*this);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}</a:t>
                      </a:r>
                      <a:endParaRPr lang="en-US" sz="1600" dirty="0" smtClean="0">
                        <a:effectLst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333051"/>
              </p:ext>
            </p:extLst>
          </p:nvPr>
        </p:nvGraphicFramePr>
        <p:xfrm>
          <a:off x="1163032" y="4955022"/>
          <a:ext cx="7916960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6960"/>
              </a:tblGrid>
              <a:tr h="830082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void </a:t>
                      </a:r>
                      <a:r>
                        <a:rPr lang="en-US" sz="1600" dirty="0" err="1" smtClean="0">
                          <a:effectLst/>
                        </a:rPr>
                        <a:t>TestPDE</a:t>
                      </a:r>
                      <a:r>
                        <a:rPr lang="en-US" sz="1600" dirty="0" smtClean="0">
                          <a:effectLst/>
                        </a:rPr>
                        <a:t>::</a:t>
                      </a:r>
                      <a:r>
                        <a:rPr lang="en-US" sz="1600" dirty="0" err="1" smtClean="0">
                          <a:effectLst/>
                        </a:rPr>
                        <a:t>InitTimeStepping</a:t>
                      </a:r>
                      <a:r>
                        <a:rPr lang="en-US" sz="1600" dirty="0" smtClean="0">
                          <a:effectLst/>
                        </a:rPr>
                        <a:t>() {</a:t>
                      </a:r>
                    </a:p>
                    <a:p>
                      <a:r>
                        <a:rPr lang="en-US" sz="1600" dirty="0" err="1" smtClean="0">
                          <a:effectLst/>
                        </a:rPr>
                        <a:t>shared_ptr</a:t>
                      </a:r>
                      <a:r>
                        <a:rPr lang="en-US" sz="1600" dirty="0" smtClean="0">
                          <a:effectLst/>
                        </a:rPr>
                        <a:t>&lt;</a:t>
                      </a:r>
                      <a:r>
                        <a:rPr lang="en-US" sz="1600" dirty="0" err="1" smtClean="0">
                          <a:effectLst/>
                        </a:rPr>
                        <a:t>BaseTimeScheme</a:t>
                      </a:r>
                      <a:r>
                        <a:rPr lang="en-US" sz="1600" dirty="0" smtClean="0">
                          <a:effectLst/>
                        </a:rPr>
                        <a:t>&gt;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              </a:t>
                      </a:r>
                      <a:r>
                        <a:rPr lang="en-US" sz="1600" dirty="0" err="1" smtClean="0">
                          <a:effectLst/>
                        </a:rPr>
                        <a:t>myScheme</a:t>
                      </a:r>
                      <a:r>
                        <a:rPr lang="en-US" sz="1600" dirty="0" smtClean="0">
                          <a:effectLst/>
                        </a:rPr>
                        <a:t>(new </a:t>
                      </a:r>
                      <a:r>
                        <a:rPr lang="en-US" sz="1600" dirty="0" err="1" smtClean="0">
                          <a:effectLst/>
                        </a:rPr>
                        <a:t>TimeSchemeGLM</a:t>
                      </a:r>
                      <a:r>
                        <a:rPr lang="en-US" sz="1600" dirty="0" smtClean="0">
                          <a:effectLst/>
                        </a:rPr>
                        <a:t>(</a:t>
                      </a:r>
                      <a:r>
                        <a:rPr lang="en-US" sz="1600" dirty="0" err="1" smtClean="0">
                          <a:effectLst/>
                        </a:rPr>
                        <a:t>GLMScheme</a:t>
                      </a:r>
                      <a:r>
                        <a:rPr lang="en-US" sz="1600" dirty="0" smtClean="0">
                          <a:effectLst/>
                        </a:rPr>
                        <a:t>::TRAPEZOIDAL, 0) 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</a:t>
                      </a:r>
                      <a:r>
                        <a:rPr lang="en-US" sz="1600" dirty="0" err="1" smtClean="0">
                          <a:effectLst/>
                        </a:rPr>
                        <a:t>feFunctions</a:t>
                      </a:r>
                      <a:r>
                        <a:rPr lang="en-US" sz="1600" dirty="0" smtClean="0">
                          <a:effectLst/>
                        </a:rPr>
                        <a:t>_[TEST_DOF]-&gt;</a:t>
                      </a:r>
                      <a:r>
                        <a:rPr lang="en-US" sz="1600" dirty="0" err="1" smtClean="0">
                          <a:effectLst/>
                        </a:rPr>
                        <a:t>SetTimeScheme</a:t>
                      </a:r>
                      <a:r>
                        <a:rPr lang="en-US" sz="1600" dirty="0" smtClean="0">
                          <a:effectLst/>
                        </a:rPr>
                        <a:t>(</a:t>
                      </a:r>
                      <a:r>
                        <a:rPr lang="en-US" sz="1600" dirty="0" err="1" smtClean="0">
                          <a:effectLst/>
                        </a:rPr>
                        <a:t>myScheme</a:t>
                      </a:r>
                      <a:r>
                        <a:rPr lang="en-US" sz="1600" dirty="0" smtClean="0">
                          <a:effectLst/>
                        </a:rPr>
                        <a:t>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}</a:t>
                      </a:r>
                      <a:endParaRPr lang="en-US" sz="1600" dirty="0" smtClean="0">
                        <a:effectLst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03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RHS - </a:t>
            </a:r>
            <a:r>
              <a:rPr lang="en-US" dirty="0" err="1" smtClean="0"/>
              <a:t>Linearform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586579"/>
            <a:ext cx="8640960" cy="5256584"/>
          </a:xfrm>
        </p:spPr>
        <p:txBody>
          <a:bodyPr/>
          <a:lstStyle/>
          <a:p>
            <a:r>
              <a:rPr lang="en-US" dirty="0" smtClean="0"/>
              <a:t>Add RHS-</a:t>
            </a:r>
            <a:r>
              <a:rPr lang="en-US" dirty="0" err="1" smtClean="0"/>
              <a:t>linearform</a:t>
            </a:r>
            <a:r>
              <a:rPr lang="en-US" dirty="0" smtClean="0"/>
              <a:t> (): file T</a:t>
            </a:r>
            <a:r>
              <a:rPr lang="de-AT" dirty="0" smtClean="0"/>
              <a:t>estPDE.cc</a:t>
            </a:r>
          </a:p>
          <a:p>
            <a:pPr lvl="1"/>
            <a:r>
              <a:rPr lang="de-AT" dirty="0" err="1"/>
              <a:t>Method</a:t>
            </a:r>
            <a:r>
              <a:rPr lang="de-AT" dirty="0"/>
              <a:t> </a:t>
            </a:r>
            <a:r>
              <a:rPr lang="de-AT" dirty="0" err="1" smtClean="0"/>
              <a:t>DefineRhsLoadIntegrators</a:t>
            </a:r>
            <a:r>
              <a:rPr lang="de-AT" dirty="0" smtClean="0"/>
              <a:t> (just </a:t>
            </a:r>
            <a:r>
              <a:rPr lang="de-AT" dirty="0" err="1" smtClean="0"/>
              <a:t>main</a:t>
            </a:r>
            <a:r>
              <a:rPr lang="de-AT" dirty="0" smtClean="0"/>
              <a:t> </a:t>
            </a:r>
            <a:r>
              <a:rPr lang="de-AT" dirty="0" err="1" smtClean="0"/>
              <a:t>part</a:t>
            </a:r>
            <a:r>
              <a:rPr lang="de-AT" dirty="0" smtClean="0"/>
              <a:t>)</a:t>
            </a:r>
          </a:p>
          <a:p>
            <a:pPr lvl="2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908398"/>
              </p:ext>
            </p:extLst>
          </p:nvPr>
        </p:nvGraphicFramePr>
        <p:xfrm>
          <a:off x="617533" y="1366455"/>
          <a:ext cx="8443351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3351"/>
              </a:tblGrid>
              <a:tr h="1155861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LinearForm</a:t>
                      </a:r>
                      <a:r>
                        <a:rPr lang="en-US" sz="1600" dirty="0" smtClean="0">
                          <a:effectLst/>
                        </a:rPr>
                        <a:t> * </a:t>
                      </a:r>
                      <a:r>
                        <a:rPr lang="en-US" sz="1600" dirty="0" err="1" smtClean="0">
                          <a:effectLst/>
                        </a:rPr>
                        <a:t>lin</a:t>
                      </a:r>
                      <a:r>
                        <a:rPr lang="en-US" sz="1600" dirty="0" smtClean="0">
                          <a:effectLst/>
                        </a:rPr>
                        <a:t> = NULL;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ReadRhsExcitation</a:t>
                      </a:r>
                      <a:r>
                        <a:rPr lang="en-US" sz="1600" dirty="0" smtClean="0">
                          <a:effectLst/>
                        </a:rPr>
                        <a:t>( "</a:t>
                      </a:r>
                      <a:r>
                        <a:rPr lang="en-US" sz="1600" dirty="0" err="1" smtClean="0">
                          <a:effectLst/>
                        </a:rPr>
                        <a:t>testSourceDensity</a:t>
                      </a:r>
                      <a:r>
                        <a:rPr lang="en-US" sz="1600" dirty="0" smtClean="0">
                          <a:effectLst/>
                        </a:rPr>
                        <a:t>", </a:t>
                      </a:r>
                      <a:r>
                        <a:rPr lang="en-US" sz="1600" dirty="0" err="1" smtClean="0">
                          <a:effectLst/>
                        </a:rPr>
                        <a:t>dofNames</a:t>
                      </a:r>
                      <a:r>
                        <a:rPr lang="en-US" sz="1600" dirty="0" smtClean="0">
                          <a:effectLst/>
                        </a:rPr>
                        <a:t>,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                 </a:t>
                      </a:r>
                      <a:r>
                        <a:rPr lang="en-US" sz="1600" dirty="0" err="1" smtClean="0">
                          <a:effectLst/>
                        </a:rPr>
                        <a:t>ResultInfo</a:t>
                      </a:r>
                      <a:r>
                        <a:rPr lang="en-US" sz="1600" dirty="0" smtClean="0">
                          <a:effectLst/>
                        </a:rPr>
                        <a:t>::VECTOR, </a:t>
                      </a:r>
                      <a:r>
                        <a:rPr lang="en-US" sz="1600" dirty="0" err="1" smtClean="0">
                          <a:effectLst/>
                        </a:rPr>
                        <a:t>isComplex</a:t>
                      </a:r>
                      <a:r>
                        <a:rPr lang="en-US" sz="1600" dirty="0" smtClean="0">
                          <a:effectLst/>
                        </a:rPr>
                        <a:t>_, </a:t>
                      </a:r>
                      <a:r>
                        <a:rPr lang="en-US" sz="1600" dirty="0" err="1" smtClean="0">
                          <a:effectLst/>
                        </a:rPr>
                        <a:t>ent</a:t>
                      </a:r>
                      <a:r>
                        <a:rPr lang="en-US" sz="1600" dirty="0" smtClean="0">
                          <a:effectLst/>
                        </a:rPr>
                        <a:t>, </a:t>
                      </a:r>
                      <a:r>
                        <a:rPr lang="en-US" sz="1600" dirty="0" err="1" smtClean="0">
                          <a:effectLst/>
                        </a:rPr>
                        <a:t>coef</a:t>
                      </a:r>
                      <a:r>
                        <a:rPr lang="en-US" sz="1600" dirty="0" smtClean="0">
                          <a:effectLst/>
                        </a:rPr>
                        <a:t>, </a:t>
                      </a:r>
                      <a:r>
                        <a:rPr lang="en-US" sz="1600" dirty="0" err="1" smtClean="0">
                          <a:effectLst/>
                        </a:rPr>
                        <a:t>coefUpdateGeo</a:t>
                      </a:r>
                      <a:r>
                        <a:rPr lang="en-US" sz="1600" dirty="0" smtClean="0">
                          <a:effectLst/>
                        </a:rPr>
                        <a:t> 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for( </a:t>
                      </a:r>
                      <a:r>
                        <a:rPr lang="en-US" sz="1600" dirty="0" err="1" smtClean="0">
                          <a:effectLst/>
                        </a:rPr>
                        <a:t>UInt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i</a:t>
                      </a:r>
                      <a:r>
                        <a:rPr lang="en-US" sz="1600" dirty="0" smtClean="0">
                          <a:effectLst/>
                        </a:rPr>
                        <a:t> = 0; </a:t>
                      </a:r>
                      <a:r>
                        <a:rPr lang="en-US" sz="1600" dirty="0" err="1" smtClean="0">
                          <a:effectLst/>
                        </a:rPr>
                        <a:t>i</a:t>
                      </a:r>
                      <a:r>
                        <a:rPr lang="en-US" sz="1600" dirty="0" smtClean="0">
                          <a:effectLst/>
                        </a:rPr>
                        <a:t> &lt; </a:t>
                      </a:r>
                      <a:r>
                        <a:rPr lang="en-US" sz="1600" dirty="0" err="1" smtClean="0">
                          <a:effectLst/>
                        </a:rPr>
                        <a:t>ent.GetSize</a:t>
                      </a:r>
                      <a:r>
                        <a:rPr lang="en-US" sz="1600" dirty="0" smtClean="0">
                          <a:effectLst/>
                        </a:rPr>
                        <a:t>(); ++</a:t>
                      </a:r>
                      <a:r>
                        <a:rPr lang="en-US" sz="1600" dirty="0" err="1" smtClean="0">
                          <a:effectLst/>
                        </a:rPr>
                        <a:t>i</a:t>
                      </a:r>
                      <a:r>
                        <a:rPr lang="en-US" sz="1600" dirty="0" smtClean="0">
                          <a:effectLst/>
                        </a:rPr>
                        <a:t> ) {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   if (</a:t>
                      </a:r>
                      <a:r>
                        <a:rPr lang="en-US" sz="1600" dirty="0" err="1" smtClean="0">
                          <a:effectLst/>
                        </a:rPr>
                        <a:t>ent</a:t>
                      </a:r>
                      <a:r>
                        <a:rPr lang="en-US" sz="1600" dirty="0" smtClean="0">
                          <a:effectLst/>
                        </a:rPr>
                        <a:t>[</a:t>
                      </a:r>
                      <a:r>
                        <a:rPr lang="en-US" sz="1600" dirty="0" err="1" smtClean="0">
                          <a:effectLst/>
                        </a:rPr>
                        <a:t>i</a:t>
                      </a:r>
                      <a:r>
                        <a:rPr lang="en-US" sz="1600" dirty="0" smtClean="0">
                          <a:effectLst/>
                        </a:rPr>
                        <a:t>]-&gt;</a:t>
                      </a:r>
                      <a:r>
                        <a:rPr lang="en-US" sz="1600" dirty="0" err="1" smtClean="0">
                          <a:effectLst/>
                        </a:rPr>
                        <a:t>GetType</a:t>
                      </a:r>
                      <a:r>
                        <a:rPr lang="en-US" sz="1600" dirty="0" smtClean="0">
                          <a:effectLst/>
                        </a:rPr>
                        <a:t>() == </a:t>
                      </a:r>
                      <a:r>
                        <a:rPr lang="en-US" sz="1600" dirty="0" err="1" smtClean="0">
                          <a:effectLst/>
                        </a:rPr>
                        <a:t>EntityList</a:t>
                      </a:r>
                      <a:r>
                        <a:rPr lang="en-US" sz="1600" dirty="0" smtClean="0">
                          <a:effectLst/>
                        </a:rPr>
                        <a:t>::NODE_LIST) 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                 EXCEPTION("Test source density must be defined on elements")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</a:t>
                      </a:r>
                      <a:r>
                        <a:rPr lang="en-US" sz="1600" dirty="0" err="1" smtClean="0">
                          <a:effectLst/>
                        </a:rPr>
                        <a:t>EntityIterator</a:t>
                      </a:r>
                      <a:r>
                        <a:rPr lang="en-US" sz="1600" dirty="0" smtClean="0">
                          <a:effectLst/>
                        </a:rPr>
                        <a:t> it = </a:t>
                      </a:r>
                      <a:r>
                        <a:rPr lang="en-US" sz="1600" dirty="0" err="1" smtClean="0">
                          <a:effectLst/>
                        </a:rPr>
                        <a:t>ent</a:t>
                      </a:r>
                      <a:r>
                        <a:rPr lang="en-US" sz="1600" dirty="0" smtClean="0">
                          <a:effectLst/>
                        </a:rPr>
                        <a:t>[</a:t>
                      </a:r>
                      <a:r>
                        <a:rPr lang="en-US" sz="1600" dirty="0" err="1" smtClean="0">
                          <a:effectLst/>
                        </a:rPr>
                        <a:t>i</a:t>
                      </a:r>
                      <a:r>
                        <a:rPr lang="en-US" sz="1600" dirty="0" smtClean="0">
                          <a:effectLst/>
                        </a:rPr>
                        <a:t>]-&gt;</a:t>
                      </a:r>
                      <a:r>
                        <a:rPr lang="en-US" sz="1600" dirty="0" err="1" smtClean="0">
                          <a:effectLst/>
                        </a:rPr>
                        <a:t>GetIterator</a:t>
                      </a:r>
                      <a:r>
                        <a:rPr lang="en-US" sz="1600" dirty="0" smtClean="0">
                          <a:effectLst/>
                        </a:rPr>
                        <a:t>();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</a:t>
                      </a:r>
                      <a:r>
                        <a:rPr lang="en-US" sz="1600" dirty="0" err="1" smtClean="0">
                          <a:effectLst/>
                        </a:rPr>
                        <a:t>it.Begin</a:t>
                      </a:r>
                      <a:r>
                        <a:rPr lang="en-US" sz="1600" dirty="0" smtClean="0">
                          <a:effectLst/>
                        </a:rPr>
                        <a:t>();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if ( </a:t>
                      </a:r>
                      <a:r>
                        <a:rPr lang="en-US" sz="1600" dirty="0" err="1" smtClean="0">
                          <a:effectLst/>
                        </a:rPr>
                        <a:t>isComplex</a:t>
                      </a:r>
                      <a:r>
                        <a:rPr lang="en-US" sz="1600" dirty="0" smtClean="0">
                          <a:effectLst/>
                        </a:rPr>
                        <a:t>_ ) </a:t>
                      </a:r>
                    </a:p>
                    <a:p>
                      <a:r>
                        <a:rPr lang="en-US" sz="1500" dirty="0" smtClean="0">
                          <a:effectLst/>
                        </a:rPr>
                        <a:t>         </a:t>
                      </a:r>
                      <a:r>
                        <a:rPr lang="en-US" sz="1500" dirty="0" err="1" smtClean="0">
                          <a:effectLst/>
                        </a:rPr>
                        <a:t>lin</a:t>
                      </a:r>
                      <a:r>
                        <a:rPr lang="en-US" sz="1500" dirty="0" smtClean="0">
                          <a:effectLst/>
                        </a:rPr>
                        <a:t> = new </a:t>
                      </a:r>
                      <a:r>
                        <a:rPr lang="en-US" sz="1500" dirty="0" err="1" smtClean="0">
                          <a:effectLst/>
                        </a:rPr>
                        <a:t>BUIntegrator</a:t>
                      </a:r>
                      <a:r>
                        <a:rPr lang="en-US" sz="1500" dirty="0" smtClean="0">
                          <a:effectLst/>
                        </a:rPr>
                        <a:t>&lt;</a:t>
                      </a:r>
                      <a:r>
                        <a:rPr lang="en-US" sz="1500" dirty="0" err="1" smtClean="0">
                          <a:effectLst/>
                        </a:rPr>
                        <a:t>IdentityOperator</a:t>
                      </a:r>
                      <a:r>
                        <a:rPr lang="en-US" sz="1500" dirty="0" smtClean="0">
                          <a:effectLst/>
                        </a:rPr>
                        <a:t>&lt;FeH1&gt;, Complex&gt;(Complex(1.0), </a:t>
                      </a:r>
                      <a:r>
                        <a:rPr lang="en-US" sz="1500" dirty="0" err="1" smtClean="0">
                          <a:effectLst/>
                        </a:rPr>
                        <a:t>coef</a:t>
                      </a:r>
                      <a:r>
                        <a:rPr lang="en-US" sz="1500" dirty="0" smtClean="0">
                          <a:effectLst/>
                        </a:rPr>
                        <a:t>[</a:t>
                      </a:r>
                      <a:r>
                        <a:rPr lang="en-US" sz="1500" dirty="0" err="1" smtClean="0">
                          <a:effectLst/>
                        </a:rPr>
                        <a:t>i</a:t>
                      </a:r>
                      <a:r>
                        <a:rPr lang="en-US" sz="1500" dirty="0" smtClean="0">
                          <a:effectLst/>
                        </a:rPr>
                        <a:t>], </a:t>
                      </a:r>
                      <a:r>
                        <a:rPr lang="en-US" sz="1500" dirty="0" err="1" smtClean="0">
                          <a:effectLst/>
                        </a:rPr>
                        <a:t>coefUpdateGeo</a:t>
                      </a:r>
                      <a:r>
                        <a:rPr lang="en-US" sz="1500" dirty="0" smtClean="0">
                          <a:effectLst/>
                        </a:rPr>
                        <a:t>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else  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  </a:t>
                      </a:r>
                      <a:r>
                        <a:rPr lang="en-US" sz="1600" dirty="0" err="1" smtClean="0">
                          <a:effectLst/>
                        </a:rPr>
                        <a:t>lin</a:t>
                      </a:r>
                      <a:r>
                        <a:rPr lang="en-US" sz="1600" dirty="0" smtClean="0">
                          <a:effectLst/>
                        </a:rPr>
                        <a:t> = new </a:t>
                      </a:r>
                      <a:r>
                        <a:rPr lang="en-US" sz="1600" dirty="0" err="1" smtClean="0">
                          <a:effectLst/>
                        </a:rPr>
                        <a:t>BUIntegrator</a:t>
                      </a:r>
                      <a:r>
                        <a:rPr lang="en-US" sz="1600" dirty="0" smtClean="0">
                          <a:effectLst/>
                        </a:rPr>
                        <a:t>&lt;</a:t>
                      </a:r>
                      <a:r>
                        <a:rPr lang="en-US" sz="1600" dirty="0" err="1" smtClean="0">
                          <a:effectLst/>
                        </a:rPr>
                        <a:t>IdentityOperator</a:t>
                      </a:r>
                      <a:r>
                        <a:rPr lang="en-US" sz="1600" dirty="0" smtClean="0">
                          <a:effectLst/>
                        </a:rPr>
                        <a:t>&lt;FeH1&gt;, Double&gt;(1.0, </a:t>
                      </a:r>
                      <a:r>
                        <a:rPr lang="en-US" sz="1600" dirty="0" err="1" smtClean="0">
                          <a:effectLst/>
                        </a:rPr>
                        <a:t>coef</a:t>
                      </a:r>
                      <a:r>
                        <a:rPr lang="en-US" sz="1600" dirty="0" smtClean="0">
                          <a:effectLst/>
                        </a:rPr>
                        <a:t>[</a:t>
                      </a:r>
                      <a:r>
                        <a:rPr lang="en-US" sz="1600" dirty="0" err="1" smtClean="0">
                          <a:effectLst/>
                        </a:rPr>
                        <a:t>i</a:t>
                      </a:r>
                      <a:r>
                        <a:rPr lang="en-US" sz="1600" dirty="0" smtClean="0">
                          <a:effectLst/>
                        </a:rPr>
                        <a:t>], </a:t>
                      </a:r>
                      <a:r>
                        <a:rPr lang="en-US" sz="1600" dirty="0" err="1" smtClean="0">
                          <a:effectLst/>
                        </a:rPr>
                        <a:t>coefUpdateGeo</a:t>
                      </a:r>
                      <a:r>
                        <a:rPr lang="en-US" sz="1600" dirty="0" smtClean="0">
                          <a:effectLst/>
                        </a:rPr>
                        <a:t>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</a:t>
                      </a:r>
                      <a:r>
                        <a:rPr lang="en-US" sz="1600" dirty="0" err="1" smtClean="0">
                          <a:effectLst/>
                        </a:rPr>
                        <a:t>lin</a:t>
                      </a:r>
                      <a:r>
                        <a:rPr lang="en-US" sz="1600" dirty="0" smtClean="0">
                          <a:effectLst/>
                        </a:rPr>
                        <a:t>-&gt;</a:t>
                      </a:r>
                      <a:r>
                        <a:rPr lang="en-US" sz="1600" dirty="0" err="1" smtClean="0">
                          <a:effectLst/>
                        </a:rPr>
                        <a:t>SetName</a:t>
                      </a:r>
                      <a:r>
                        <a:rPr lang="en-US" sz="1600" dirty="0" smtClean="0">
                          <a:effectLst/>
                        </a:rPr>
                        <a:t>("</a:t>
                      </a:r>
                      <a:r>
                        <a:rPr lang="en-US" sz="1600" dirty="0" err="1" smtClean="0">
                          <a:effectLst/>
                        </a:rPr>
                        <a:t>TestSourceDensityInt</a:t>
                      </a:r>
                      <a:r>
                        <a:rPr lang="en-US" sz="1600" dirty="0" smtClean="0">
                          <a:effectLst/>
                        </a:rPr>
                        <a:t>");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</a:t>
                      </a:r>
                      <a:r>
                        <a:rPr lang="en-US" sz="1600" dirty="0" err="1" smtClean="0">
                          <a:effectLst/>
                        </a:rPr>
                        <a:t>LinearFormContext</a:t>
                      </a:r>
                      <a:r>
                        <a:rPr lang="en-US" sz="1600" dirty="0" smtClean="0">
                          <a:effectLst/>
                        </a:rPr>
                        <a:t> *</a:t>
                      </a:r>
                      <a:r>
                        <a:rPr lang="en-US" sz="1600" dirty="0" err="1" smtClean="0">
                          <a:effectLst/>
                        </a:rPr>
                        <a:t>ctx</a:t>
                      </a:r>
                      <a:r>
                        <a:rPr lang="en-US" sz="1600" dirty="0" smtClean="0">
                          <a:effectLst/>
                        </a:rPr>
                        <a:t> = new </a:t>
                      </a:r>
                      <a:r>
                        <a:rPr lang="en-US" sz="1600" dirty="0" err="1" smtClean="0">
                          <a:effectLst/>
                        </a:rPr>
                        <a:t>LinearFormContext</a:t>
                      </a:r>
                      <a:r>
                        <a:rPr lang="en-US" sz="1600" dirty="0" smtClean="0">
                          <a:effectLst/>
                        </a:rPr>
                        <a:t>( </a:t>
                      </a:r>
                      <a:r>
                        <a:rPr lang="en-US" sz="1600" dirty="0" err="1" smtClean="0">
                          <a:effectLst/>
                        </a:rPr>
                        <a:t>lin</a:t>
                      </a:r>
                      <a:r>
                        <a:rPr lang="en-US" sz="1600" dirty="0" smtClean="0">
                          <a:effectLst/>
                        </a:rPr>
                        <a:t> 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</a:t>
                      </a:r>
                      <a:r>
                        <a:rPr lang="en-US" sz="1600" dirty="0" err="1" smtClean="0">
                          <a:effectLst/>
                        </a:rPr>
                        <a:t>ctx</a:t>
                      </a:r>
                      <a:r>
                        <a:rPr lang="en-US" sz="1600" dirty="0" smtClean="0">
                          <a:effectLst/>
                        </a:rPr>
                        <a:t>-&gt;</a:t>
                      </a:r>
                      <a:r>
                        <a:rPr lang="en-US" sz="1600" dirty="0" err="1" smtClean="0">
                          <a:effectLst/>
                        </a:rPr>
                        <a:t>SetEntities</a:t>
                      </a:r>
                      <a:r>
                        <a:rPr lang="en-US" sz="1600" dirty="0" smtClean="0">
                          <a:effectLst/>
                        </a:rPr>
                        <a:t>( </a:t>
                      </a:r>
                      <a:r>
                        <a:rPr lang="en-US" sz="1600" dirty="0" err="1" smtClean="0">
                          <a:effectLst/>
                        </a:rPr>
                        <a:t>ent</a:t>
                      </a:r>
                      <a:r>
                        <a:rPr lang="en-US" sz="1600" dirty="0" smtClean="0">
                          <a:effectLst/>
                        </a:rPr>
                        <a:t>[</a:t>
                      </a:r>
                      <a:r>
                        <a:rPr lang="en-US" sz="1600" dirty="0" err="1" smtClean="0">
                          <a:effectLst/>
                        </a:rPr>
                        <a:t>i</a:t>
                      </a:r>
                      <a:r>
                        <a:rPr lang="en-US" sz="1600" dirty="0" smtClean="0">
                          <a:effectLst/>
                        </a:rPr>
                        <a:t>] 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</a:t>
                      </a:r>
                      <a:r>
                        <a:rPr lang="en-US" sz="1600" dirty="0" err="1" smtClean="0">
                          <a:effectLst/>
                        </a:rPr>
                        <a:t>ctx</a:t>
                      </a:r>
                      <a:r>
                        <a:rPr lang="en-US" sz="1600" dirty="0" smtClean="0">
                          <a:effectLst/>
                        </a:rPr>
                        <a:t>-&gt;</a:t>
                      </a:r>
                      <a:r>
                        <a:rPr lang="en-US" sz="1600" dirty="0" err="1" smtClean="0">
                          <a:effectLst/>
                        </a:rPr>
                        <a:t>SetFeFunction</a:t>
                      </a:r>
                      <a:r>
                        <a:rPr lang="en-US" sz="1600" dirty="0" smtClean="0">
                          <a:effectLst/>
                        </a:rPr>
                        <a:t>(</a:t>
                      </a:r>
                      <a:r>
                        <a:rPr lang="en-US" sz="1600" dirty="0" err="1" smtClean="0">
                          <a:effectLst/>
                        </a:rPr>
                        <a:t>myFct</a:t>
                      </a:r>
                      <a:r>
                        <a:rPr lang="en-US" sz="1600" dirty="0" smtClean="0">
                          <a:effectLst/>
                        </a:rPr>
                        <a:t>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     assemble_-&gt;</a:t>
                      </a:r>
                      <a:r>
                        <a:rPr lang="en-US" sz="1600" dirty="0" err="1" smtClean="0">
                          <a:effectLst/>
                        </a:rPr>
                        <a:t>AddLinearForm</a:t>
                      </a:r>
                      <a:r>
                        <a:rPr lang="en-US" sz="1600" dirty="0" smtClean="0">
                          <a:effectLst/>
                        </a:rPr>
                        <a:t>(</a:t>
                      </a:r>
                      <a:r>
                        <a:rPr lang="en-US" sz="1600" dirty="0" err="1" smtClean="0">
                          <a:effectLst/>
                        </a:rPr>
                        <a:t>ctx</a:t>
                      </a:r>
                      <a:r>
                        <a:rPr lang="en-US" sz="1600" dirty="0" smtClean="0">
                          <a:effectLst/>
                        </a:rPr>
                        <a:t>);</a:t>
                      </a:r>
                    </a:p>
                    <a:p>
                      <a:r>
                        <a:rPr lang="en-US" sz="1600" dirty="0" smtClean="0">
                          <a:effectLst/>
                        </a:rPr>
                        <a:t> } // for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51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Wahr"/>
  <p:tag name="EMBEDFONTS" val="Falsch"/>
  <p:tag name="USEBOLDAMS" val="Falsch"/>
  <p:tag name="DEFAULTDISPLAYSOURCE" val="\documentclass{slides}\pagestyle{empty}&#10;\usepackage{bm}&#10;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ch"/>
  <p:tag name="DEFAULTTRANSPARENT" val="Falsch"/>
  <p:tag name="DEFAULTWORKAROUNDTRANSPARENCYBUG" val="Falsch"/>
  <p:tag name="DEFAULTRESOLUTION" val="600"/>
  <p:tag name="DEFAULTMAGNIFICATION" val="0,8"/>
  <p:tag name="DEFAULTFONTSIZE" val="10"/>
  <p:tag name="DEFAULTWIDTH" val="603"/>
  <p:tag name="DEFAULTHEIGHT" val="42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bm}&#10;&#10;\begin{document}&#10;&#10;\[&#10;\int\limits_\Omega\,  \alpha\, v\, \frac{\partial u}{\partial t}\, {\rm d}\bm x&#10;+ \int\limits_\Omega\, \beta\, \nabla v \cdot \nabla u \, {\rm d}\bm x&#10;= \int\limits_\Omega\, v f\, {\rm d}\bm x&#10;\]&#10;&#10;\end{document}&#10;"/>
  <p:tag name="EXTERNALNAME" val="txp_fig"/>
  <p:tag name="BLEND" val="Falsch"/>
  <p:tag name="TRANSPARENT" val="Falsch"/>
  <p:tag name="KEEPFILES" val="Falsch"/>
  <p:tag name="DEBUGPAUSE" val="Falsch"/>
  <p:tag name="RESOLUTION" val="600"/>
  <p:tag name="TIMEOUT" val="(none)"/>
  <p:tag name="BOXWIDTH" val="603"/>
  <p:tag name="BOXHEIGHT" val="428"/>
  <p:tag name="BOXFONT" val="10"/>
  <p:tag name="BOXWRAP" val="Falsch"/>
  <p:tag name="WORKAROUNDTRANSPARENCYBUG" val="Falsch"/>
  <p:tag name="ALLOWFONTSUBSTITUTION" val="Falsch"/>
  <p:tag name="BITMAPFORMAT" val="pngmono"/>
  <p:tag name="ORIGWIDTH" val="720"/>
  <p:tag name="PICTUREFILESIZE" val="117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bm}&#10;&#10;\begin{document}&#10;\[&#10;u = u_{\rm e} \ \ \hbox{on $\Gamma$}&#10;\]&#10;&#10;\end{document}&#10;"/>
  <p:tag name="EXTERNALNAME" val="txp_fig"/>
  <p:tag name="BLEND" val="Falsch"/>
  <p:tag name="TRANSPARENT" val="Falsch"/>
  <p:tag name="KEEPFILES" val="Falsch"/>
  <p:tag name="DEBUGPAUSE" val="Falsch"/>
  <p:tag name="RESOLUTION" val="600"/>
  <p:tag name="TIMEOUT" val="(none)"/>
  <p:tag name="BOXWIDTH" val="603"/>
  <p:tag name="BOXHEIGHT" val="428"/>
  <p:tag name="BOXFONT" val="10"/>
  <p:tag name="BOXWRAP" val="Falsch"/>
  <p:tag name="WORKAROUNDTRANSPARENCYBUG" val="Falsch"/>
  <p:tag name="ALLOWFONTSUBSTITUTION" val="Falsch"/>
  <p:tag name="BITMAPFORMAT" val="pngmono"/>
  <p:tag name="ORIGWIDTH" val="720"/>
  <p:tag name="PICTUREFILESIZE" val="169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bm}&#10;&#10;\begin{document}&#10;&#10;\[&#10;\alpha \frac{\partial u}{\partial t} - \nabla \cdot \beta \nabla u = f\,;&#10;\]&#10;&#10;\end{document}&#10;"/>
  <p:tag name="EXTERNALNAME" val="txp_fig"/>
  <p:tag name="BLEND" val="Falsch"/>
  <p:tag name="TRANSPARENT" val="Falsch"/>
  <p:tag name="KEEPFILES" val="Falsch"/>
  <p:tag name="DEBUGPAUSE" val="Falsch"/>
  <p:tag name="RESOLUTION" val="600"/>
  <p:tag name="TIMEOUT" val="(none)"/>
  <p:tag name="BOXWIDTH" val="603"/>
  <p:tag name="BOXHEIGHT" val="428"/>
  <p:tag name="BOXFONT" val="10"/>
  <p:tag name="BOXWRAP" val="Falsch"/>
  <p:tag name="WORKAROUNDTRANSPARENCYBUG" val="Falsch"/>
  <p:tag name="ALLOWFONTSUBSTITUTION" val="Falsch"/>
  <p:tag name="BITMAPFORMAT" val="pngmono"/>
  <p:tag name="ORIGWIDTH" val="720"/>
  <p:tag name="PICTUREFILESIZE" val="504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bm}&#10;&#10;\begin{document}&#10;\[&#10;u = u_{\rm e} \ \ \hbox{on $\Gamma$}&#10;\]&#10;&#10;\end{document}&#10;"/>
  <p:tag name="EXTERNALNAME" val="txp_fig"/>
  <p:tag name="BLEND" val="Falsch"/>
  <p:tag name="TRANSPARENT" val="Falsch"/>
  <p:tag name="KEEPFILES" val="Falsch"/>
  <p:tag name="DEBUGPAUSE" val="Falsch"/>
  <p:tag name="RESOLUTION" val="600"/>
  <p:tag name="TIMEOUT" val="(none)"/>
  <p:tag name="BOXWIDTH" val="603"/>
  <p:tag name="BOXHEIGHT" val="428"/>
  <p:tag name="BOXFONT" val="10"/>
  <p:tag name="BOXWRAP" val="Falsch"/>
  <p:tag name="WORKAROUNDTRANSPARENCYBUG" val="Falsch"/>
  <p:tag name="ALLOWFONTSUBSTITUTION" val="Falsch"/>
  <p:tag name="BITMAPFORMAT" val="pngmono"/>
  <p:tag name="ORIGWIDTH" val="720"/>
  <p:tag name="PICTUREFILESIZE" val="1690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2669</Words>
  <Application>Microsoft Office PowerPoint</Application>
  <PresentationFormat>Bildschirmpräsentation (4:3)</PresentationFormat>
  <Paragraphs>717</Paragraphs>
  <Slides>24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25" baseType="lpstr">
      <vt:lpstr>Larissa</vt:lpstr>
      <vt:lpstr>PowerPoint-Präsentation</vt:lpstr>
      <vt:lpstr>Test PDE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Main Steps</vt:lpstr>
      <vt:lpstr>Calling Structure</vt:lpstr>
      <vt:lpstr>RHS - Linearform</vt:lpstr>
    </vt:vector>
  </TitlesOfParts>
  <Company>TU Wien - Campusversion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</dc:title>
  <dc:creator>Manfred</dc:creator>
  <cp:lastModifiedBy>Manfred</cp:lastModifiedBy>
  <cp:revision>500</cp:revision>
  <cp:lastPrinted>2012-09-04T10:03:22Z</cp:lastPrinted>
  <dcterms:created xsi:type="dcterms:W3CDTF">2012-08-27T12:05:20Z</dcterms:created>
  <dcterms:modified xsi:type="dcterms:W3CDTF">2013-07-01T17:58:55Z</dcterms:modified>
</cp:coreProperties>
</file>