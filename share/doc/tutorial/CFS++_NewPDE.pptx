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77" r:id="rId2"/>
    <p:sldId id="446" r:id="rId3"/>
    <p:sldId id="448" r:id="rId4"/>
    <p:sldId id="449" r:id="rId5"/>
    <p:sldId id="450" r:id="rId6"/>
    <p:sldId id="451" r:id="rId7"/>
    <p:sldId id="465" r:id="rId8"/>
    <p:sldId id="452" r:id="rId9"/>
    <p:sldId id="453" r:id="rId10"/>
    <p:sldId id="454" r:id="rId11"/>
    <p:sldId id="455" r:id="rId12"/>
    <p:sldId id="456" r:id="rId13"/>
    <p:sldId id="466" r:id="rId14"/>
    <p:sldId id="457" r:id="rId15"/>
    <p:sldId id="458" r:id="rId16"/>
    <p:sldId id="459" r:id="rId17"/>
    <p:sldId id="460" r:id="rId18"/>
    <p:sldId id="461" r:id="rId19"/>
    <p:sldId id="462" r:id="rId20"/>
    <p:sldId id="463" r:id="rId21"/>
    <p:sldId id="467" r:id="rId22"/>
    <p:sldId id="464" r:id="rId23"/>
    <p:sldId id="469" r:id="rId24"/>
    <p:sldId id="447" r:id="rId25"/>
    <p:sldId id="468" r:id="rId26"/>
  </p:sldIdLst>
  <p:sldSz cx="9144000" cy="6858000" type="screen4x3"/>
  <p:notesSz cx="6811963" cy="9942513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54" autoAdjust="0"/>
    <p:restoredTop sz="93837" autoAdjust="0"/>
  </p:normalViewPr>
  <p:slideViewPr>
    <p:cSldViewPr snapToGrid="0">
      <p:cViewPr>
        <p:scale>
          <a:sx n="100" d="100"/>
          <a:sy n="100" d="100"/>
        </p:scale>
        <p:origin x="-3192" y="-9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16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9213" y="0"/>
            <a:ext cx="295116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6632C7-A46A-4A61-B87F-C305BE696B05}" type="datetimeFigureOut">
              <a:rPr lang="en-US" smtClean="0"/>
              <a:t>4/1/2014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44038"/>
            <a:ext cx="295116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9213" y="9444038"/>
            <a:ext cx="2951162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0D8A8-E489-47CD-9481-D2CFCB060DA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3181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851" cy="4971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8536" y="0"/>
            <a:ext cx="2951851" cy="4971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C3315-6D57-46FA-A30C-59ECC2CC792E}" type="datetimeFigureOut">
              <a:rPr lang="en-US" smtClean="0"/>
              <a:t>4/1/2014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22338" y="746125"/>
            <a:ext cx="4967287" cy="3727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1197" y="4722694"/>
            <a:ext cx="5449570" cy="44741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51851" cy="4971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8536" y="9443662"/>
            <a:ext cx="2951851" cy="4971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75916-1A84-4714-97C4-EFF1309E833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6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975916-1A84-4714-97C4-EFF1309E833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472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1412776"/>
            <a:ext cx="7772400" cy="1470025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smtClean="0"/>
              <a:t>Titelmasterformat durch Klicken bearbeiten</a:t>
            </a:r>
            <a:endParaRPr lang="en-US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168551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 smtClean="0"/>
              <a:t>Formatvorlage des Untertitelmasters durch Klicken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1622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256584"/>
          </a:xfrm>
        </p:spPr>
        <p:txBody>
          <a:bodyPr/>
          <a:lstStyle>
            <a:lvl1pPr marL="342900" indent="-342900">
              <a:buFont typeface="Wingdings" pitchFamily="2" charset="2"/>
              <a:buChar char="q"/>
              <a:defRPr/>
            </a:lvl1pPr>
            <a:lvl2pPr marL="742950" indent="-285750">
              <a:buFont typeface="Wingdings" pitchFamily="2" charset="2"/>
              <a:buChar char="Ø"/>
              <a:defRPr/>
            </a:lvl2pPr>
          </a:lstStyle>
          <a:p>
            <a:pPr lvl="0"/>
            <a:r>
              <a:rPr lang="de-DE" dirty="0" smtClean="0"/>
              <a:t>Textmasterformat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8323555" y="6444614"/>
            <a:ext cx="69344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840D37D5-2D62-4019-B603-311C6B5CF006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7982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51520" y="116632"/>
            <a:ext cx="6707088" cy="3460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 smtClean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51520" y="764704"/>
            <a:ext cx="8568952" cy="5472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 smtClean="0"/>
              <a:t>Textmasterformat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en-US" dirty="0"/>
          </a:p>
        </p:txBody>
      </p:sp>
      <p:sp>
        <p:nvSpPr>
          <p:cNvPr id="8" name="Text Box 82"/>
          <p:cNvSpPr txBox="1">
            <a:spLocks noChangeArrowheads="1"/>
          </p:cNvSpPr>
          <p:nvPr userDrawn="1"/>
        </p:nvSpPr>
        <p:spPr bwMode="auto">
          <a:xfrm>
            <a:off x="2597544" y="6474733"/>
            <a:ext cx="5323830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sz="1500" dirty="0" smtClean="0"/>
              <a:t>CFS++</a:t>
            </a:r>
            <a:r>
              <a:rPr lang="en-US" sz="1500" baseline="0" dirty="0" smtClean="0"/>
              <a:t> - Tutorial: Part IV,  2013</a:t>
            </a:r>
            <a:endParaRPr lang="en-US" sz="1500" b="1" noProof="0" dirty="0"/>
          </a:p>
        </p:txBody>
      </p:sp>
      <p:sp>
        <p:nvSpPr>
          <p:cNvPr id="10" name="Line 40"/>
          <p:cNvSpPr>
            <a:spLocks noChangeShapeType="1"/>
          </p:cNvSpPr>
          <p:nvPr userDrawn="1"/>
        </p:nvSpPr>
        <p:spPr bwMode="auto">
          <a:xfrm>
            <a:off x="0" y="476672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7" name="Line 40"/>
          <p:cNvSpPr>
            <a:spLocks noChangeShapeType="1"/>
          </p:cNvSpPr>
          <p:nvPr userDrawn="1"/>
        </p:nvSpPr>
        <p:spPr bwMode="auto">
          <a:xfrm>
            <a:off x="0" y="6373236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/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" t="4427" r="850" b="3910"/>
          <a:stretch/>
        </p:blipFill>
        <p:spPr>
          <a:xfrm>
            <a:off x="63499" y="6413979"/>
            <a:ext cx="2242821" cy="408836"/>
          </a:xfrm>
          <a:prstGeom prst="rect">
            <a:avLst/>
          </a:prstGeom>
        </p:spPr>
      </p:pic>
      <p:grpSp>
        <p:nvGrpSpPr>
          <p:cNvPr id="12" name="Gruppieren 11"/>
          <p:cNvGrpSpPr/>
          <p:nvPr userDrawn="1"/>
        </p:nvGrpSpPr>
        <p:grpSpPr>
          <a:xfrm>
            <a:off x="85725" y="6437313"/>
            <a:ext cx="814706" cy="381000"/>
            <a:chOff x="85725" y="6203633"/>
            <a:chExt cx="814706" cy="381000"/>
          </a:xfrm>
        </p:grpSpPr>
        <p:sp>
          <p:nvSpPr>
            <p:cNvPr id="13" name="Freeform 6"/>
            <p:cNvSpPr>
              <a:spLocks noEditPoints="1"/>
            </p:cNvSpPr>
            <p:nvPr userDrawn="1"/>
          </p:nvSpPr>
          <p:spPr bwMode="auto">
            <a:xfrm>
              <a:off x="85725" y="6203633"/>
              <a:ext cx="379413" cy="381000"/>
            </a:xfrm>
            <a:custGeom>
              <a:avLst/>
              <a:gdLst>
                <a:gd name="T0" fmla="*/ 1088 w 1209"/>
                <a:gd name="T1" fmla="*/ 0 h 1209"/>
                <a:gd name="T2" fmla="*/ 1088 w 1209"/>
                <a:gd name="T3" fmla="*/ 0 h 1209"/>
                <a:gd name="T4" fmla="*/ 1209 w 1209"/>
                <a:gd name="T5" fmla="*/ 120 h 1209"/>
                <a:gd name="T6" fmla="*/ 1209 w 1209"/>
                <a:gd name="T7" fmla="*/ 1087 h 1209"/>
                <a:gd name="T8" fmla="*/ 1088 w 1209"/>
                <a:gd name="T9" fmla="*/ 1209 h 1209"/>
                <a:gd name="T10" fmla="*/ 120 w 1209"/>
                <a:gd name="T11" fmla="*/ 1209 h 1209"/>
                <a:gd name="T12" fmla="*/ 0 w 1209"/>
                <a:gd name="T13" fmla="*/ 1087 h 1209"/>
                <a:gd name="T14" fmla="*/ 0 w 1209"/>
                <a:gd name="T15" fmla="*/ 120 h 1209"/>
                <a:gd name="T16" fmla="*/ 120 w 1209"/>
                <a:gd name="T17" fmla="*/ 0 h 1209"/>
                <a:gd name="T18" fmla="*/ 1088 w 1209"/>
                <a:gd name="T19" fmla="*/ 0 h 1209"/>
                <a:gd name="T20" fmla="*/ 1088 w 1209"/>
                <a:gd name="T21" fmla="*/ 0 h 1209"/>
                <a:gd name="T22" fmla="*/ 1088 w 1209"/>
                <a:gd name="T23" fmla="*/ 0 h 1209"/>
                <a:gd name="T24" fmla="*/ 1088 w 1209"/>
                <a:gd name="T25" fmla="*/ 0 h 12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09" h="1209">
                  <a:moveTo>
                    <a:pt x="1088" y="0"/>
                  </a:moveTo>
                  <a:lnTo>
                    <a:pt x="1088" y="0"/>
                  </a:lnTo>
                  <a:cubicBezTo>
                    <a:pt x="1155" y="0"/>
                    <a:pt x="1209" y="53"/>
                    <a:pt x="1209" y="120"/>
                  </a:cubicBezTo>
                  <a:lnTo>
                    <a:pt x="1209" y="1087"/>
                  </a:lnTo>
                  <a:cubicBezTo>
                    <a:pt x="1209" y="1154"/>
                    <a:pt x="1155" y="1209"/>
                    <a:pt x="1088" y="1209"/>
                  </a:cubicBezTo>
                  <a:lnTo>
                    <a:pt x="120" y="1209"/>
                  </a:lnTo>
                  <a:cubicBezTo>
                    <a:pt x="54" y="1209"/>
                    <a:pt x="0" y="1154"/>
                    <a:pt x="0" y="1087"/>
                  </a:cubicBezTo>
                  <a:lnTo>
                    <a:pt x="0" y="120"/>
                  </a:lnTo>
                  <a:cubicBezTo>
                    <a:pt x="0" y="53"/>
                    <a:pt x="54" y="0"/>
                    <a:pt x="120" y="0"/>
                  </a:cubicBezTo>
                  <a:lnTo>
                    <a:pt x="1088" y="0"/>
                  </a:lnTo>
                  <a:lnTo>
                    <a:pt x="1088" y="0"/>
                  </a:lnTo>
                  <a:close/>
                  <a:moveTo>
                    <a:pt x="1088" y="0"/>
                  </a:moveTo>
                  <a:lnTo>
                    <a:pt x="1088" y="0"/>
                  </a:lnTo>
                  <a:close/>
                </a:path>
              </a:pathLst>
            </a:custGeom>
            <a:solidFill>
              <a:srgbClr val="0066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4" name="Freeform 7"/>
            <p:cNvSpPr>
              <a:spLocks noEditPoints="1"/>
            </p:cNvSpPr>
            <p:nvPr userDrawn="1"/>
          </p:nvSpPr>
          <p:spPr bwMode="auto">
            <a:xfrm>
              <a:off x="166688" y="6294121"/>
              <a:ext cx="39688" cy="134938"/>
            </a:xfrm>
            <a:custGeom>
              <a:avLst/>
              <a:gdLst>
                <a:gd name="T0" fmla="*/ 0 w 129"/>
                <a:gd name="T1" fmla="*/ 0 h 429"/>
                <a:gd name="T2" fmla="*/ 0 w 129"/>
                <a:gd name="T3" fmla="*/ 0 h 429"/>
                <a:gd name="T4" fmla="*/ 129 w 129"/>
                <a:gd name="T5" fmla="*/ 0 h 429"/>
                <a:gd name="T6" fmla="*/ 129 w 129"/>
                <a:gd name="T7" fmla="*/ 429 h 429"/>
                <a:gd name="T8" fmla="*/ 0 w 129"/>
                <a:gd name="T9" fmla="*/ 429 h 429"/>
                <a:gd name="T10" fmla="*/ 0 w 129"/>
                <a:gd name="T11" fmla="*/ 0 h 429"/>
                <a:gd name="T12" fmla="*/ 0 w 129"/>
                <a:gd name="T13" fmla="*/ 0 h 429"/>
                <a:gd name="T14" fmla="*/ 0 w 129"/>
                <a:gd name="T15" fmla="*/ 0 h 429"/>
                <a:gd name="T16" fmla="*/ 0 w 129"/>
                <a:gd name="T17" fmla="*/ 0 h 4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429">
                  <a:moveTo>
                    <a:pt x="0" y="0"/>
                  </a:moveTo>
                  <a:lnTo>
                    <a:pt x="0" y="0"/>
                  </a:lnTo>
                  <a:lnTo>
                    <a:pt x="129" y="0"/>
                  </a:lnTo>
                  <a:lnTo>
                    <a:pt x="129" y="429"/>
                  </a:lnTo>
                  <a:lnTo>
                    <a:pt x="0" y="42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114300" y="6241733"/>
              <a:ext cx="142875" cy="39688"/>
            </a:xfrm>
            <a:custGeom>
              <a:avLst/>
              <a:gdLst>
                <a:gd name="T0" fmla="*/ 0 w 451"/>
                <a:gd name="T1" fmla="*/ 0 h 129"/>
                <a:gd name="T2" fmla="*/ 0 w 451"/>
                <a:gd name="T3" fmla="*/ 0 h 129"/>
                <a:gd name="T4" fmla="*/ 451 w 451"/>
                <a:gd name="T5" fmla="*/ 0 h 129"/>
                <a:gd name="T6" fmla="*/ 451 w 451"/>
                <a:gd name="T7" fmla="*/ 129 h 129"/>
                <a:gd name="T8" fmla="*/ 0 w 451"/>
                <a:gd name="T9" fmla="*/ 129 h 129"/>
                <a:gd name="T10" fmla="*/ 0 w 451"/>
                <a:gd name="T11" fmla="*/ 0 h 129"/>
                <a:gd name="T12" fmla="*/ 0 w 451"/>
                <a:gd name="T13" fmla="*/ 0 h 129"/>
                <a:gd name="T14" fmla="*/ 0 w 451"/>
                <a:gd name="T15" fmla="*/ 0 h 129"/>
                <a:gd name="T16" fmla="*/ 0 w 451"/>
                <a:gd name="T17" fmla="*/ 0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51" h="129">
                  <a:moveTo>
                    <a:pt x="0" y="0"/>
                  </a:moveTo>
                  <a:lnTo>
                    <a:pt x="0" y="0"/>
                  </a:lnTo>
                  <a:lnTo>
                    <a:pt x="451" y="0"/>
                  </a:lnTo>
                  <a:lnTo>
                    <a:pt x="451" y="129"/>
                  </a:lnTo>
                  <a:lnTo>
                    <a:pt x="0" y="12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6" name="Freeform 9"/>
            <p:cNvSpPr>
              <a:spLocks noEditPoints="1"/>
            </p:cNvSpPr>
            <p:nvPr userDrawn="1"/>
          </p:nvSpPr>
          <p:spPr bwMode="auto">
            <a:xfrm>
              <a:off x="117475" y="6478271"/>
              <a:ext cx="82550" cy="68263"/>
            </a:xfrm>
            <a:custGeom>
              <a:avLst/>
              <a:gdLst>
                <a:gd name="T0" fmla="*/ 262 w 262"/>
                <a:gd name="T1" fmla="*/ 0 h 213"/>
                <a:gd name="T2" fmla="*/ 262 w 262"/>
                <a:gd name="T3" fmla="*/ 0 h 213"/>
                <a:gd name="T4" fmla="*/ 219 w 262"/>
                <a:gd name="T5" fmla="*/ 0 h 213"/>
                <a:gd name="T6" fmla="*/ 186 w 262"/>
                <a:gd name="T7" fmla="*/ 134 h 213"/>
                <a:gd name="T8" fmla="*/ 147 w 262"/>
                <a:gd name="T9" fmla="*/ 0 h 213"/>
                <a:gd name="T10" fmla="*/ 115 w 262"/>
                <a:gd name="T11" fmla="*/ 0 h 213"/>
                <a:gd name="T12" fmla="*/ 77 w 262"/>
                <a:gd name="T13" fmla="*/ 134 h 213"/>
                <a:gd name="T14" fmla="*/ 44 w 262"/>
                <a:gd name="T15" fmla="*/ 0 h 213"/>
                <a:gd name="T16" fmla="*/ 0 w 262"/>
                <a:gd name="T17" fmla="*/ 0 h 213"/>
                <a:gd name="T18" fmla="*/ 57 w 262"/>
                <a:gd name="T19" fmla="*/ 213 h 213"/>
                <a:gd name="T20" fmla="*/ 92 w 262"/>
                <a:gd name="T21" fmla="*/ 213 h 213"/>
                <a:gd name="T22" fmla="*/ 131 w 262"/>
                <a:gd name="T23" fmla="*/ 84 h 213"/>
                <a:gd name="T24" fmla="*/ 170 w 262"/>
                <a:gd name="T25" fmla="*/ 213 h 213"/>
                <a:gd name="T26" fmla="*/ 205 w 262"/>
                <a:gd name="T27" fmla="*/ 213 h 213"/>
                <a:gd name="T28" fmla="*/ 262 w 262"/>
                <a:gd name="T29" fmla="*/ 0 h 213"/>
                <a:gd name="T30" fmla="*/ 262 w 262"/>
                <a:gd name="T31" fmla="*/ 0 h 213"/>
                <a:gd name="T32" fmla="*/ 262 w 262"/>
                <a:gd name="T33" fmla="*/ 0 h 213"/>
                <a:gd name="T34" fmla="*/ 262 w 262"/>
                <a:gd name="T35" fmla="*/ 0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62" h="213">
                  <a:moveTo>
                    <a:pt x="262" y="0"/>
                  </a:moveTo>
                  <a:lnTo>
                    <a:pt x="262" y="0"/>
                  </a:lnTo>
                  <a:lnTo>
                    <a:pt x="219" y="0"/>
                  </a:lnTo>
                  <a:lnTo>
                    <a:pt x="186" y="134"/>
                  </a:lnTo>
                  <a:lnTo>
                    <a:pt x="147" y="0"/>
                  </a:lnTo>
                  <a:lnTo>
                    <a:pt x="115" y="0"/>
                  </a:lnTo>
                  <a:lnTo>
                    <a:pt x="77" y="134"/>
                  </a:lnTo>
                  <a:lnTo>
                    <a:pt x="44" y="0"/>
                  </a:lnTo>
                  <a:lnTo>
                    <a:pt x="0" y="0"/>
                  </a:lnTo>
                  <a:lnTo>
                    <a:pt x="57" y="213"/>
                  </a:lnTo>
                  <a:lnTo>
                    <a:pt x="92" y="213"/>
                  </a:lnTo>
                  <a:lnTo>
                    <a:pt x="131" y="84"/>
                  </a:lnTo>
                  <a:lnTo>
                    <a:pt x="170" y="213"/>
                  </a:lnTo>
                  <a:lnTo>
                    <a:pt x="205" y="213"/>
                  </a:lnTo>
                  <a:lnTo>
                    <a:pt x="262" y="0"/>
                  </a:lnTo>
                  <a:lnTo>
                    <a:pt x="262" y="0"/>
                  </a:lnTo>
                  <a:close/>
                  <a:moveTo>
                    <a:pt x="262" y="0"/>
                  </a:moveTo>
                  <a:lnTo>
                    <a:pt x="26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7" name="Freeform 10"/>
            <p:cNvSpPr>
              <a:spLocks noEditPoints="1"/>
            </p:cNvSpPr>
            <p:nvPr userDrawn="1"/>
          </p:nvSpPr>
          <p:spPr bwMode="auto">
            <a:xfrm>
              <a:off x="374650" y="6478271"/>
              <a:ext cx="52388" cy="66675"/>
            </a:xfrm>
            <a:custGeom>
              <a:avLst/>
              <a:gdLst>
                <a:gd name="T0" fmla="*/ 163 w 163"/>
                <a:gd name="T1" fmla="*/ 213 h 213"/>
                <a:gd name="T2" fmla="*/ 163 w 163"/>
                <a:gd name="T3" fmla="*/ 213 h 213"/>
                <a:gd name="T4" fmla="*/ 163 w 163"/>
                <a:gd name="T5" fmla="*/ 0 h 213"/>
                <a:gd name="T6" fmla="*/ 121 w 163"/>
                <a:gd name="T7" fmla="*/ 0 h 213"/>
                <a:gd name="T8" fmla="*/ 121 w 163"/>
                <a:gd name="T9" fmla="*/ 131 h 213"/>
                <a:gd name="T10" fmla="*/ 37 w 163"/>
                <a:gd name="T11" fmla="*/ 0 h 213"/>
                <a:gd name="T12" fmla="*/ 0 w 163"/>
                <a:gd name="T13" fmla="*/ 0 h 213"/>
                <a:gd name="T14" fmla="*/ 0 w 163"/>
                <a:gd name="T15" fmla="*/ 213 h 213"/>
                <a:gd name="T16" fmla="*/ 42 w 163"/>
                <a:gd name="T17" fmla="*/ 213 h 213"/>
                <a:gd name="T18" fmla="*/ 42 w 163"/>
                <a:gd name="T19" fmla="*/ 83 h 213"/>
                <a:gd name="T20" fmla="*/ 126 w 163"/>
                <a:gd name="T21" fmla="*/ 213 h 213"/>
                <a:gd name="T22" fmla="*/ 163 w 163"/>
                <a:gd name="T23" fmla="*/ 213 h 213"/>
                <a:gd name="T24" fmla="*/ 163 w 163"/>
                <a:gd name="T25" fmla="*/ 213 h 213"/>
                <a:gd name="T26" fmla="*/ 163 w 163"/>
                <a:gd name="T27" fmla="*/ 213 h 213"/>
                <a:gd name="T28" fmla="*/ 163 w 163"/>
                <a:gd name="T29" fmla="*/ 213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3" h="213">
                  <a:moveTo>
                    <a:pt x="163" y="213"/>
                  </a:moveTo>
                  <a:lnTo>
                    <a:pt x="163" y="213"/>
                  </a:lnTo>
                  <a:lnTo>
                    <a:pt x="163" y="0"/>
                  </a:lnTo>
                  <a:lnTo>
                    <a:pt x="121" y="0"/>
                  </a:lnTo>
                  <a:lnTo>
                    <a:pt x="121" y="131"/>
                  </a:lnTo>
                  <a:lnTo>
                    <a:pt x="37" y="0"/>
                  </a:lnTo>
                  <a:lnTo>
                    <a:pt x="0" y="0"/>
                  </a:lnTo>
                  <a:lnTo>
                    <a:pt x="0" y="213"/>
                  </a:lnTo>
                  <a:lnTo>
                    <a:pt x="42" y="213"/>
                  </a:lnTo>
                  <a:lnTo>
                    <a:pt x="42" y="83"/>
                  </a:lnTo>
                  <a:lnTo>
                    <a:pt x="126" y="213"/>
                  </a:lnTo>
                  <a:lnTo>
                    <a:pt x="163" y="213"/>
                  </a:lnTo>
                  <a:lnTo>
                    <a:pt x="163" y="213"/>
                  </a:lnTo>
                  <a:close/>
                  <a:moveTo>
                    <a:pt x="163" y="213"/>
                  </a:moveTo>
                  <a:lnTo>
                    <a:pt x="163" y="21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8" name="Freeform 11"/>
            <p:cNvSpPr>
              <a:spLocks noEditPoints="1"/>
            </p:cNvSpPr>
            <p:nvPr userDrawn="1"/>
          </p:nvSpPr>
          <p:spPr bwMode="auto">
            <a:xfrm>
              <a:off x="288925" y="6478271"/>
              <a:ext cx="44450" cy="66675"/>
            </a:xfrm>
            <a:custGeom>
              <a:avLst/>
              <a:gdLst>
                <a:gd name="T0" fmla="*/ 140 w 140"/>
                <a:gd name="T1" fmla="*/ 213 h 213"/>
                <a:gd name="T2" fmla="*/ 140 w 140"/>
                <a:gd name="T3" fmla="*/ 213 h 213"/>
                <a:gd name="T4" fmla="*/ 140 w 140"/>
                <a:gd name="T5" fmla="*/ 176 h 213"/>
                <a:gd name="T6" fmla="*/ 42 w 140"/>
                <a:gd name="T7" fmla="*/ 176 h 213"/>
                <a:gd name="T8" fmla="*/ 42 w 140"/>
                <a:gd name="T9" fmla="*/ 125 h 213"/>
                <a:gd name="T10" fmla="*/ 125 w 140"/>
                <a:gd name="T11" fmla="*/ 125 h 213"/>
                <a:gd name="T12" fmla="*/ 125 w 140"/>
                <a:gd name="T13" fmla="*/ 87 h 213"/>
                <a:gd name="T14" fmla="*/ 42 w 140"/>
                <a:gd name="T15" fmla="*/ 87 h 213"/>
                <a:gd name="T16" fmla="*/ 42 w 140"/>
                <a:gd name="T17" fmla="*/ 38 h 213"/>
                <a:gd name="T18" fmla="*/ 140 w 140"/>
                <a:gd name="T19" fmla="*/ 38 h 213"/>
                <a:gd name="T20" fmla="*/ 140 w 140"/>
                <a:gd name="T21" fmla="*/ 0 h 213"/>
                <a:gd name="T22" fmla="*/ 0 w 140"/>
                <a:gd name="T23" fmla="*/ 0 h 213"/>
                <a:gd name="T24" fmla="*/ 0 w 140"/>
                <a:gd name="T25" fmla="*/ 213 h 213"/>
                <a:gd name="T26" fmla="*/ 140 w 140"/>
                <a:gd name="T27" fmla="*/ 213 h 213"/>
                <a:gd name="T28" fmla="*/ 140 w 140"/>
                <a:gd name="T29" fmla="*/ 213 h 213"/>
                <a:gd name="T30" fmla="*/ 140 w 140"/>
                <a:gd name="T31" fmla="*/ 213 h 213"/>
                <a:gd name="T32" fmla="*/ 140 w 140"/>
                <a:gd name="T33" fmla="*/ 213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0" h="213">
                  <a:moveTo>
                    <a:pt x="140" y="213"/>
                  </a:moveTo>
                  <a:lnTo>
                    <a:pt x="140" y="213"/>
                  </a:lnTo>
                  <a:lnTo>
                    <a:pt x="140" y="176"/>
                  </a:lnTo>
                  <a:lnTo>
                    <a:pt x="42" y="176"/>
                  </a:lnTo>
                  <a:lnTo>
                    <a:pt x="42" y="125"/>
                  </a:lnTo>
                  <a:lnTo>
                    <a:pt x="125" y="125"/>
                  </a:lnTo>
                  <a:lnTo>
                    <a:pt x="125" y="87"/>
                  </a:lnTo>
                  <a:lnTo>
                    <a:pt x="42" y="87"/>
                  </a:lnTo>
                  <a:lnTo>
                    <a:pt x="42" y="38"/>
                  </a:lnTo>
                  <a:lnTo>
                    <a:pt x="140" y="38"/>
                  </a:lnTo>
                  <a:lnTo>
                    <a:pt x="140" y="0"/>
                  </a:lnTo>
                  <a:lnTo>
                    <a:pt x="0" y="0"/>
                  </a:lnTo>
                  <a:lnTo>
                    <a:pt x="0" y="213"/>
                  </a:lnTo>
                  <a:lnTo>
                    <a:pt x="140" y="213"/>
                  </a:lnTo>
                  <a:lnTo>
                    <a:pt x="140" y="213"/>
                  </a:lnTo>
                  <a:close/>
                  <a:moveTo>
                    <a:pt x="140" y="213"/>
                  </a:moveTo>
                  <a:lnTo>
                    <a:pt x="140" y="21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19" name="Freeform 12"/>
            <p:cNvSpPr>
              <a:spLocks noEditPoints="1"/>
            </p:cNvSpPr>
            <p:nvPr userDrawn="1"/>
          </p:nvSpPr>
          <p:spPr bwMode="auto">
            <a:xfrm>
              <a:off x="231775" y="6478271"/>
              <a:ext cx="12700" cy="66675"/>
            </a:xfrm>
            <a:custGeom>
              <a:avLst/>
              <a:gdLst>
                <a:gd name="T0" fmla="*/ 42 w 42"/>
                <a:gd name="T1" fmla="*/ 0 h 213"/>
                <a:gd name="T2" fmla="*/ 42 w 42"/>
                <a:gd name="T3" fmla="*/ 0 h 213"/>
                <a:gd name="T4" fmla="*/ 0 w 42"/>
                <a:gd name="T5" fmla="*/ 0 h 213"/>
                <a:gd name="T6" fmla="*/ 0 w 42"/>
                <a:gd name="T7" fmla="*/ 213 h 213"/>
                <a:gd name="T8" fmla="*/ 42 w 42"/>
                <a:gd name="T9" fmla="*/ 213 h 213"/>
                <a:gd name="T10" fmla="*/ 42 w 42"/>
                <a:gd name="T11" fmla="*/ 0 h 213"/>
                <a:gd name="T12" fmla="*/ 42 w 42"/>
                <a:gd name="T13" fmla="*/ 0 h 213"/>
                <a:gd name="T14" fmla="*/ 42 w 42"/>
                <a:gd name="T15" fmla="*/ 0 h 213"/>
                <a:gd name="T16" fmla="*/ 42 w 42"/>
                <a:gd name="T17" fmla="*/ 0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" h="213">
                  <a:moveTo>
                    <a:pt x="42" y="0"/>
                  </a:moveTo>
                  <a:lnTo>
                    <a:pt x="42" y="0"/>
                  </a:lnTo>
                  <a:lnTo>
                    <a:pt x="0" y="0"/>
                  </a:lnTo>
                  <a:lnTo>
                    <a:pt x="0" y="213"/>
                  </a:lnTo>
                  <a:lnTo>
                    <a:pt x="42" y="213"/>
                  </a:lnTo>
                  <a:lnTo>
                    <a:pt x="42" y="0"/>
                  </a:lnTo>
                  <a:lnTo>
                    <a:pt x="42" y="0"/>
                  </a:lnTo>
                  <a:close/>
                  <a:moveTo>
                    <a:pt x="42" y="0"/>
                  </a:moveTo>
                  <a:lnTo>
                    <a:pt x="4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0" name="Freeform 13"/>
            <p:cNvSpPr>
              <a:spLocks noEditPoints="1"/>
            </p:cNvSpPr>
            <p:nvPr userDrawn="1"/>
          </p:nvSpPr>
          <p:spPr bwMode="auto">
            <a:xfrm>
              <a:off x="274638" y="6241733"/>
              <a:ext cx="69850" cy="188913"/>
            </a:xfrm>
            <a:custGeom>
              <a:avLst/>
              <a:gdLst>
                <a:gd name="T0" fmla="*/ 222 w 222"/>
                <a:gd name="T1" fmla="*/ 599 h 599"/>
                <a:gd name="T2" fmla="*/ 222 w 222"/>
                <a:gd name="T3" fmla="*/ 599 h 599"/>
                <a:gd name="T4" fmla="*/ 215 w 222"/>
                <a:gd name="T5" fmla="*/ 599 h 599"/>
                <a:gd name="T6" fmla="*/ 0 w 222"/>
                <a:gd name="T7" fmla="*/ 359 h 599"/>
                <a:gd name="T8" fmla="*/ 0 w 222"/>
                <a:gd name="T9" fmla="*/ 0 h 599"/>
                <a:gd name="T10" fmla="*/ 131 w 222"/>
                <a:gd name="T11" fmla="*/ 0 h 599"/>
                <a:gd name="T12" fmla="*/ 130 w 222"/>
                <a:gd name="T13" fmla="*/ 356 h 599"/>
                <a:gd name="T14" fmla="*/ 215 w 222"/>
                <a:gd name="T15" fmla="*/ 468 h 599"/>
                <a:gd name="T16" fmla="*/ 222 w 222"/>
                <a:gd name="T17" fmla="*/ 469 h 599"/>
                <a:gd name="T18" fmla="*/ 222 w 222"/>
                <a:gd name="T19" fmla="*/ 599 h 599"/>
                <a:gd name="T20" fmla="*/ 222 w 222"/>
                <a:gd name="T21" fmla="*/ 599 h 599"/>
                <a:gd name="T22" fmla="*/ 222 w 222"/>
                <a:gd name="T23" fmla="*/ 599 h 599"/>
                <a:gd name="T24" fmla="*/ 222 w 222"/>
                <a:gd name="T25" fmla="*/ 599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2" h="599">
                  <a:moveTo>
                    <a:pt x="222" y="599"/>
                  </a:moveTo>
                  <a:lnTo>
                    <a:pt x="222" y="599"/>
                  </a:lnTo>
                  <a:lnTo>
                    <a:pt x="215" y="599"/>
                  </a:lnTo>
                  <a:cubicBezTo>
                    <a:pt x="94" y="586"/>
                    <a:pt x="0" y="484"/>
                    <a:pt x="0" y="359"/>
                  </a:cubicBezTo>
                  <a:lnTo>
                    <a:pt x="0" y="0"/>
                  </a:lnTo>
                  <a:lnTo>
                    <a:pt x="131" y="0"/>
                  </a:lnTo>
                  <a:lnTo>
                    <a:pt x="130" y="356"/>
                  </a:lnTo>
                  <a:cubicBezTo>
                    <a:pt x="130" y="408"/>
                    <a:pt x="167" y="455"/>
                    <a:pt x="215" y="468"/>
                  </a:cubicBezTo>
                  <a:cubicBezTo>
                    <a:pt x="217" y="468"/>
                    <a:pt x="219" y="469"/>
                    <a:pt x="222" y="469"/>
                  </a:cubicBezTo>
                  <a:lnTo>
                    <a:pt x="222" y="599"/>
                  </a:lnTo>
                  <a:lnTo>
                    <a:pt x="222" y="599"/>
                  </a:lnTo>
                  <a:close/>
                  <a:moveTo>
                    <a:pt x="222" y="599"/>
                  </a:moveTo>
                  <a:lnTo>
                    <a:pt x="222" y="59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1" name="Freeform 14"/>
            <p:cNvSpPr>
              <a:spLocks/>
            </p:cNvSpPr>
            <p:nvPr userDrawn="1"/>
          </p:nvSpPr>
          <p:spPr bwMode="auto">
            <a:xfrm>
              <a:off x="357188" y="6241733"/>
              <a:ext cx="69850" cy="188913"/>
            </a:xfrm>
            <a:custGeom>
              <a:avLst/>
              <a:gdLst>
                <a:gd name="T0" fmla="*/ 0 w 220"/>
                <a:gd name="T1" fmla="*/ 469 h 599"/>
                <a:gd name="T2" fmla="*/ 0 w 220"/>
                <a:gd name="T3" fmla="*/ 469 h 599"/>
                <a:gd name="T4" fmla="*/ 5 w 220"/>
                <a:gd name="T5" fmla="*/ 468 h 599"/>
                <a:gd name="T6" fmla="*/ 90 w 220"/>
                <a:gd name="T7" fmla="*/ 356 h 599"/>
                <a:gd name="T8" fmla="*/ 89 w 220"/>
                <a:gd name="T9" fmla="*/ 0 h 599"/>
                <a:gd name="T10" fmla="*/ 220 w 220"/>
                <a:gd name="T11" fmla="*/ 0 h 599"/>
                <a:gd name="T12" fmla="*/ 220 w 220"/>
                <a:gd name="T13" fmla="*/ 358 h 599"/>
                <a:gd name="T14" fmla="*/ 5 w 220"/>
                <a:gd name="T15" fmla="*/ 599 h 599"/>
                <a:gd name="T16" fmla="*/ 0 w 220"/>
                <a:gd name="T17" fmla="*/ 599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0" h="599">
                  <a:moveTo>
                    <a:pt x="0" y="469"/>
                  </a:moveTo>
                  <a:lnTo>
                    <a:pt x="0" y="469"/>
                  </a:lnTo>
                  <a:cubicBezTo>
                    <a:pt x="2" y="468"/>
                    <a:pt x="3" y="468"/>
                    <a:pt x="5" y="468"/>
                  </a:cubicBezTo>
                  <a:cubicBezTo>
                    <a:pt x="54" y="455"/>
                    <a:pt x="90" y="408"/>
                    <a:pt x="90" y="356"/>
                  </a:cubicBezTo>
                  <a:lnTo>
                    <a:pt x="89" y="0"/>
                  </a:lnTo>
                  <a:lnTo>
                    <a:pt x="220" y="0"/>
                  </a:lnTo>
                  <a:lnTo>
                    <a:pt x="220" y="358"/>
                  </a:lnTo>
                  <a:cubicBezTo>
                    <a:pt x="220" y="483"/>
                    <a:pt x="126" y="586"/>
                    <a:pt x="5" y="599"/>
                  </a:cubicBezTo>
                  <a:lnTo>
                    <a:pt x="0" y="599"/>
                  </a:lnTo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2" name="Freeform 15"/>
            <p:cNvSpPr>
              <a:spLocks noEditPoints="1"/>
            </p:cNvSpPr>
            <p:nvPr userDrawn="1"/>
          </p:nvSpPr>
          <p:spPr bwMode="auto">
            <a:xfrm>
              <a:off x="577850" y="6251258"/>
              <a:ext cx="22225" cy="26988"/>
            </a:xfrm>
            <a:custGeom>
              <a:avLst/>
              <a:gdLst>
                <a:gd name="T0" fmla="*/ 0 w 73"/>
                <a:gd name="T1" fmla="*/ 90 h 90"/>
                <a:gd name="T2" fmla="*/ 0 w 73"/>
                <a:gd name="T3" fmla="*/ 90 h 90"/>
                <a:gd name="T4" fmla="*/ 0 w 73"/>
                <a:gd name="T5" fmla="*/ 0 h 90"/>
                <a:gd name="T6" fmla="*/ 73 w 73"/>
                <a:gd name="T7" fmla="*/ 0 h 90"/>
                <a:gd name="T8" fmla="*/ 73 w 73"/>
                <a:gd name="T9" fmla="*/ 90 h 90"/>
                <a:gd name="T10" fmla="*/ 0 w 73"/>
                <a:gd name="T11" fmla="*/ 90 h 90"/>
                <a:gd name="T12" fmla="*/ 0 w 73"/>
                <a:gd name="T13" fmla="*/ 90 h 90"/>
                <a:gd name="T14" fmla="*/ 3 w 73"/>
                <a:gd name="T15" fmla="*/ 88 h 90"/>
                <a:gd name="T16" fmla="*/ 3 w 73"/>
                <a:gd name="T17" fmla="*/ 88 h 90"/>
                <a:gd name="T18" fmla="*/ 70 w 73"/>
                <a:gd name="T19" fmla="*/ 88 h 90"/>
                <a:gd name="T20" fmla="*/ 70 w 73"/>
                <a:gd name="T21" fmla="*/ 2 h 90"/>
                <a:gd name="T22" fmla="*/ 3 w 73"/>
                <a:gd name="T23" fmla="*/ 2 h 90"/>
                <a:gd name="T24" fmla="*/ 3 w 73"/>
                <a:gd name="T25" fmla="*/ 88 h 90"/>
                <a:gd name="T26" fmla="*/ 3 w 73"/>
                <a:gd name="T27" fmla="*/ 88 h 90"/>
                <a:gd name="T28" fmla="*/ 3 w 73"/>
                <a:gd name="T29" fmla="*/ 88 h 90"/>
                <a:gd name="T30" fmla="*/ 3 w 73"/>
                <a:gd name="T31" fmla="*/ 88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73" h="90">
                  <a:moveTo>
                    <a:pt x="0" y="90"/>
                  </a:moveTo>
                  <a:lnTo>
                    <a:pt x="0" y="90"/>
                  </a:lnTo>
                  <a:lnTo>
                    <a:pt x="0" y="0"/>
                  </a:lnTo>
                  <a:lnTo>
                    <a:pt x="73" y="0"/>
                  </a:lnTo>
                  <a:lnTo>
                    <a:pt x="73" y="90"/>
                  </a:lnTo>
                  <a:lnTo>
                    <a:pt x="0" y="90"/>
                  </a:lnTo>
                  <a:lnTo>
                    <a:pt x="0" y="90"/>
                  </a:lnTo>
                  <a:close/>
                  <a:moveTo>
                    <a:pt x="3" y="88"/>
                  </a:moveTo>
                  <a:lnTo>
                    <a:pt x="3" y="88"/>
                  </a:lnTo>
                  <a:lnTo>
                    <a:pt x="70" y="88"/>
                  </a:lnTo>
                  <a:lnTo>
                    <a:pt x="70" y="2"/>
                  </a:lnTo>
                  <a:lnTo>
                    <a:pt x="3" y="2"/>
                  </a:lnTo>
                  <a:lnTo>
                    <a:pt x="3" y="88"/>
                  </a:lnTo>
                  <a:lnTo>
                    <a:pt x="3" y="88"/>
                  </a:lnTo>
                  <a:close/>
                  <a:moveTo>
                    <a:pt x="3" y="88"/>
                  </a:moveTo>
                  <a:lnTo>
                    <a:pt x="3" y="8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3" name="Freeform 16"/>
            <p:cNvSpPr>
              <a:spLocks noEditPoints="1"/>
            </p:cNvSpPr>
            <p:nvPr userDrawn="1"/>
          </p:nvSpPr>
          <p:spPr bwMode="auto">
            <a:xfrm>
              <a:off x="521018" y="6203633"/>
              <a:ext cx="379413" cy="381000"/>
            </a:xfrm>
            <a:custGeom>
              <a:avLst/>
              <a:gdLst>
                <a:gd name="T0" fmla="*/ 107 w 1209"/>
                <a:gd name="T1" fmla="*/ 0 h 1209"/>
                <a:gd name="T2" fmla="*/ 107 w 1209"/>
                <a:gd name="T3" fmla="*/ 0 h 1209"/>
                <a:gd name="T4" fmla="*/ 0 w 1209"/>
                <a:gd name="T5" fmla="*/ 106 h 1209"/>
                <a:gd name="T6" fmla="*/ 0 w 1209"/>
                <a:gd name="T7" fmla="*/ 1101 h 1209"/>
                <a:gd name="T8" fmla="*/ 107 w 1209"/>
                <a:gd name="T9" fmla="*/ 1209 h 1209"/>
                <a:gd name="T10" fmla="*/ 1102 w 1209"/>
                <a:gd name="T11" fmla="*/ 1209 h 1209"/>
                <a:gd name="T12" fmla="*/ 1209 w 1209"/>
                <a:gd name="T13" fmla="*/ 1101 h 1209"/>
                <a:gd name="T14" fmla="*/ 1209 w 1209"/>
                <a:gd name="T15" fmla="*/ 106 h 1209"/>
                <a:gd name="T16" fmla="*/ 1102 w 1209"/>
                <a:gd name="T17" fmla="*/ 0 h 1209"/>
                <a:gd name="T18" fmla="*/ 107 w 1209"/>
                <a:gd name="T19" fmla="*/ 0 h 1209"/>
                <a:gd name="T20" fmla="*/ 107 w 1209"/>
                <a:gd name="T21" fmla="*/ 0 h 1209"/>
                <a:gd name="T22" fmla="*/ 107 w 1209"/>
                <a:gd name="T23" fmla="*/ 0 h 1209"/>
                <a:gd name="T24" fmla="*/ 107 w 1209"/>
                <a:gd name="T25" fmla="*/ 0 h 12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09" h="1209">
                  <a:moveTo>
                    <a:pt x="107" y="0"/>
                  </a:moveTo>
                  <a:lnTo>
                    <a:pt x="107" y="0"/>
                  </a:lnTo>
                  <a:cubicBezTo>
                    <a:pt x="48" y="0"/>
                    <a:pt x="0" y="47"/>
                    <a:pt x="0" y="106"/>
                  </a:cubicBezTo>
                  <a:lnTo>
                    <a:pt x="0" y="1101"/>
                  </a:lnTo>
                  <a:cubicBezTo>
                    <a:pt x="0" y="1160"/>
                    <a:pt x="48" y="1209"/>
                    <a:pt x="107" y="1209"/>
                  </a:cubicBezTo>
                  <a:lnTo>
                    <a:pt x="1102" y="1209"/>
                  </a:lnTo>
                  <a:cubicBezTo>
                    <a:pt x="1162" y="1209"/>
                    <a:pt x="1209" y="1160"/>
                    <a:pt x="1209" y="1101"/>
                  </a:cubicBezTo>
                  <a:lnTo>
                    <a:pt x="1209" y="106"/>
                  </a:lnTo>
                  <a:cubicBezTo>
                    <a:pt x="1209" y="47"/>
                    <a:pt x="1162" y="0"/>
                    <a:pt x="1102" y="0"/>
                  </a:cubicBezTo>
                  <a:lnTo>
                    <a:pt x="107" y="0"/>
                  </a:lnTo>
                  <a:lnTo>
                    <a:pt x="107" y="0"/>
                  </a:lnTo>
                  <a:close/>
                  <a:moveTo>
                    <a:pt x="107" y="0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CC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  <p:sp>
          <p:nvSpPr>
            <p:cNvPr id="24" name="Freeform 17"/>
            <p:cNvSpPr>
              <a:spLocks noEditPoints="1"/>
            </p:cNvSpPr>
            <p:nvPr userDrawn="1"/>
          </p:nvSpPr>
          <p:spPr bwMode="auto">
            <a:xfrm>
              <a:off x="596900" y="6305233"/>
              <a:ext cx="247650" cy="180975"/>
            </a:xfrm>
            <a:custGeom>
              <a:avLst/>
              <a:gdLst>
                <a:gd name="T0" fmla="*/ 643 w 786"/>
                <a:gd name="T1" fmla="*/ 574 h 574"/>
                <a:gd name="T2" fmla="*/ 643 w 786"/>
                <a:gd name="T3" fmla="*/ 574 h 574"/>
                <a:gd name="T4" fmla="*/ 643 w 786"/>
                <a:gd name="T5" fmla="*/ 234 h 574"/>
                <a:gd name="T6" fmla="*/ 626 w 786"/>
                <a:gd name="T7" fmla="*/ 164 h 574"/>
                <a:gd name="T8" fmla="*/ 560 w 786"/>
                <a:gd name="T9" fmla="*/ 135 h 574"/>
                <a:gd name="T10" fmla="*/ 488 w 786"/>
                <a:gd name="T11" fmla="*/ 164 h 574"/>
                <a:gd name="T12" fmla="*/ 464 w 786"/>
                <a:gd name="T13" fmla="*/ 246 h 574"/>
                <a:gd name="T14" fmla="*/ 464 w 786"/>
                <a:gd name="T15" fmla="*/ 574 h 574"/>
                <a:gd name="T16" fmla="*/ 321 w 786"/>
                <a:gd name="T17" fmla="*/ 574 h 574"/>
                <a:gd name="T18" fmla="*/ 321 w 786"/>
                <a:gd name="T19" fmla="*/ 234 h 574"/>
                <a:gd name="T20" fmla="*/ 304 w 786"/>
                <a:gd name="T21" fmla="*/ 164 h 574"/>
                <a:gd name="T22" fmla="*/ 239 w 786"/>
                <a:gd name="T23" fmla="*/ 135 h 574"/>
                <a:gd name="T24" fmla="*/ 168 w 786"/>
                <a:gd name="T25" fmla="*/ 164 h 574"/>
                <a:gd name="T26" fmla="*/ 143 w 786"/>
                <a:gd name="T27" fmla="*/ 246 h 574"/>
                <a:gd name="T28" fmla="*/ 143 w 786"/>
                <a:gd name="T29" fmla="*/ 574 h 574"/>
                <a:gd name="T30" fmla="*/ 0 w 786"/>
                <a:gd name="T31" fmla="*/ 574 h 574"/>
                <a:gd name="T32" fmla="*/ 0 w 786"/>
                <a:gd name="T33" fmla="*/ 8 h 574"/>
                <a:gd name="T34" fmla="*/ 143 w 786"/>
                <a:gd name="T35" fmla="*/ 8 h 574"/>
                <a:gd name="T36" fmla="*/ 143 w 786"/>
                <a:gd name="T37" fmla="*/ 74 h 574"/>
                <a:gd name="T38" fmla="*/ 202 w 786"/>
                <a:gd name="T39" fmla="*/ 20 h 574"/>
                <a:gd name="T40" fmla="*/ 282 w 786"/>
                <a:gd name="T41" fmla="*/ 0 h 574"/>
                <a:gd name="T42" fmla="*/ 370 w 786"/>
                <a:gd name="T43" fmla="*/ 23 h 574"/>
                <a:gd name="T44" fmla="*/ 420 w 786"/>
                <a:gd name="T45" fmla="*/ 85 h 574"/>
                <a:gd name="T46" fmla="*/ 498 w 786"/>
                <a:gd name="T47" fmla="*/ 22 h 574"/>
                <a:gd name="T48" fmla="*/ 596 w 786"/>
                <a:gd name="T49" fmla="*/ 0 h 574"/>
                <a:gd name="T50" fmla="*/ 683 w 786"/>
                <a:gd name="T51" fmla="*/ 16 h 574"/>
                <a:gd name="T52" fmla="*/ 743 w 786"/>
                <a:gd name="T53" fmla="*/ 60 h 574"/>
                <a:gd name="T54" fmla="*/ 776 w 786"/>
                <a:gd name="T55" fmla="*/ 125 h 574"/>
                <a:gd name="T56" fmla="*/ 786 w 786"/>
                <a:gd name="T57" fmla="*/ 203 h 574"/>
                <a:gd name="T58" fmla="*/ 786 w 786"/>
                <a:gd name="T59" fmla="*/ 574 h 574"/>
                <a:gd name="T60" fmla="*/ 644 w 786"/>
                <a:gd name="T61" fmla="*/ 574 h 574"/>
                <a:gd name="T62" fmla="*/ 643 w 786"/>
                <a:gd name="T63" fmla="*/ 574 h 574"/>
                <a:gd name="T64" fmla="*/ 643 w 786"/>
                <a:gd name="T65" fmla="*/ 574 h 574"/>
                <a:gd name="T66" fmla="*/ 643 w 786"/>
                <a:gd name="T67" fmla="*/ 574 h 5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86" h="574">
                  <a:moveTo>
                    <a:pt x="643" y="574"/>
                  </a:moveTo>
                  <a:lnTo>
                    <a:pt x="643" y="574"/>
                  </a:lnTo>
                  <a:lnTo>
                    <a:pt x="643" y="234"/>
                  </a:lnTo>
                  <a:cubicBezTo>
                    <a:pt x="643" y="207"/>
                    <a:pt x="637" y="183"/>
                    <a:pt x="626" y="164"/>
                  </a:cubicBezTo>
                  <a:cubicBezTo>
                    <a:pt x="614" y="144"/>
                    <a:pt x="593" y="135"/>
                    <a:pt x="560" y="135"/>
                  </a:cubicBezTo>
                  <a:cubicBezTo>
                    <a:pt x="528" y="135"/>
                    <a:pt x="504" y="144"/>
                    <a:pt x="488" y="164"/>
                  </a:cubicBezTo>
                  <a:cubicBezTo>
                    <a:pt x="472" y="184"/>
                    <a:pt x="464" y="211"/>
                    <a:pt x="464" y="246"/>
                  </a:cubicBezTo>
                  <a:lnTo>
                    <a:pt x="464" y="574"/>
                  </a:lnTo>
                  <a:lnTo>
                    <a:pt x="321" y="574"/>
                  </a:lnTo>
                  <a:lnTo>
                    <a:pt x="321" y="234"/>
                  </a:lnTo>
                  <a:cubicBezTo>
                    <a:pt x="321" y="207"/>
                    <a:pt x="316" y="183"/>
                    <a:pt x="304" y="164"/>
                  </a:cubicBezTo>
                  <a:cubicBezTo>
                    <a:pt x="293" y="144"/>
                    <a:pt x="271" y="135"/>
                    <a:pt x="239" y="135"/>
                  </a:cubicBezTo>
                  <a:cubicBezTo>
                    <a:pt x="209" y="135"/>
                    <a:pt x="186" y="144"/>
                    <a:pt x="168" y="164"/>
                  </a:cubicBezTo>
                  <a:cubicBezTo>
                    <a:pt x="151" y="184"/>
                    <a:pt x="143" y="211"/>
                    <a:pt x="143" y="246"/>
                  </a:cubicBezTo>
                  <a:lnTo>
                    <a:pt x="143" y="574"/>
                  </a:lnTo>
                  <a:lnTo>
                    <a:pt x="0" y="574"/>
                  </a:lnTo>
                  <a:lnTo>
                    <a:pt x="0" y="8"/>
                  </a:lnTo>
                  <a:lnTo>
                    <a:pt x="143" y="8"/>
                  </a:lnTo>
                  <a:lnTo>
                    <a:pt x="143" y="74"/>
                  </a:lnTo>
                  <a:cubicBezTo>
                    <a:pt x="157" y="52"/>
                    <a:pt x="176" y="34"/>
                    <a:pt x="202" y="20"/>
                  </a:cubicBezTo>
                  <a:cubicBezTo>
                    <a:pt x="228" y="7"/>
                    <a:pt x="255" y="0"/>
                    <a:pt x="282" y="0"/>
                  </a:cubicBezTo>
                  <a:cubicBezTo>
                    <a:pt x="318" y="0"/>
                    <a:pt x="348" y="8"/>
                    <a:pt x="370" y="23"/>
                  </a:cubicBezTo>
                  <a:cubicBezTo>
                    <a:pt x="392" y="38"/>
                    <a:pt x="409" y="59"/>
                    <a:pt x="420" y="85"/>
                  </a:cubicBezTo>
                  <a:cubicBezTo>
                    <a:pt x="439" y="58"/>
                    <a:pt x="465" y="36"/>
                    <a:pt x="498" y="22"/>
                  </a:cubicBezTo>
                  <a:cubicBezTo>
                    <a:pt x="530" y="7"/>
                    <a:pt x="563" y="0"/>
                    <a:pt x="596" y="0"/>
                  </a:cubicBezTo>
                  <a:cubicBezTo>
                    <a:pt x="630" y="0"/>
                    <a:pt x="659" y="5"/>
                    <a:pt x="683" y="16"/>
                  </a:cubicBezTo>
                  <a:cubicBezTo>
                    <a:pt x="708" y="27"/>
                    <a:pt x="728" y="41"/>
                    <a:pt x="743" y="60"/>
                  </a:cubicBezTo>
                  <a:cubicBezTo>
                    <a:pt x="757" y="78"/>
                    <a:pt x="769" y="100"/>
                    <a:pt x="776" y="125"/>
                  </a:cubicBezTo>
                  <a:cubicBezTo>
                    <a:pt x="783" y="150"/>
                    <a:pt x="786" y="176"/>
                    <a:pt x="786" y="203"/>
                  </a:cubicBezTo>
                  <a:lnTo>
                    <a:pt x="786" y="574"/>
                  </a:lnTo>
                  <a:lnTo>
                    <a:pt x="644" y="574"/>
                  </a:lnTo>
                  <a:lnTo>
                    <a:pt x="643" y="574"/>
                  </a:lnTo>
                  <a:close/>
                  <a:moveTo>
                    <a:pt x="643" y="574"/>
                  </a:moveTo>
                  <a:lnTo>
                    <a:pt x="643" y="574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488348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itchFamily="2" charset="2"/>
        <a:buChar char="q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Wingdings" pitchFamily="2" charset="2"/>
        <a:buChar char="Ø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4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1069" y="3598385"/>
            <a:ext cx="8863343" cy="2564705"/>
          </a:xfrm>
        </p:spPr>
        <p:txBody>
          <a:bodyPr>
            <a:noAutofit/>
          </a:bodyPr>
          <a:lstStyle/>
          <a:p>
            <a:pPr>
              <a:spcAft>
                <a:spcPts val="1200"/>
              </a:spcAft>
            </a:pP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Manfred </a:t>
            </a:r>
            <a:r>
              <a:rPr lang="en-US" b="1" dirty="0" err="1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Kaltenbacher</a:t>
            </a:r>
            <a:r>
              <a:rPr lang="en-US" b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and Andreas Hüppe</a:t>
            </a:r>
          </a:p>
          <a:p>
            <a:pPr>
              <a:spcAft>
                <a:spcPts val="1200"/>
              </a:spcAft>
            </a:pPr>
            <a:endParaRPr lang="en-US" sz="1000" b="1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</a:rPr>
              <a:t>Institute of Mechanics and Mechatronics, Vienna University of Technology</a:t>
            </a:r>
          </a:p>
          <a:p>
            <a:pPr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</a:rPr>
              <a:t>Austria</a:t>
            </a:r>
          </a:p>
          <a:p>
            <a:endParaRPr lang="en-US" sz="2400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/>
            </a:r>
            <a:b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/>
            </a:r>
            <a:br>
              <a:rPr lang="en-US" sz="2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400" b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/>
            </a:r>
            <a:br>
              <a:rPr lang="en-US" sz="2400" b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endParaRPr lang="en-US" sz="2400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en-US" sz="2400" dirty="0"/>
          </a:p>
        </p:txBody>
      </p:sp>
      <p:sp>
        <p:nvSpPr>
          <p:cNvPr id="5" name="Textfeld 4"/>
          <p:cNvSpPr txBox="1"/>
          <p:nvPr/>
        </p:nvSpPr>
        <p:spPr>
          <a:xfrm>
            <a:off x="5335072" y="1389414"/>
            <a:ext cx="38089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/>
              <a:t>C</a:t>
            </a:r>
            <a:r>
              <a:rPr lang="en-US" sz="2800" dirty="0" smtClean="0"/>
              <a:t>oupled </a:t>
            </a:r>
            <a:r>
              <a:rPr lang="en-US" sz="2800" b="1" dirty="0" smtClean="0"/>
              <a:t>F</a:t>
            </a:r>
            <a:r>
              <a:rPr lang="en-US" sz="2800" dirty="0" smtClean="0"/>
              <a:t>ield </a:t>
            </a:r>
            <a:r>
              <a:rPr lang="en-US" sz="2800" b="1" dirty="0" smtClean="0"/>
              <a:t>S</a:t>
            </a:r>
            <a:r>
              <a:rPr lang="en-US" sz="2800" dirty="0" smtClean="0"/>
              <a:t>imulation</a:t>
            </a:r>
            <a:endParaRPr lang="en-US" sz="2800" dirty="0"/>
          </a:p>
        </p:txBody>
      </p:sp>
      <p:sp>
        <p:nvSpPr>
          <p:cNvPr id="6" name="Textfeld 5"/>
          <p:cNvSpPr txBox="1"/>
          <p:nvPr/>
        </p:nvSpPr>
        <p:spPr>
          <a:xfrm>
            <a:off x="856070" y="2373086"/>
            <a:ext cx="7167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/>
              <a:t>How to implement a new PDE</a:t>
            </a:r>
            <a:endParaRPr lang="en-US" sz="4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459" y="644151"/>
            <a:ext cx="2647950" cy="733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64476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 PDE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 smtClean="0"/>
              <a:t>Let‘s</a:t>
            </a:r>
            <a:r>
              <a:rPr lang="de-AT" dirty="0" smtClean="0"/>
              <a:t> </a:t>
            </a:r>
            <a:r>
              <a:rPr lang="de-AT" dirty="0" err="1" smtClean="0"/>
              <a:t>define</a:t>
            </a:r>
            <a:r>
              <a:rPr lang="de-AT" dirty="0" smtClean="0"/>
              <a:t> a simple </a:t>
            </a:r>
            <a:r>
              <a:rPr lang="de-AT" dirty="0" err="1" smtClean="0"/>
              <a:t>parabolic</a:t>
            </a:r>
            <a:r>
              <a:rPr lang="de-AT" dirty="0" smtClean="0"/>
              <a:t> PDE</a:t>
            </a:r>
          </a:p>
          <a:p>
            <a:endParaRPr lang="de-AT" dirty="0"/>
          </a:p>
          <a:p>
            <a:endParaRPr lang="de-AT" dirty="0" smtClean="0"/>
          </a:p>
          <a:p>
            <a:endParaRPr lang="de-AT" dirty="0"/>
          </a:p>
          <a:p>
            <a:r>
              <a:rPr lang="de-AT" dirty="0" err="1" smtClean="0"/>
              <a:t>Weak</a:t>
            </a:r>
            <a:r>
              <a:rPr lang="de-AT" dirty="0" smtClean="0"/>
              <a:t> form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D37D5-2D62-4019-B603-311C6B5CF006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8" name="Grafik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83" y="2766130"/>
            <a:ext cx="5103208" cy="74896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596" y="1637335"/>
            <a:ext cx="1498929" cy="198263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63" y="1405513"/>
            <a:ext cx="2629791" cy="61329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7" cstate="print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506" y="3998545"/>
            <a:ext cx="1498929" cy="198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257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Directory source/PDE</a:t>
            </a:r>
          </a:p>
          <a:p>
            <a:pPr lvl="1"/>
            <a:r>
              <a:rPr lang="en-US" dirty="0" smtClean="0"/>
              <a:t>Create the Files „TestPDE.cc“ and „</a:t>
            </a:r>
            <a:r>
              <a:rPr lang="en-US" dirty="0" err="1" smtClean="0"/>
              <a:t>TestPDE.hh</a:t>
            </a:r>
            <a:r>
              <a:rPr lang="en-US" dirty="0" smtClean="0"/>
              <a:t>“ (perhaps it makes sense to copy a similar already existing PDE).</a:t>
            </a:r>
          </a:p>
          <a:p>
            <a:pPr lvl="1"/>
            <a:r>
              <a:rPr lang="en-US" dirty="0" smtClean="0"/>
              <a:t>Include „TestPDE.cc“ in the file „CMakeLists.txt“ so that </a:t>
            </a:r>
            <a:r>
              <a:rPr lang="en-US" dirty="0" err="1" smtClean="0"/>
              <a:t>cmake</a:t>
            </a:r>
            <a:r>
              <a:rPr lang="en-US" dirty="0" smtClean="0"/>
              <a:t> is also compiling this file.</a:t>
            </a:r>
          </a:p>
          <a:p>
            <a:pPr lvl="1"/>
            <a:endParaRPr lang="en-US" sz="2400" dirty="0" smtClean="0"/>
          </a:p>
          <a:p>
            <a:r>
              <a:rPr lang="en-US" dirty="0" smtClean="0"/>
              <a:t>Subversion</a:t>
            </a:r>
          </a:p>
          <a:p>
            <a:pPr lvl="1"/>
            <a:r>
              <a:rPr lang="en-US" dirty="0" smtClean="0"/>
              <a:t>Add the files to the repository (performed at the next check in)</a:t>
            </a:r>
            <a:br>
              <a:rPr lang="en-US" dirty="0" smtClean="0"/>
            </a:br>
            <a:r>
              <a:rPr lang="en-US" dirty="0" smtClean="0"/>
              <a:t>          </a:t>
            </a:r>
            <a:r>
              <a:rPr lang="en-US" dirty="0" err="1" smtClean="0"/>
              <a:t>svn</a:t>
            </a:r>
            <a:r>
              <a:rPr lang="en-US" dirty="0" smtClean="0"/>
              <a:t> add TestPDE.cc </a:t>
            </a:r>
            <a:r>
              <a:rPr lang="en-US" dirty="0" err="1" smtClean="0"/>
              <a:t>TestPDE.hh</a:t>
            </a:r>
            <a:endParaRPr lang="en-US" dirty="0" smtClean="0"/>
          </a:p>
          <a:p>
            <a:pPr lvl="1"/>
            <a:endParaRPr lang="en-US" sz="2400" dirty="0" smtClean="0"/>
          </a:p>
          <a:p>
            <a:r>
              <a:rPr lang="en-US" dirty="0" smtClean="0"/>
              <a:t>Start „eclipse“ and open the files „</a:t>
            </a:r>
            <a:r>
              <a:rPr lang="en-US" dirty="0" err="1" smtClean="0"/>
              <a:t>TestPDE.hh</a:t>
            </a:r>
            <a:r>
              <a:rPr lang="en-US" dirty="0" smtClean="0"/>
              <a:t>“ and „TestPDE.cc“</a:t>
            </a:r>
          </a:p>
          <a:p>
            <a:pPr lvl="1"/>
            <a:endParaRPr lang="en-US" dirty="0" smtClean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D37D5-2D62-4019-B603-311C6B5CF00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664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 smtClean="0"/>
              <a:t>Important</a:t>
            </a:r>
            <a:r>
              <a:rPr lang="de-AT" dirty="0" smtClean="0"/>
              <a:t> </a:t>
            </a:r>
            <a:r>
              <a:rPr lang="de-AT" dirty="0" err="1" smtClean="0"/>
              <a:t>aspects</a:t>
            </a:r>
            <a:r>
              <a:rPr lang="de-AT" dirty="0" smtClean="0"/>
              <a:t> </a:t>
            </a:r>
            <a:r>
              <a:rPr lang="de-AT" dirty="0" err="1" smtClean="0"/>
              <a:t>for</a:t>
            </a:r>
            <a:r>
              <a:rPr lang="de-AT" dirty="0" smtClean="0"/>
              <a:t> „</a:t>
            </a:r>
            <a:r>
              <a:rPr lang="de-AT" dirty="0" err="1" smtClean="0"/>
              <a:t>TestPDE.hh</a:t>
            </a:r>
            <a:r>
              <a:rPr lang="de-AT" dirty="0" smtClean="0"/>
              <a:t>“</a:t>
            </a:r>
          </a:p>
          <a:p>
            <a:pPr lvl="1"/>
            <a:r>
              <a:rPr lang="de-AT" dirty="0" err="1" smtClean="0"/>
              <a:t>Put</a:t>
            </a:r>
            <a:r>
              <a:rPr lang="de-AT" dirty="0" smtClean="0"/>
              <a:t> a </a:t>
            </a:r>
            <a:r>
              <a:rPr lang="de-AT" dirty="0" err="1" smtClean="0"/>
              <a:t>short</a:t>
            </a:r>
            <a:r>
              <a:rPr lang="de-AT" dirty="0" smtClean="0"/>
              <a:t> </a:t>
            </a:r>
            <a:r>
              <a:rPr lang="de-AT" dirty="0" err="1" smtClean="0"/>
              <a:t>documentation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sz="2400" dirty="0" smtClean="0"/>
          </a:p>
          <a:p>
            <a:pPr lvl="1"/>
            <a:r>
              <a:rPr lang="de-AT" dirty="0" smtClean="0"/>
              <a:t>As </a:t>
            </a:r>
            <a:r>
              <a:rPr lang="de-AT" dirty="0" err="1" smtClean="0"/>
              <a:t>much</a:t>
            </a:r>
            <a:r>
              <a:rPr lang="de-AT" dirty="0" smtClean="0"/>
              <a:t> </a:t>
            </a:r>
            <a:r>
              <a:rPr lang="de-AT" dirty="0" err="1" smtClean="0"/>
              <a:t>as</a:t>
            </a:r>
            <a:r>
              <a:rPr lang="de-AT" dirty="0" smtClean="0"/>
              <a:t> </a:t>
            </a:r>
            <a:r>
              <a:rPr lang="de-AT" dirty="0" err="1" smtClean="0"/>
              <a:t>possible</a:t>
            </a:r>
            <a:r>
              <a:rPr lang="de-AT" dirty="0" smtClean="0"/>
              <a:t> </a:t>
            </a:r>
            <a:r>
              <a:rPr lang="de-AT" dirty="0" err="1" smtClean="0"/>
              <a:t>use</a:t>
            </a:r>
            <a:r>
              <a:rPr lang="de-AT" dirty="0"/>
              <a:t> </a:t>
            </a:r>
            <a:r>
              <a:rPr lang="de-AT" dirty="0" err="1"/>
              <a:t>forward</a:t>
            </a:r>
            <a:r>
              <a:rPr lang="de-AT" dirty="0"/>
              <a:t> </a:t>
            </a:r>
            <a:r>
              <a:rPr lang="de-AT" dirty="0" err="1"/>
              <a:t>class</a:t>
            </a:r>
            <a:r>
              <a:rPr lang="de-AT" dirty="0"/>
              <a:t> </a:t>
            </a:r>
            <a:r>
              <a:rPr lang="de-AT" dirty="0" err="1" smtClean="0"/>
              <a:t>declaration</a:t>
            </a:r>
            <a:r>
              <a:rPr lang="de-AT" dirty="0" smtClean="0"/>
              <a:t> </a:t>
            </a:r>
            <a:r>
              <a:rPr lang="de-AT" dirty="0" err="1" smtClean="0"/>
              <a:t>instead</a:t>
            </a:r>
            <a:r>
              <a:rPr lang="de-AT" dirty="0" smtClean="0"/>
              <a:t>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including</a:t>
            </a:r>
            <a:r>
              <a:rPr lang="de-AT" dirty="0" smtClean="0"/>
              <a:t> *.</a:t>
            </a:r>
            <a:r>
              <a:rPr lang="de-AT" dirty="0" err="1" smtClean="0"/>
              <a:t>hh</a:t>
            </a:r>
            <a:r>
              <a:rPr lang="de-AT" dirty="0" smtClean="0"/>
              <a:t> </a:t>
            </a:r>
            <a:r>
              <a:rPr lang="de-AT" dirty="0" err="1" smtClean="0"/>
              <a:t>files</a:t>
            </a:r>
            <a:endParaRPr lang="de-AT" dirty="0" smtClean="0"/>
          </a:p>
          <a:p>
            <a:pPr lvl="1"/>
            <a:endParaRPr lang="de-AT" sz="1000" dirty="0" smtClean="0"/>
          </a:p>
          <a:p>
            <a:pPr lvl="1"/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header</a:t>
            </a:r>
            <a:r>
              <a:rPr lang="de-AT" dirty="0" smtClean="0"/>
              <a:t> </a:t>
            </a:r>
            <a:r>
              <a:rPr lang="de-AT" dirty="0" err="1" smtClean="0"/>
              <a:t>guard</a:t>
            </a:r>
            <a:r>
              <a:rPr lang="de-AT" dirty="0" smtClean="0"/>
              <a:t> TESTPDE_HH_ </a:t>
            </a:r>
            <a:r>
              <a:rPr lang="de-AT" dirty="0" err="1" smtClean="0"/>
              <a:t>and</a:t>
            </a:r>
            <a:r>
              <a:rPr lang="de-AT" dirty="0" smtClean="0"/>
              <a:t> </a:t>
            </a:r>
            <a:r>
              <a:rPr lang="de-AT" dirty="0" err="1" smtClean="0"/>
              <a:t>use</a:t>
            </a:r>
            <a:r>
              <a:rPr lang="de-AT" dirty="0" smtClean="0"/>
              <a:t> </a:t>
            </a:r>
            <a:r>
              <a:rPr lang="de-AT" dirty="0" err="1" smtClean="0"/>
              <a:t>our</a:t>
            </a:r>
            <a:r>
              <a:rPr lang="de-AT" dirty="0" smtClean="0"/>
              <a:t> </a:t>
            </a:r>
            <a:r>
              <a:rPr lang="de-AT" dirty="0" err="1" smtClean="0"/>
              <a:t>namespace</a:t>
            </a:r>
            <a:endParaRPr lang="de-AT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D37D5-2D62-4019-B603-311C6B5CF006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5" name="Tabel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62799"/>
              </p:ext>
            </p:extLst>
          </p:nvPr>
        </p:nvGraphicFramePr>
        <p:xfrm>
          <a:off x="1068783" y="1491142"/>
          <a:ext cx="75973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//===================================================================/*!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file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TestPDE.hh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brief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This PDE will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used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train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developers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date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July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2, 2013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author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Manfred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Kaltenbacher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, TU Wien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*/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//===================================================================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el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60499"/>
              </p:ext>
            </p:extLst>
          </p:nvPr>
        </p:nvGraphicFramePr>
        <p:xfrm>
          <a:off x="1059258" y="4434367"/>
          <a:ext cx="7597340" cy="16914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#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ifndef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TESTPDE_HH_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#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TESTPDE_HH_</a:t>
                      </a:r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namespace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CoupledField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…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end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of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namespace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#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endif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714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99681"/>
              </p:ext>
            </p:extLst>
          </p:nvPr>
        </p:nvGraphicFramePr>
        <p:xfrm>
          <a:off x="1059258" y="1295403"/>
          <a:ext cx="7597340" cy="49625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4962521">
                <a:tc>
                  <a:txBody>
                    <a:bodyPr/>
                    <a:lstStyle/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public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Constructor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.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Destructor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virtual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~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(){};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protected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Initialize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NonLinearities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virtual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InitNonLin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virtual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SolutionType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CreateFeSpaces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const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&amp;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all (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bilinearform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)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integrators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needed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this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pde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DefineIntegrators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surface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integrators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needed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this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pde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DefineSurfaceIntegrators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){};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622204"/>
            <a:ext cx="8640960" cy="5256584"/>
          </a:xfrm>
        </p:spPr>
        <p:txBody>
          <a:bodyPr/>
          <a:lstStyle/>
          <a:p>
            <a:r>
              <a:rPr lang="de-AT" dirty="0" err="1" smtClean="0"/>
              <a:t>Important</a:t>
            </a:r>
            <a:r>
              <a:rPr lang="de-AT" dirty="0" smtClean="0"/>
              <a:t> </a:t>
            </a:r>
            <a:r>
              <a:rPr lang="de-AT" dirty="0" err="1" smtClean="0"/>
              <a:t>aspects</a:t>
            </a:r>
            <a:r>
              <a:rPr lang="de-AT" dirty="0" smtClean="0"/>
              <a:t> </a:t>
            </a:r>
            <a:r>
              <a:rPr lang="de-AT" dirty="0" err="1" smtClean="0"/>
              <a:t>for</a:t>
            </a:r>
            <a:r>
              <a:rPr lang="de-AT" dirty="0" smtClean="0"/>
              <a:t> „</a:t>
            </a:r>
            <a:r>
              <a:rPr lang="de-AT" dirty="0" err="1" smtClean="0"/>
              <a:t>TestPDE.hh</a:t>
            </a:r>
            <a:r>
              <a:rPr lang="de-AT" dirty="0" smtClean="0"/>
              <a:t>“</a:t>
            </a:r>
          </a:p>
          <a:p>
            <a:pPr lvl="1"/>
            <a:r>
              <a:rPr lang="de-AT" dirty="0" smtClean="0"/>
              <a:t>Main </a:t>
            </a:r>
            <a:r>
              <a:rPr lang="de-AT" dirty="0" err="1" smtClean="0"/>
              <a:t>Methods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cxnSp>
        <p:nvCxnSpPr>
          <p:cNvPr id="7" name="Gerade Verbindung mit Pfeil 6"/>
          <p:cNvCxnSpPr>
            <a:stCxn id="8" idx="1"/>
          </p:cNvCxnSpPr>
          <p:nvPr/>
        </p:nvCxnSpPr>
        <p:spPr>
          <a:xfrm flipH="1" flipV="1">
            <a:off x="4962525" y="5619750"/>
            <a:ext cx="896112" cy="241989"/>
          </a:xfrm>
          <a:prstGeom prst="straightConnector1">
            <a:avLst/>
          </a:prstGeom>
          <a:ln w="15875">
            <a:solidFill>
              <a:schemeClr val="bg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/>
          <p:cNvSpPr txBox="1"/>
          <p:nvPr/>
        </p:nvSpPr>
        <p:spPr>
          <a:xfrm>
            <a:off x="5858637" y="5538573"/>
            <a:ext cx="2675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 smtClean="0">
                <a:solidFill>
                  <a:schemeClr val="bg1"/>
                </a:solidFill>
              </a:rPr>
              <a:t>No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surface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operators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need</a:t>
            </a:r>
            <a:endParaRPr lang="de-AT" dirty="0" smtClean="0">
              <a:solidFill>
                <a:schemeClr val="bg1"/>
              </a:solidFill>
            </a:endParaRPr>
          </a:p>
          <a:p>
            <a:r>
              <a:rPr lang="de-AT" dirty="0" err="1" smtClean="0">
                <a:solidFill>
                  <a:schemeClr val="bg1"/>
                </a:solidFill>
              </a:rPr>
              <a:t>to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be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implemented</a:t>
            </a:r>
            <a:r>
              <a:rPr lang="de-AT" dirty="0" smtClean="0">
                <a:solidFill>
                  <a:schemeClr val="bg1"/>
                </a:solidFill>
              </a:rPr>
              <a:t>!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4829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de-AT" dirty="0" err="1" smtClean="0"/>
              <a:t>Important</a:t>
            </a:r>
            <a:r>
              <a:rPr lang="de-AT" dirty="0" smtClean="0"/>
              <a:t> </a:t>
            </a:r>
            <a:r>
              <a:rPr lang="de-AT" dirty="0" err="1" smtClean="0"/>
              <a:t>aspects</a:t>
            </a:r>
            <a:r>
              <a:rPr lang="de-AT" dirty="0" smtClean="0"/>
              <a:t> </a:t>
            </a:r>
            <a:r>
              <a:rPr lang="de-AT" dirty="0" err="1" smtClean="0"/>
              <a:t>for</a:t>
            </a:r>
            <a:r>
              <a:rPr lang="de-AT" dirty="0" smtClean="0"/>
              <a:t> „</a:t>
            </a:r>
            <a:r>
              <a:rPr lang="de-AT" dirty="0" err="1" smtClean="0"/>
              <a:t>TestPDE.hh</a:t>
            </a:r>
            <a:r>
              <a:rPr lang="de-AT" dirty="0" smtClean="0"/>
              <a:t>“</a:t>
            </a:r>
          </a:p>
          <a:p>
            <a:pPr lvl="1"/>
            <a:r>
              <a:rPr lang="de-AT" dirty="0" smtClean="0"/>
              <a:t>Main </a:t>
            </a:r>
            <a:r>
              <a:rPr lang="de-AT" dirty="0" err="1" smtClean="0"/>
              <a:t>methods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sz="2200" dirty="0" smtClean="0"/>
          </a:p>
          <a:p>
            <a:pPr lvl="1"/>
            <a:endParaRPr lang="de-AT" sz="1100" dirty="0" smtClean="0"/>
          </a:p>
          <a:p>
            <a:pPr lvl="1"/>
            <a:endParaRPr lang="de-AT" sz="1100" dirty="0"/>
          </a:p>
          <a:p>
            <a:pPr marL="457200" lvl="1" indent="0">
              <a:buNone/>
            </a:pPr>
            <a:endParaRPr lang="de-AT" sz="1100" dirty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481673"/>
              </p:ext>
            </p:extLst>
          </p:nvPr>
        </p:nvGraphicFramePr>
        <p:xfrm>
          <a:off x="1068783" y="1519717"/>
          <a:ext cx="7597340" cy="3718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integrators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needed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non-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conforming</a:t>
                      </a:r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baseline="0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nterfaces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DefineNcIntegrators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{};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all RHS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linearforms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load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excitation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DefineRhsLoadIntegrators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SoltionStep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-Driver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DefineSolveStep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available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postprocessing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results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DefinePrimaryResults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available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postprocessing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results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DefinePostProcResults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Init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time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stepping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InitTimeStepping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8850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 lnSpcReduction="10000"/>
          </a:bodyPr>
          <a:lstStyle/>
          <a:p>
            <a:r>
              <a:rPr lang="de-AT" dirty="0" err="1" smtClean="0"/>
              <a:t>Important</a:t>
            </a:r>
            <a:r>
              <a:rPr lang="de-AT" dirty="0" smtClean="0"/>
              <a:t> </a:t>
            </a:r>
            <a:r>
              <a:rPr lang="de-AT" dirty="0" err="1" smtClean="0"/>
              <a:t>aspects</a:t>
            </a:r>
            <a:r>
              <a:rPr lang="de-AT" dirty="0" smtClean="0"/>
              <a:t> </a:t>
            </a:r>
            <a:r>
              <a:rPr lang="de-AT" dirty="0" err="1" smtClean="0"/>
              <a:t>for</a:t>
            </a:r>
            <a:r>
              <a:rPr lang="de-AT" dirty="0" smtClean="0"/>
              <a:t> „</a:t>
            </a:r>
            <a:r>
              <a:rPr lang="de-AT" dirty="0" err="1" smtClean="0"/>
              <a:t>TestPDE.hh</a:t>
            </a:r>
            <a:r>
              <a:rPr lang="de-AT" dirty="0" smtClean="0"/>
              <a:t>“</a:t>
            </a:r>
          </a:p>
          <a:p>
            <a:pPr lvl="1"/>
            <a:r>
              <a:rPr lang="de-AT" dirty="0" err="1" smtClean="0"/>
              <a:t>Constructor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marL="457200" lvl="1" indent="0">
              <a:buNone/>
            </a:pPr>
            <a:endParaRPr lang="de-AT" dirty="0" smtClean="0"/>
          </a:p>
          <a:p>
            <a:pPr marL="457200" lvl="1" indent="0">
              <a:buNone/>
            </a:pPr>
            <a:endParaRPr lang="de-AT" dirty="0" smtClean="0"/>
          </a:p>
          <a:p>
            <a:pPr lvl="2"/>
            <a:r>
              <a:rPr lang="de-AT" b="1" dirty="0" err="1" smtClean="0"/>
              <a:t>Grid</a:t>
            </a:r>
            <a:r>
              <a:rPr lang="de-AT" b="1" dirty="0"/>
              <a:t>* </a:t>
            </a:r>
            <a:r>
              <a:rPr lang="de-AT" b="1" dirty="0" err="1" smtClean="0"/>
              <a:t>aGrid</a:t>
            </a:r>
            <a:r>
              <a:rPr lang="de-AT" b="1" dirty="0" smtClean="0"/>
              <a:t>: </a:t>
            </a:r>
            <a:r>
              <a:rPr lang="de-AT" dirty="0" err="1" smtClean="0"/>
              <a:t>pointer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computational</a:t>
            </a:r>
            <a:r>
              <a:rPr lang="de-AT" dirty="0" smtClean="0"/>
              <a:t> </a:t>
            </a:r>
            <a:r>
              <a:rPr lang="de-AT" dirty="0" err="1" smtClean="0"/>
              <a:t>grid</a:t>
            </a:r>
            <a:endParaRPr lang="de-AT" dirty="0" smtClean="0"/>
          </a:p>
          <a:p>
            <a:pPr lvl="2"/>
            <a:r>
              <a:rPr lang="de-AT" b="1" dirty="0" err="1" smtClean="0"/>
              <a:t>PtrParamNode</a:t>
            </a:r>
            <a:r>
              <a:rPr lang="de-AT" b="1" dirty="0" smtClean="0"/>
              <a:t> </a:t>
            </a:r>
            <a:r>
              <a:rPr lang="de-AT" b="1" dirty="0" err="1" smtClean="0"/>
              <a:t>paramNode</a:t>
            </a:r>
            <a:r>
              <a:rPr lang="de-AT" b="1" dirty="0" smtClean="0"/>
              <a:t>: </a:t>
            </a:r>
            <a:r>
              <a:rPr lang="de-AT" dirty="0" err="1" smtClean="0"/>
              <a:t>pointer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xml</a:t>
            </a:r>
            <a:r>
              <a:rPr lang="de-AT" dirty="0" smtClean="0"/>
              <a:t> </a:t>
            </a:r>
            <a:r>
              <a:rPr lang="de-AT" dirty="0" err="1" smtClean="0"/>
              <a:t>for</a:t>
            </a:r>
            <a:r>
              <a:rPr lang="de-AT" dirty="0" smtClean="0"/>
              <a:t> </a:t>
            </a:r>
            <a:r>
              <a:rPr lang="de-AT" dirty="0" err="1" smtClean="0"/>
              <a:t>getting</a:t>
            </a:r>
            <a:r>
              <a:rPr lang="de-AT" dirty="0" smtClean="0"/>
              <a:t> </a:t>
            </a:r>
            <a:r>
              <a:rPr lang="de-AT" dirty="0" err="1" smtClean="0"/>
              <a:t>xml-definitions</a:t>
            </a:r>
            <a:endParaRPr lang="de-AT" dirty="0" smtClean="0"/>
          </a:p>
          <a:p>
            <a:pPr lvl="2"/>
            <a:r>
              <a:rPr lang="de-AT" b="1" dirty="0" err="1" smtClean="0"/>
              <a:t>PtrParamNode</a:t>
            </a:r>
            <a:r>
              <a:rPr lang="de-AT" b="1" dirty="0" smtClean="0"/>
              <a:t> </a:t>
            </a:r>
            <a:r>
              <a:rPr lang="de-AT" b="1" dirty="0" err="1" smtClean="0"/>
              <a:t>infoNode</a:t>
            </a:r>
            <a:r>
              <a:rPr lang="de-AT" b="1" dirty="0" smtClean="0"/>
              <a:t>: </a:t>
            </a:r>
            <a:r>
              <a:rPr lang="de-AT" dirty="0" err="1" smtClean="0"/>
              <a:t>for</a:t>
            </a:r>
            <a:r>
              <a:rPr lang="de-AT" dirty="0" smtClean="0"/>
              <a:t> </a:t>
            </a:r>
            <a:r>
              <a:rPr lang="de-AT" dirty="0" err="1" smtClean="0"/>
              <a:t>writing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*.info.xml </a:t>
            </a:r>
            <a:r>
              <a:rPr lang="de-AT" dirty="0" err="1" smtClean="0"/>
              <a:t>file</a:t>
            </a:r>
            <a:endParaRPr lang="de-AT" dirty="0"/>
          </a:p>
          <a:p>
            <a:pPr lvl="2"/>
            <a:r>
              <a:rPr lang="de-AT" b="1" dirty="0" err="1" smtClean="0"/>
              <a:t>shared_ptr</a:t>
            </a:r>
            <a:r>
              <a:rPr lang="de-AT" b="1" dirty="0" smtClean="0"/>
              <a:t>&lt;</a:t>
            </a:r>
            <a:r>
              <a:rPr lang="de-AT" b="1" dirty="0" err="1" smtClean="0"/>
              <a:t>SimState</a:t>
            </a:r>
            <a:r>
              <a:rPr lang="de-AT" b="1" dirty="0"/>
              <a:t>&gt; </a:t>
            </a:r>
            <a:r>
              <a:rPr lang="de-AT" b="1" dirty="0" err="1" smtClean="0"/>
              <a:t>simState</a:t>
            </a:r>
            <a:r>
              <a:rPr lang="de-AT" dirty="0" smtClean="0"/>
              <a:t>: </a:t>
            </a:r>
            <a:r>
              <a:rPr lang="de-AT" dirty="0" err="1" smtClean="0"/>
              <a:t>pointer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state</a:t>
            </a:r>
            <a:r>
              <a:rPr lang="de-AT" dirty="0" smtClean="0"/>
              <a:t>;  </a:t>
            </a:r>
            <a:r>
              <a:rPr lang="de-AT" dirty="0" err="1" smtClean="0"/>
              <a:t>has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en-US" dirty="0" smtClean="0"/>
              <a:t> </a:t>
            </a:r>
            <a:r>
              <a:rPr lang="en-US" dirty="0"/>
              <a:t>functionality for saving and </a:t>
            </a:r>
            <a:r>
              <a:rPr lang="en-US" dirty="0" smtClean="0"/>
              <a:t>restoring the </a:t>
            </a:r>
            <a:r>
              <a:rPr lang="en-US" dirty="0"/>
              <a:t>internal state of a simulation at any given time / frequency step.</a:t>
            </a:r>
            <a:endParaRPr lang="de-AT" dirty="0" smtClean="0"/>
          </a:p>
          <a:p>
            <a:pPr lvl="2"/>
            <a:r>
              <a:rPr lang="de-AT" b="1" dirty="0" smtClean="0"/>
              <a:t>Domain</a:t>
            </a:r>
            <a:r>
              <a:rPr lang="de-AT" b="1" dirty="0"/>
              <a:t>* </a:t>
            </a:r>
            <a:r>
              <a:rPr lang="de-AT" b="1" dirty="0" err="1" smtClean="0"/>
              <a:t>domain</a:t>
            </a:r>
            <a:r>
              <a:rPr lang="de-AT" b="1" dirty="0" smtClean="0"/>
              <a:t>: </a:t>
            </a:r>
            <a:r>
              <a:rPr lang="de-AT" dirty="0" err="1" smtClean="0"/>
              <a:t>pointer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domain</a:t>
            </a:r>
            <a:endParaRPr lang="de-AT" dirty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447810"/>
              </p:ext>
            </p:extLst>
          </p:nvPr>
        </p:nvGraphicFramePr>
        <p:xfrm>
          <a:off x="1068783" y="1505808"/>
          <a:ext cx="7597340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Constructor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.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/*!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aGrid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pointer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grid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pointer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corresponding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parameter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node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pointer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writing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info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(*.info.xml)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file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pointer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to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state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stopping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and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restarting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sims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\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pointer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do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object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*/</a:t>
                      </a: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 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3987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Be aware: a lot of </a:t>
            </a:r>
            <a:r>
              <a:rPr lang="en-US" dirty="0" smtClean="0"/>
              <a:t>things </a:t>
            </a:r>
            <a:r>
              <a:rPr lang="en-US" dirty="0" smtClean="0"/>
              <a:t>happen in</a:t>
            </a:r>
          </a:p>
          <a:p>
            <a:pPr lvl="1"/>
            <a:r>
              <a:rPr lang="en-US" dirty="0" err="1" smtClean="0"/>
              <a:t>SinglePDE</a:t>
            </a:r>
            <a:r>
              <a:rPr lang="en-US" dirty="0" smtClean="0"/>
              <a:t>, </a:t>
            </a:r>
            <a:r>
              <a:rPr lang="en-US" dirty="0" err="1" smtClean="0"/>
              <a:t>StdPDE</a:t>
            </a:r>
            <a:r>
              <a:rPr lang="en-US" dirty="0" smtClean="0"/>
              <a:t> and </a:t>
            </a:r>
            <a:r>
              <a:rPr lang="en-US" dirty="0" err="1" smtClean="0"/>
              <a:t>BasePDE</a:t>
            </a:r>
            <a:r>
              <a:rPr lang="en-US" dirty="0" smtClean="0"/>
              <a:t> (have a look to all these classes!)</a:t>
            </a:r>
          </a:p>
          <a:p>
            <a:pPr lvl="1"/>
            <a:r>
              <a:rPr lang="en-US" dirty="0" smtClean="0"/>
              <a:t>E.g., constructor of </a:t>
            </a:r>
            <a:r>
              <a:rPr lang="en-US" dirty="0" err="1" smtClean="0"/>
              <a:t>StdPDE</a:t>
            </a: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931356"/>
              </p:ext>
            </p:extLst>
          </p:nvPr>
        </p:nvGraphicFramePr>
        <p:xfrm>
          <a:off x="1068783" y="1772807"/>
          <a:ext cx="75973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StdPDE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 :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BasePDE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subType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nonLin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nonLinMaterial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nonLinTotalFormulation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isHysteresis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isIterCoupled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diagMass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needsAlgsys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true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isAlwaysStatic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dim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GetDim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isaxi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IsAxi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assemble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solveStep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algsys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_(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{ } 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965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Constructor of </a:t>
            </a:r>
            <a:r>
              <a:rPr lang="en-US" dirty="0" err="1" smtClean="0"/>
              <a:t>TestPDE</a:t>
            </a: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sp>
        <p:nvSpPr>
          <p:cNvPr id="7" name="Textfeld 6"/>
          <p:cNvSpPr txBox="1"/>
          <p:nvPr/>
        </p:nvSpPr>
        <p:spPr>
          <a:xfrm>
            <a:off x="213750" y="4049487"/>
            <a:ext cx="912294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 smtClean="0"/>
              <a:t>Efforts</a:t>
            </a:r>
            <a:r>
              <a:rPr lang="de-AT" dirty="0" smtClean="0"/>
              <a:t> </a:t>
            </a:r>
            <a:r>
              <a:rPr lang="de-AT" dirty="0" err="1" smtClean="0"/>
              <a:t>action</a:t>
            </a:r>
            <a:r>
              <a:rPr lang="de-AT" dirty="0" smtClean="0"/>
              <a:t> </a:t>
            </a:r>
            <a:r>
              <a:rPr lang="de-AT" dirty="0" err="1" smtClean="0"/>
              <a:t>concerning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material </a:t>
            </a:r>
            <a:r>
              <a:rPr lang="de-AT" dirty="0" err="1" smtClean="0"/>
              <a:t>class</a:t>
            </a:r>
            <a:endParaRPr lang="de-AT" dirty="0" smtClean="0"/>
          </a:p>
          <a:p>
            <a:pPr marL="800100" lvl="1" indent="-342900">
              <a:buFont typeface="+mj-lt"/>
              <a:buAutoNum type="arabicPeriod"/>
            </a:pPr>
            <a:r>
              <a:rPr lang="de-AT" dirty="0" smtClean="0"/>
              <a:t>In „</a:t>
            </a:r>
            <a:r>
              <a:rPr lang="de-AT" dirty="0" err="1" smtClean="0"/>
              <a:t>Environment.hh</a:t>
            </a:r>
            <a:r>
              <a:rPr lang="de-AT" dirty="0" smtClean="0"/>
              <a:t>“: </a:t>
            </a:r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enumeration</a:t>
            </a:r>
            <a:r>
              <a:rPr lang="de-AT" dirty="0"/>
              <a:t> „</a:t>
            </a:r>
            <a:r>
              <a:rPr lang="de-AT" dirty="0" err="1" smtClean="0"/>
              <a:t>MaterialClass</a:t>
            </a:r>
            <a:r>
              <a:rPr lang="de-AT" dirty="0" smtClean="0"/>
              <a:t>“ </a:t>
            </a:r>
            <a:r>
              <a:rPr lang="de-AT" dirty="0" err="1" smtClean="0"/>
              <a:t>by</a:t>
            </a:r>
            <a:r>
              <a:rPr lang="de-AT" dirty="0" smtClean="0"/>
              <a:t> </a:t>
            </a:r>
            <a:r>
              <a:rPr lang="de-AT" i="1" dirty="0" smtClean="0"/>
              <a:t>TESTMAT</a:t>
            </a:r>
          </a:p>
          <a:p>
            <a:pPr marL="1257300" lvl="2" indent="-342900">
              <a:buFont typeface="Arial" pitchFamily="34" charset="0"/>
              <a:buChar char="•"/>
            </a:pPr>
            <a:r>
              <a:rPr lang="de-AT" dirty="0" smtClean="0"/>
              <a:t>String </a:t>
            </a:r>
            <a:r>
              <a:rPr lang="de-AT" dirty="0" err="1" smtClean="0"/>
              <a:t>name</a:t>
            </a:r>
            <a:r>
              <a:rPr lang="de-AT" dirty="0" smtClean="0"/>
              <a:t>: </a:t>
            </a:r>
            <a:r>
              <a:rPr lang="de-AT" dirty="0" err="1" smtClean="0"/>
              <a:t>testmat</a:t>
            </a:r>
            <a:r>
              <a:rPr lang="de-AT" dirty="0" smtClean="0"/>
              <a:t> (</a:t>
            </a:r>
            <a:r>
              <a:rPr lang="de-AT" dirty="0" err="1" smtClean="0"/>
              <a:t>used</a:t>
            </a:r>
            <a:r>
              <a:rPr lang="de-AT" dirty="0" smtClean="0"/>
              <a:t> in </a:t>
            </a:r>
            <a:r>
              <a:rPr lang="de-AT" dirty="0" err="1" smtClean="0"/>
              <a:t>xml</a:t>
            </a:r>
            <a:r>
              <a:rPr lang="de-AT" dirty="0" smtClean="0"/>
              <a:t>-material </a:t>
            </a:r>
            <a:r>
              <a:rPr lang="de-AT" dirty="0" err="1" smtClean="0"/>
              <a:t>file</a:t>
            </a:r>
            <a:r>
              <a:rPr lang="de-AT" dirty="0" smtClean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AT" dirty="0" smtClean="0"/>
              <a:t>In „Environment.cc“: </a:t>
            </a:r>
            <a:r>
              <a:rPr lang="de-AT" dirty="0" err="1" smtClean="0"/>
              <a:t>fill</a:t>
            </a:r>
            <a:r>
              <a:rPr lang="de-AT" dirty="0"/>
              <a:t> </a:t>
            </a:r>
            <a:r>
              <a:rPr lang="de-AT" dirty="0" smtClean="0"/>
              <a:t>out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corresponding</a:t>
            </a:r>
            <a:r>
              <a:rPr lang="de-AT" dirty="0" smtClean="0"/>
              <a:t> „String2Enum“ </a:t>
            </a:r>
            <a:r>
              <a:rPr lang="de-AT" dirty="0" err="1" smtClean="0"/>
              <a:t>and</a:t>
            </a:r>
            <a:r>
              <a:rPr lang="de-AT" dirty="0"/>
              <a:t> „</a:t>
            </a:r>
            <a:r>
              <a:rPr lang="de-AT" dirty="0" smtClean="0"/>
              <a:t>Enum2String“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AT" dirty="0" smtClean="0"/>
              <a:t>In „</a:t>
            </a:r>
            <a:r>
              <a:rPr lang="de-AT" dirty="0" err="1" smtClean="0"/>
              <a:t>Environment.hh</a:t>
            </a:r>
            <a:r>
              <a:rPr lang="de-AT" dirty="0" smtClean="0"/>
              <a:t>“: </a:t>
            </a:r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material </a:t>
            </a:r>
            <a:r>
              <a:rPr lang="de-AT" dirty="0" err="1" smtClean="0"/>
              <a:t>parameters</a:t>
            </a:r>
            <a:r>
              <a:rPr lang="de-AT" dirty="0" smtClean="0"/>
              <a:t> </a:t>
            </a:r>
            <a:r>
              <a:rPr lang="de-AT" dirty="0" err="1" smtClean="0"/>
              <a:t>alpha</a:t>
            </a:r>
            <a:r>
              <a:rPr lang="de-AT" dirty="0" smtClean="0"/>
              <a:t> </a:t>
            </a:r>
            <a:r>
              <a:rPr lang="de-AT" dirty="0" err="1" smtClean="0"/>
              <a:t>and</a:t>
            </a:r>
            <a:r>
              <a:rPr lang="de-AT" dirty="0" smtClean="0"/>
              <a:t> </a:t>
            </a:r>
            <a:r>
              <a:rPr lang="de-AT" dirty="0" err="1" smtClean="0"/>
              <a:t>beta</a:t>
            </a:r>
            <a:r>
              <a:rPr lang="de-AT" dirty="0"/>
              <a:t> in </a:t>
            </a:r>
            <a:r>
              <a:rPr lang="de-AT" dirty="0" smtClean="0"/>
              <a:t>„</a:t>
            </a:r>
            <a:r>
              <a:rPr lang="de-AT" dirty="0" err="1" smtClean="0"/>
              <a:t>MaterialType</a:t>
            </a:r>
            <a:r>
              <a:rPr lang="de-AT" dirty="0" smtClean="0"/>
              <a:t>“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AT" dirty="0"/>
              <a:t>In „Environment.cc“: </a:t>
            </a:r>
            <a:r>
              <a:rPr lang="de-AT" dirty="0" err="1"/>
              <a:t>fill</a:t>
            </a:r>
            <a:r>
              <a:rPr lang="de-AT" dirty="0"/>
              <a:t> out </a:t>
            </a:r>
            <a:r>
              <a:rPr lang="de-AT" dirty="0" err="1"/>
              <a:t>the</a:t>
            </a:r>
            <a:r>
              <a:rPr lang="de-AT" dirty="0"/>
              <a:t> „</a:t>
            </a:r>
            <a:r>
              <a:rPr lang="de-AT" dirty="0" err="1" smtClean="0"/>
              <a:t>MaterialTypeEnum.Add</a:t>
            </a:r>
            <a:r>
              <a:rPr lang="de-AT" dirty="0" smtClean="0"/>
              <a:t>“</a:t>
            </a:r>
          </a:p>
          <a:p>
            <a:pPr marL="1257300" lvl="2" indent="-342900">
              <a:buFont typeface="Arial" pitchFamily="34" charset="0"/>
              <a:buChar char="•"/>
            </a:pPr>
            <a:r>
              <a:rPr lang="de-AT" dirty="0" smtClean="0"/>
              <a:t>Name: TEST_ALPHA, TEST_BETA</a:t>
            </a:r>
            <a:endParaRPr lang="de-AT" dirty="0"/>
          </a:p>
          <a:p>
            <a:pPr marL="800100" lvl="1" indent="-342900">
              <a:buFont typeface="+mj-lt"/>
              <a:buAutoNum type="arabicPeriod"/>
            </a:pPr>
            <a:endParaRPr lang="de-AT" dirty="0" smtClean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</p:txBody>
      </p:sp>
      <p:graphicFrame>
        <p:nvGraphicFramePr>
          <p:cNvPr id="8" name="Tabel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602285"/>
              </p:ext>
            </p:extLst>
          </p:nvPr>
        </p:nvGraphicFramePr>
        <p:xfrm>
          <a:off x="1068783" y="1288732"/>
          <a:ext cx="75973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: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SinglePDE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domain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pdename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pdematerialclass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TESTMAT;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nonLin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false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Always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use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updated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Lagrangian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updatedGeo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true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6" name="Gerade Verbindung mit Pfeil 5"/>
          <p:cNvCxnSpPr/>
          <p:nvPr/>
        </p:nvCxnSpPr>
        <p:spPr>
          <a:xfrm flipV="1">
            <a:off x="3657600" y="2876550"/>
            <a:ext cx="180975" cy="1172938"/>
          </a:xfrm>
          <a:prstGeom prst="straightConnector1">
            <a:avLst/>
          </a:prstGeom>
          <a:ln w="15875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744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Define the functional space</a:t>
            </a:r>
          </a:p>
          <a:p>
            <a:pPr lvl="1"/>
            <a:r>
              <a:rPr lang="de-AT" dirty="0" err="1" smtClean="0"/>
              <a:t>Method</a:t>
            </a:r>
            <a:r>
              <a:rPr lang="de-AT" dirty="0" smtClean="0"/>
              <a:t> </a:t>
            </a:r>
            <a:r>
              <a:rPr lang="en-US" dirty="0" err="1" smtClean="0"/>
              <a:t>CreateFeSpaces</a:t>
            </a:r>
            <a:endParaRPr lang="en-US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en-US" sz="2400" dirty="0" smtClean="0"/>
          </a:p>
          <a:p>
            <a:pPr lvl="1"/>
            <a:endParaRPr lang="en-US" sz="800" dirty="0" smtClean="0"/>
          </a:p>
          <a:p>
            <a:pPr lvl="1"/>
            <a:r>
              <a:rPr lang="de-AT" dirty="0" smtClean="0"/>
              <a:t>Needs </a:t>
            </a:r>
            <a:r>
              <a:rPr lang="de-AT" dirty="0" err="1" smtClean="0"/>
              <a:t>definition</a:t>
            </a:r>
            <a:r>
              <a:rPr lang="de-AT" dirty="0" smtClean="0"/>
              <a:t>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primary</a:t>
            </a:r>
            <a:r>
              <a:rPr lang="de-AT" dirty="0" smtClean="0"/>
              <a:t> </a:t>
            </a:r>
            <a:r>
              <a:rPr lang="de-AT" dirty="0" err="1" smtClean="0"/>
              <a:t>degree</a:t>
            </a:r>
            <a:r>
              <a:rPr lang="de-AT" dirty="0" smtClean="0"/>
              <a:t>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freedom</a:t>
            </a:r>
            <a:endParaRPr lang="de-AT" dirty="0" smtClean="0"/>
          </a:p>
          <a:p>
            <a:pPr lvl="2"/>
            <a:r>
              <a:rPr lang="de-AT" dirty="0" smtClean="0"/>
              <a:t>In </a:t>
            </a:r>
            <a:r>
              <a:rPr lang="de-AT" dirty="0"/>
              <a:t>„</a:t>
            </a:r>
            <a:r>
              <a:rPr lang="de-AT" dirty="0" err="1"/>
              <a:t>Environment.hh</a:t>
            </a:r>
            <a:r>
              <a:rPr lang="de-AT" dirty="0"/>
              <a:t>“: </a:t>
            </a:r>
            <a:r>
              <a:rPr lang="de-AT" dirty="0" err="1"/>
              <a:t>define</a:t>
            </a:r>
            <a:r>
              <a:rPr lang="de-AT" dirty="0"/>
              <a:t> „</a:t>
            </a:r>
            <a:r>
              <a:rPr lang="de-AT" dirty="0" err="1"/>
              <a:t>SolutionType</a:t>
            </a:r>
            <a:r>
              <a:rPr lang="de-AT" dirty="0" smtClean="0"/>
              <a:t>“ (</a:t>
            </a:r>
            <a:r>
              <a:rPr lang="de-AT" dirty="0" err="1" smtClean="0"/>
              <a:t>primary</a:t>
            </a:r>
            <a:r>
              <a:rPr lang="de-AT" dirty="0" smtClean="0"/>
              <a:t> </a:t>
            </a:r>
            <a:r>
              <a:rPr lang="de-AT" dirty="0" err="1" smtClean="0"/>
              <a:t>dof</a:t>
            </a:r>
            <a:r>
              <a:rPr lang="de-AT" dirty="0" smtClean="0"/>
              <a:t> </a:t>
            </a:r>
            <a:r>
              <a:rPr lang="de-AT" dirty="0" err="1" smtClean="0"/>
              <a:t>and</a:t>
            </a:r>
            <a:r>
              <a:rPr lang="de-AT" dirty="0" smtClean="0"/>
              <a:t>, e.g., </a:t>
            </a:r>
            <a:r>
              <a:rPr lang="de-AT" dirty="0" err="1" smtClean="0"/>
              <a:t>postprocessing</a:t>
            </a:r>
            <a:r>
              <a:rPr lang="de-AT" dirty="0" smtClean="0"/>
              <a:t> </a:t>
            </a:r>
            <a:r>
              <a:rPr lang="de-AT" dirty="0" err="1" smtClean="0"/>
              <a:t>result</a:t>
            </a:r>
            <a:r>
              <a:rPr lang="de-AT" dirty="0" smtClean="0"/>
              <a:t>, </a:t>
            </a:r>
            <a:r>
              <a:rPr lang="de-AT" dirty="0" err="1" smtClean="0"/>
              <a:t>and</a:t>
            </a:r>
            <a:r>
              <a:rPr lang="de-AT" dirty="0" smtClean="0"/>
              <a:t> </a:t>
            </a:r>
            <a:r>
              <a:rPr lang="de-AT" dirty="0" err="1" smtClean="0"/>
              <a:t>any</a:t>
            </a:r>
            <a:r>
              <a:rPr lang="de-AT" dirty="0" smtClean="0"/>
              <a:t> </a:t>
            </a:r>
            <a:r>
              <a:rPr lang="de-AT" dirty="0" err="1" smtClean="0"/>
              <a:t>right</a:t>
            </a:r>
            <a:r>
              <a:rPr lang="de-AT" dirty="0" smtClean="0"/>
              <a:t> </a:t>
            </a:r>
            <a:r>
              <a:rPr lang="de-AT" dirty="0" err="1" smtClean="0"/>
              <a:t>hand</a:t>
            </a:r>
            <a:r>
              <a:rPr lang="de-AT" dirty="0" smtClean="0"/>
              <a:t> </a:t>
            </a:r>
            <a:r>
              <a:rPr lang="de-AT" dirty="0" err="1" smtClean="0"/>
              <a:t>side</a:t>
            </a:r>
            <a:r>
              <a:rPr lang="de-AT" dirty="0" smtClean="0"/>
              <a:t> </a:t>
            </a:r>
            <a:r>
              <a:rPr lang="de-AT" dirty="0" err="1" smtClean="0"/>
              <a:t>load</a:t>
            </a:r>
            <a:r>
              <a:rPr lang="de-AT" dirty="0" smtClean="0"/>
              <a:t>)</a:t>
            </a:r>
          </a:p>
          <a:p>
            <a:pPr lvl="2"/>
            <a:endParaRPr lang="de-AT" sz="500" dirty="0" smtClean="0"/>
          </a:p>
          <a:p>
            <a:pPr lvl="2"/>
            <a:r>
              <a:rPr lang="de-AT" dirty="0" err="1" smtClean="0"/>
              <a:t>We</a:t>
            </a:r>
            <a:r>
              <a:rPr lang="de-AT" dirty="0" smtClean="0"/>
              <a:t> </a:t>
            </a:r>
            <a:r>
              <a:rPr lang="de-AT" dirty="0" err="1" smtClean="0"/>
              <a:t>name</a:t>
            </a:r>
            <a:r>
              <a:rPr lang="de-AT" dirty="0" smtClean="0"/>
              <a:t> </a:t>
            </a:r>
            <a:r>
              <a:rPr lang="de-AT" dirty="0" err="1" smtClean="0"/>
              <a:t>them</a:t>
            </a:r>
            <a:r>
              <a:rPr lang="de-AT" dirty="0" smtClean="0"/>
              <a:t> „TEST_DOF“ </a:t>
            </a:r>
            <a:r>
              <a:rPr lang="de-AT" dirty="0" err="1" smtClean="0"/>
              <a:t>and</a:t>
            </a:r>
            <a:r>
              <a:rPr lang="de-AT" dirty="0" smtClean="0"/>
              <a:t> „TEST_FIELD“ </a:t>
            </a:r>
            <a:r>
              <a:rPr lang="de-AT" dirty="0" err="1" smtClean="0"/>
              <a:t>and</a:t>
            </a:r>
            <a:r>
              <a:rPr lang="de-AT" dirty="0" smtClean="0"/>
              <a:t> „TEST_RHS_LOAD“</a:t>
            </a:r>
          </a:p>
          <a:p>
            <a:pPr lvl="2"/>
            <a:endParaRPr lang="de-AT" sz="500" dirty="0" smtClean="0"/>
          </a:p>
          <a:p>
            <a:pPr lvl="2"/>
            <a:r>
              <a:rPr lang="de-AT" dirty="0" smtClean="0"/>
              <a:t>In „Environment.cc“: </a:t>
            </a:r>
            <a:r>
              <a:rPr lang="de-AT" dirty="0" err="1" smtClean="0"/>
              <a:t>put</a:t>
            </a:r>
            <a:r>
              <a:rPr lang="de-AT" dirty="0" smtClean="0"/>
              <a:t> </a:t>
            </a:r>
            <a:r>
              <a:rPr lang="de-AT" dirty="0" err="1" smtClean="0"/>
              <a:t>them</a:t>
            </a:r>
            <a:r>
              <a:rPr lang="de-AT" dirty="0" smtClean="0"/>
              <a:t>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/>
              <a:t> „</a:t>
            </a:r>
            <a:r>
              <a:rPr lang="de-AT" dirty="0" err="1" smtClean="0"/>
              <a:t>SolutionTypeEnum</a:t>
            </a:r>
            <a:r>
              <a:rPr lang="de-AT" dirty="0" smtClean="0"/>
              <a:t>“</a:t>
            </a:r>
            <a:endParaRPr lang="de-AT" dirty="0"/>
          </a:p>
          <a:p>
            <a:pPr marL="457200" lvl="1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5" name="Tabel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816379"/>
              </p:ext>
            </p:extLst>
          </p:nvPr>
        </p:nvGraphicFramePr>
        <p:xfrm>
          <a:off x="1068783" y="1378847"/>
          <a:ext cx="75973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SolutionType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&gt;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CreateFeSpaces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const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&amp;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SolutionType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crSpaces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default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||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"H1"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potSpaceNode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testDof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crSpaces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[TEST_DOF] =</a:t>
                      </a:r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CreateInstance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myParam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_,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potSpaceNode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::H1,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_);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crSpaces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[TEST_DOF]-&gt;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solStrat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EXCEPTION(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"The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&lt;&lt;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formulation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&lt;&lt;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of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TEST PDE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is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not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known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!"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return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crSpaces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250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result types</a:t>
            </a:r>
          </a:p>
          <a:p>
            <a:pPr lvl="1"/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de-AT" dirty="0" err="1" smtClean="0"/>
              <a:t>DefinePrimaryResults</a:t>
            </a:r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7" name="Tabel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365012"/>
              </p:ext>
            </p:extLst>
          </p:nvPr>
        </p:nvGraphicFramePr>
        <p:xfrm>
          <a:off x="1068783" y="1460664"/>
          <a:ext cx="7597340" cy="478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DefinePrimaryResults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=== TEST ===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res1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resultType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TEST_DOF;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dofNames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unit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"?"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definedOn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::NODE;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entryType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::SCALAR;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(res1);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Push_back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res1 );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availResults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insert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res1 );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res1-&gt;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SetFeFunction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DefineFieldResult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_[TEST_DOF], res1 );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-----------------------------------</a:t>
                      </a:r>
                    </a:p>
                    <a:p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xml-names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of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Dirichlet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BCs</a:t>
                      </a:r>
                    </a:p>
                    <a:p>
                      <a:r>
                        <a:rPr lang="de-CH" sz="1400" b="0" i="1" u="none" strike="noStrike" baseline="0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-----------------------------------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hdbcSolNameMap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testGround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idbcSolNameMap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testPotential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… 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5" name="Gerade Verbindung mit Pfeil 4"/>
          <p:cNvCxnSpPr>
            <a:stCxn id="6" idx="1"/>
          </p:cNvCxnSpPr>
          <p:nvPr/>
        </p:nvCxnSpPr>
        <p:spPr>
          <a:xfrm flipH="1" flipV="1">
            <a:off x="5686425" y="5822875"/>
            <a:ext cx="235404" cy="184666"/>
          </a:xfrm>
          <a:prstGeom prst="straightConnector1">
            <a:avLst/>
          </a:prstGeom>
          <a:ln w="15875">
            <a:solidFill>
              <a:schemeClr val="bg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/>
          <p:cNvSpPr txBox="1"/>
          <p:nvPr/>
        </p:nvSpPr>
        <p:spPr>
          <a:xfrm>
            <a:off x="5921829" y="5822875"/>
            <a:ext cx="15388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AT" dirty="0" smtClean="0">
                <a:solidFill>
                  <a:schemeClr val="bg1"/>
                </a:solidFill>
              </a:rPr>
              <a:t>Tag in </a:t>
            </a:r>
            <a:r>
              <a:rPr lang="de-AT" dirty="0" smtClean="0">
                <a:solidFill>
                  <a:schemeClr val="bg1"/>
                </a:solidFill>
              </a:rPr>
              <a:t>XML </a:t>
            </a:r>
            <a:r>
              <a:rPr lang="de-AT" dirty="0" err="1" smtClean="0">
                <a:solidFill>
                  <a:schemeClr val="bg1"/>
                </a:solidFill>
              </a:rPr>
              <a:t>file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929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result types</a:t>
            </a:r>
          </a:p>
          <a:p>
            <a:pPr lvl="1"/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en-US" dirty="0" err="1" smtClean="0"/>
              <a:t>DefinePostProcResults</a:t>
            </a:r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5" name="Tabel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891831"/>
              </p:ext>
            </p:extLst>
          </p:nvPr>
        </p:nvGraphicFramePr>
        <p:xfrm>
          <a:off x="1068783" y="1558030"/>
          <a:ext cx="7597340" cy="3718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DefinePostProcResults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{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=== TEST FIELD ===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StdVector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vecComponents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dim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== 3 ) {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vecComponents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"x"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"y"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"z"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isaxi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) {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vecComponents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"r"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"z"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vecComponents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"x"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"y"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 }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BaseFeFunction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feFct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resultType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TEST_FIELD;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dofNames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vecComponents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unit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"??"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definedOn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::ELEMENT;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entryType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::VECTOR;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availResults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insert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… </a:t>
                      </a:r>
                      <a:endParaRPr lang="en-US" sz="1400" dirty="0" smtClean="0">
                        <a:effectLst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593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result types</a:t>
            </a:r>
          </a:p>
          <a:p>
            <a:pPr lvl="1"/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en-US" dirty="0" err="1" smtClean="0"/>
              <a:t>DefinePostProcResults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5" name="Tabel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137460"/>
              </p:ext>
            </p:extLst>
          </p:nvPr>
        </p:nvGraphicFramePr>
        <p:xfrm>
          <a:off x="1068783" y="1505392"/>
          <a:ext cx="7597340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… 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98F5FF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CoefFunctionFormBased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fieldFunc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fieldFunc.reset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CoefFunctionBOp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fieldFunc.reset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CoefFunctionBOp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&lt;Double&gt;(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DefineFieldResult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stiffFormCoefs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insert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fieldFunc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9207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the bilinear forms: </a:t>
            </a:r>
            <a:r>
              <a:rPr lang="de-AT" dirty="0" err="1" smtClean="0"/>
              <a:t>Method</a:t>
            </a:r>
            <a:r>
              <a:rPr lang="de-AT" dirty="0" smtClean="0"/>
              <a:t> </a:t>
            </a:r>
            <a:r>
              <a:rPr lang="de-AT" dirty="0" err="1"/>
              <a:t>DefineIntegrators</a:t>
            </a:r>
            <a:r>
              <a:rPr lang="de-AT" dirty="0"/>
              <a:t>() </a:t>
            </a:r>
            <a:endParaRPr lang="de-AT" dirty="0" smtClean="0"/>
          </a:p>
          <a:p>
            <a:pPr lvl="1"/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local</a:t>
            </a:r>
            <a:r>
              <a:rPr lang="de-AT" dirty="0" smtClean="0"/>
              <a:t> variables</a:t>
            </a:r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sz="1000" dirty="0"/>
          </a:p>
          <a:p>
            <a:pPr lvl="1"/>
            <a:r>
              <a:rPr lang="de-AT" dirty="0" smtClean="0"/>
              <a:t>Loop </a:t>
            </a:r>
            <a:r>
              <a:rPr lang="de-AT" dirty="0" err="1" smtClean="0"/>
              <a:t>over</a:t>
            </a:r>
            <a:r>
              <a:rPr lang="de-AT" dirty="0" smtClean="0"/>
              <a:t> all </a:t>
            </a:r>
            <a:r>
              <a:rPr lang="de-AT" dirty="0" err="1" smtClean="0"/>
              <a:t>regions</a:t>
            </a:r>
            <a:r>
              <a:rPr lang="de-AT" dirty="0" smtClean="0"/>
              <a:t>, </a:t>
            </a:r>
            <a:r>
              <a:rPr lang="de-AT" dirty="0" err="1" smtClean="0"/>
              <a:t>the</a:t>
            </a:r>
            <a:r>
              <a:rPr lang="de-AT" dirty="0" smtClean="0"/>
              <a:t> PDE </a:t>
            </a:r>
            <a:r>
              <a:rPr lang="de-AT" dirty="0" err="1" smtClean="0"/>
              <a:t>is</a:t>
            </a:r>
            <a:r>
              <a:rPr lang="de-AT" dirty="0" smtClean="0"/>
              <a:t> </a:t>
            </a:r>
            <a:r>
              <a:rPr lang="de-AT" dirty="0" err="1" smtClean="0"/>
              <a:t>defined</a:t>
            </a:r>
            <a:r>
              <a:rPr lang="de-AT" dirty="0" smtClean="0"/>
              <a:t> on</a:t>
            </a:r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de-AT" dirty="0" smtClean="0"/>
          </a:p>
          <a:p>
            <a:pPr lvl="1"/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1100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dirty="0" smtClean="0"/>
          </a:p>
          <a:p>
            <a:pPr lvl="1"/>
            <a:endParaRPr lang="en-US" sz="2400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328701"/>
              </p:ext>
            </p:extLst>
          </p:nvPr>
        </p:nvGraphicFramePr>
        <p:xfrm>
          <a:off x="1068783" y="1508379"/>
          <a:ext cx="75973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RegionIdType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BaseMaterial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actSDMat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Define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integrators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"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standard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"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materials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map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RegionIdType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BaseMaterial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*&gt;::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iterator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FEFunction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and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space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BaseFeFunction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feFunc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mySpace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el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64520"/>
              </p:ext>
            </p:extLst>
          </p:nvPr>
        </p:nvGraphicFramePr>
        <p:xfrm>
          <a:off x="1068783" y="3964839"/>
          <a:ext cx="759734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materials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begin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!=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materials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_.end();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++ 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Set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current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region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and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material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first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actSDMat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second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current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region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name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regionName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ToString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  <a:endParaRPr lang="de-CH" sz="1400" b="0" i="0" u="none" strike="noStrike" baseline="0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create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entity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list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ElemList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actSDList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ElemList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)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…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946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the bilinear forms: </a:t>
            </a:r>
            <a:r>
              <a:rPr lang="de-AT" dirty="0" err="1" smtClean="0"/>
              <a:t>Method</a:t>
            </a:r>
            <a:r>
              <a:rPr lang="de-AT" dirty="0" smtClean="0"/>
              <a:t> </a:t>
            </a:r>
            <a:r>
              <a:rPr lang="de-AT" dirty="0" err="1"/>
              <a:t>DefineIntegrators</a:t>
            </a:r>
            <a:r>
              <a:rPr lang="de-AT" dirty="0"/>
              <a:t>() 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r>
              <a:rPr lang="de-AT" dirty="0" smtClean="0"/>
              <a:t>Set </a:t>
            </a:r>
            <a:r>
              <a:rPr lang="de-AT" dirty="0" err="1" smtClean="0"/>
              <a:t>the</a:t>
            </a:r>
            <a:r>
              <a:rPr lang="de-AT" dirty="0" smtClean="0"/>
              <a:t> FE </a:t>
            </a:r>
            <a:r>
              <a:rPr lang="de-AT" dirty="0" err="1" smtClean="0"/>
              <a:t>ansatz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marL="457200" lvl="1" indent="0">
              <a:buNone/>
            </a:pPr>
            <a:endParaRPr lang="de-AT" sz="800" dirty="0"/>
          </a:p>
          <a:p>
            <a:pPr marL="457200" lvl="1" indent="0">
              <a:buNone/>
            </a:pPr>
            <a:endParaRPr lang="de-AT" sz="1200" dirty="0"/>
          </a:p>
          <a:p>
            <a:pPr lvl="1"/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and</a:t>
            </a:r>
            <a:r>
              <a:rPr lang="de-AT" dirty="0" smtClean="0"/>
              <a:t> </a:t>
            </a:r>
            <a:r>
              <a:rPr lang="de-AT" dirty="0" err="1" smtClean="0"/>
              <a:t>set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bilinear form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stiffness</a:t>
            </a:r>
            <a:r>
              <a:rPr lang="de-AT" dirty="0" smtClean="0"/>
              <a:t> </a:t>
            </a:r>
            <a:r>
              <a:rPr lang="de-AT" dirty="0" err="1" smtClean="0"/>
              <a:t>matrix</a:t>
            </a:r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346705"/>
              </p:ext>
            </p:extLst>
          </p:nvPr>
        </p:nvGraphicFramePr>
        <p:xfrm>
          <a:off x="1068783" y="1480249"/>
          <a:ext cx="75973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--- Set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FE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ansatz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current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region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---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curRegNode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myParam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regionList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)-&gt;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GetByVal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region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regionName.c_str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polyId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curRegNode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polyId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)-&gt;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integId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curRegNode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integId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)-&gt;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SetRegionApproximation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polyId,integId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pass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entitylist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of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fespace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fefunction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AddEntityList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el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792850"/>
              </p:ext>
            </p:extLst>
          </p:nvPr>
        </p:nvGraphicFramePr>
        <p:xfrm>
          <a:off x="1068783" y="3886244"/>
          <a:ext cx="7597340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69144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PtrCoefFct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actSDMat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GetScalCoefFnc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TEST_BETA,                                         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Global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::REAL 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BaseBDBInt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dim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== 2 )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BBInt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&lt;&gt;(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GradientOperator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&lt;FeH1,2&gt;(),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1.0,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updatedGeo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BBInt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&lt;&gt;(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GradientOperator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&lt;FeH1,3&gt;(),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1.0,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updatedGeo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StiffnessIntegrator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 </a:t>
                      </a:r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574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351023"/>
              </p:ext>
            </p:extLst>
          </p:nvPr>
        </p:nvGraphicFramePr>
        <p:xfrm>
          <a:off x="1068783" y="1599819"/>
          <a:ext cx="75973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BiLinFormContext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stiffIntDescr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stiffIntDescr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BiLinFormContext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STIFFNESS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stiffIntDescr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SetEntities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actSDList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stiffIntDescr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feFunc,feFunc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SetFeSpace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mySpace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assemble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AddBiLinearForm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stiffIntDescr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bdbInts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actRegion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]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stiffInt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Main Steps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en-US" dirty="0" smtClean="0"/>
              <a:t>Define the bilinear forms: </a:t>
            </a:r>
            <a:r>
              <a:rPr lang="de-AT" dirty="0" err="1" smtClean="0"/>
              <a:t>Method</a:t>
            </a:r>
            <a:r>
              <a:rPr lang="de-AT" dirty="0" smtClean="0"/>
              <a:t> </a:t>
            </a:r>
            <a:r>
              <a:rPr lang="de-AT" dirty="0" err="1"/>
              <a:t>DefineIntegrators</a:t>
            </a:r>
            <a:r>
              <a:rPr lang="de-AT" dirty="0"/>
              <a:t>() 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and</a:t>
            </a:r>
            <a:r>
              <a:rPr lang="de-AT" dirty="0" smtClean="0"/>
              <a:t> </a:t>
            </a:r>
            <a:r>
              <a:rPr lang="de-AT" dirty="0" err="1" smtClean="0"/>
              <a:t>set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bilinear form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stiffness</a:t>
            </a:r>
            <a:r>
              <a:rPr lang="de-AT" dirty="0" smtClean="0"/>
              <a:t> </a:t>
            </a:r>
            <a:r>
              <a:rPr lang="de-AT" dirty="0" err="1" smtClean="0"/>
              <a:t>matrix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r>
              <a:rPr lang="de-AT" dirty="0" smtClean="0"/>
              <a:t>Just </a:t>
            </a:r>
            <a:r>
              <a:rPr lang="de-AT" dirty="0" err="1" smtClean="0"/>
              <a:t>the</a:t>
            </a:r>
            <a:r>
              <a:rPr lang="de-AT" dirty="0" smtClean="0"/>
              <a:t> same do </a:t>
            </a:r>
            <a:r>
              <a:rPr lang="de-AT" dirty="0" err="1" smtClean="0"/>
              <a:t>for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bilinear form </a:t>
            </a:r>
            <a:r>
              <a:rPr lang="de-AT" dirty="0" err="1" smtClean="0"/>
              <a:t>of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mass</a:t>
            </a:r>
            <a:r>
              <a:rPr lang="de-AT" dirty="0" smtClean="0"/>
              <a:t> </a:t>
            </a:r>
            <a:r>
              <a:rPr lang="de-AT" dirty="0" err="1" smtClean="0"/>
              <a:t>matrix</a:t>
            </a:r>
            <a:r>
              <a:rPr lang="de-AT" dirty="0" smtClean="0"/>
              <a:t> (material </a:t>
            </a:r>
            <a:r>
              <a:rPr lang="de-AT" dirty="0" err="1" smtClean="0"/>
              <a:t>parameter</a:t>
            </a:r>
            <a:r>
              <a:rPr lang="de-AT" dirty="0" smtClean="0"/>
              <a:t> </a:t>
            </a:r>
            <a:r>
              <a:rPr lang="de-AT" dirty="0" err="1" smtClean="0"/>
              <a:t>alpha</a:t>
            </a:r>
            <a:r>
              <a:rPr lang="de-AT" dirty="0" smtClean="0"/>
              <a:t>)</a:t>
            </a:r>
            <a:endParaRPr lang="en-US" dirty="0" smtClean="0"/>
          </a:p>
          <a:p>
            <a:endParaRPr lang="en-US" dirty="0"/>
          </a:p>
        </p:txBody>
      </p:sp>
      <p:cxnSp>
        <p:nvCxnSpPr>
          <p:cNvPr id="6" name="Gerade Verbindung mit Pfeil 5"/>
          <p:cNvCxnSpPr>
            <a:stCxn id="7" idx="1"/>
          </p:cNvCxnSpPr>
          <p:nvPr/>
        </p:nvCxnSpPr>
        <p:spPr>
          <a:xfrm flipH="1">
            <a:off x="4486275" y="3458785"/>
            <a:ext cx="1195945" cy="0"/>
          </a:xfrm>
          <a:prstGeom prst="straightConnector1">
            <a:avLst/>
          </a:prstGeom>
          <a:ln w="15875">
            <a:solidFill>
              <a:schemeClr val="bg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/>
          <p:cNvSpPr txBox="1"/>
          <p:nvPr/>
        </p:nvSpPr>
        <p:spPr>
          <a:xfrm>
            <a:off x="5682220" y="3274119"/>
            <a:ext cx="1999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 smtClean="0">
                <a:solidFill>
                  <a:schemeClr val="bg1"/>
                </a:solidFill>
              </a:rPr>
              <a:t>For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postprocessing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498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material </a:t>
            </a:r>
            <a:r>
              <a:rPr lang="de-AT" dirty="0" err="1" smtClean="0"/>
              <a:t>class</a:t>
            </a:r>
            <a:r>
              <a:rPr lang="de-AT" dirty="0" smtClean="0"/>
              <a:t>: </a:t>
            </a:r>
            <a:r>
              <a:rPr lang="de-AT" dirty="0" err="1" smtClean="0"/>
              <a:t>directory</a:t>
            </a:r>
            <a:r>
              <a:rPr lang="de-AT" dirty="0" smtClean="0"/>
              <a:t> „</a:t>
            </a:r>
            <a:r>
              <a:rPr lang="de-AT" dirty="0" err="1" smtClean="0"/>
              <a:t>source</a:t>
            </a:r>
            <a:r>
              <a:rPr lang="de-AT" dirty="0" smtClean="0"/>
              <a:t>/Materials“</a:t>
            </a:r>
          </a:p>
          <a:p>
            <a:pPr lvl="1"/>
            <a:r>
              <a:rPr lang="de-AT" dirty="0" err="1" smtClean="0"/>
              <a:t>Generate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files</a:t>
            </a:r>
            <a:r>
              <a:rPr lang="de-AT" dirty="0" smtClean="0"/>
              <a:t> „</a:t>
            </a:r>
            <a:r>
              <a:rPr lang="de-AT" dirty="0" err="1" smtClean="0"/>
              <a:t>testMaterial.hh</a:t>
            </a:r>
            <a:r>
              <a:rPr lang="de-AT" dirty="0" smtClean="0"/>
              <a:t>“ </a:t>
            </a:r>
            <a:r>
              <a:rPr lang="de-AT" dirty="0" err="1" smtClean="0"/>
              <a:t>and</a:t>
            </a:r>
            <a:r>
              <a:rPr lang="de-AT" dirty="0" smtClean="0"/>
              <a:t> „TestMaterial.cc“</a:t>
            </a:r>
          </a:p>
          <a:p>
            <a:pPr lvl="1"/>
            <a:r>
              <a:rPr lang="de-AT" dirty="0" smtClean="0"/>
              <a:t>Add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file</a:t>
            </a:r>
            <a:r>
              <a:rPr lang="de-AT" dirty="0" smtClean="0"/>
              <a:t> „Testmaterial.cc“ </a:t>
            </a:r>
            <a:r>
              <a:rPr lang="de-AT" dirty="0" err="1" smtClean="0"/>
              <a:t>to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/>
              <a:t> </a:t>
            </a:r>
            <a:r>
              <a:rPr lang="de-AT" dirty="0" smtClean="0"/>
              <a:t>CMakeLists.txt</a:t>
            </a:r>
          </a:p>
          <a:p>
            <a:pPr lvl="1"/>
            <a:r>
              <a:rPr lang="de-AT" dirty="0" smtClean="0"/>
              <a:t>Class </a:t>
            </a:r>
            <a:r>
              <a:rPr lang="de-AT" dirty="0" err="1" smtClean="0"/>
              <a:t>TestMaterial</a:t>
            </a:r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144360"/>
              </p:ext>
            </p:extLst>
          </p:nvPr>
        </p:nvGraphicFramePr>
        <p:xfrm>
          <a:off x="1068783" y="2226564"/>
          <a:ext cx="75973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class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: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public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BaseMaterial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</a:t>
                      </a: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public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Default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constructor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MathParser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CoordSystem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defaultCoosy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Destructor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~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a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scalar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real material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parameter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SetScalar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Double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MaterialType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matType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Global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ComplexPart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dataType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//!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a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scalar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real material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parameter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GetScalar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Double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&amp;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param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MaterialType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matType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Global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ComplexPart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dataType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const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private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};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9607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material </a:t>
            </a:r>
            <a:r>
              <a:rPr lang="de-AT" dirty="0" err="1" smtClean="0"/>
              <a:t>class</a:t>
            </a:r>
            <a:r>
              <a:rPr lang="de-AT" dirty="0" smtClean="0"/>
              <a:t>: </a:t>
            </a:r>
            <a:r>
              <a:rPr lang="de-AT" dirty="0" err="1" smtClean="0"/>
              <a:t>directory</a:t>
            </a:r>
            <a:r>
              <a:rPr lang="de-AT" dirty="0" smtClean="0"/>
              <a:t> „</a:t>
            </a:r>
            <a:r>
              <a:rPr lang="de-AT" dirty="0" err="1" smtClean="0"/>
              <a:t>source</a:t>
            </a:r>
            <a:r>
              <a:rPr lang="de-AT" dirty="0" smtClean="0"/>
              <a:t>/Materials“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r>
              <a:rPr lang="de-AT" dirty="0" err="1" smtClean="0"/>
              <a:t>Svn</a:t>
            </a:r>
            <a:r>
              <a:rPr lang="de-AT" dirty="0" smtClean="0"/>
              <a:t> </a:t>
            </a:r>
            <a:r>
              <a:rPr lang="de-AT" dirty="0" err="1" smtClean="0"/>
              <a:t>add</a:t>
            </a:r>
            <a:r>
              <a:rPr lang="de-AT" dirty="0" smtClean="0"/>
              <a:t> TestMaterial.cc </a:t>
            </a:r>
            <a:r>
              <a:rPr lang="de-AT" dirty="0" err="1" smtClean="0"/>
              <a:t>TestMaterial.hh</a:t>
            </a:r>
            <a:endParaRPr lang="de-AT" dirty="0" smtClean="0"/>
          </a:p>
          <a:p>
            <a:pPr lvl="1"/>
            <a:r>
              <a:rPr lang="de-AT" dirty="0" smtClean="0"/>
              <a:t>Class </a:t>
            </a:r>
            <a:r>
              <a:rPr lang="de-AT" dirty="0" err="1" smtClean="0"/>
              <a:t>TestMaterial</a:t>
            </a:r>
            <a:r>
              <a:rPr lang="de-AT" dirty="0" smtClean="0"/>
              <a:t>: </a:t>
            </a:r>
            <a:r>
              <a:rPr lang="de-AT" dirty="0" err="1" smtClean="0"/>
              <a:t>Constructor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class</a:t>
            </a:r>
            <a:r>
              <a:rPr lang="de-AT" dirty="0"/>
              <a:t> „</a:t>
            </a:r>
            <a:r>
              <a:rPr lang="de-AT" dirty="0" err="1" smtClean="0"/>
              <a:t>XMLMaterialHandler</a:t>
            </a:r>
            <a:r>
              <a:rPr lang="de-AT" dirty="0" smtClean="0"/>
              <a:t>“ in </a:t>
            </a:r>
            <a:r>
              <a:rPr lang="de-AT" dirty="0" err="1" smtClean="0"/>
              <a:t>source</a:t>
            </a:r>
            <a:r>
              <a:rPr lang="de-AT" dirty="0" smtClean="0"/>
              <a:t>/</a:t>
            </a:r>
            <a:r>
              <a:rPr lang="de-AT" dirty="0" err="1" smtClean="0"/>
              <a:t>DataInOut</a:t>
            </a:r>
            <a:r>
              <a:rPr lang="de-AT" dirty="0" smtClean="0"/>
              <a:t>/</a:t>
            </a:r>
            <a:r>
              <a:rPr lang="de-AT" dirty="0" err="1" smtClean="0"/>
              <a:t>ParamHandling</a:t>
            </a:r>
            <a:r>
              <a:rPr lang="de-AT" dirty="0" smtClean="0"/>
              <a:t>/</a:t>
            </a:r>
          </a:p>
          <a:p>
            <a:pPr lvl="1"/>
            <a:r>
              <a:rPr lang="de-AT" dirty="0"/>
              <a:t>Add </a:t>
            </a:r>
            <a:r>
              <a:rPr lang="de-AT" dirty="0" smtClean="0"/>
              <a:t>in „</a:t>
            </a:r>
            <a:r>
              <a:rPr lang="de-AT" dirty="0"/>
              <a:t> </a:t>
            </a:r>
            <a:r>
              <a:rPr lang="de-AT" dirty="0" smtClean="0"/>
              <a:t>XMLMaterialHandler.cc“ #</a:t>
            </a:r>
            <a:r>
              <a:rPr lang="de-AT" dirty="0" err="1" smtClean="0"/>
              <a:t>include</a:t>
            </a:r>
            <a:r>
              <a:rPr lang="de-AT" dirty="0" smtClean="0"/>
              <a:t> </a:t>
            </a:r>
            <a:r>
              <a:rPr lang="de-AT" dirty="0"/>
              <a:t>"Materials/</a:t>
            </a:r>
            <a:r>
              <a:rPr lang="de-AT" dirty="0" err="1"/>
              <a:t>TestMaterial.hh</a:t>
            </a:r>
            <a:r>
              <a:rPr lang="de-AT" dirty="0"/>
              <a:t>"</a:t>
            </a:r>
            <a:endParaRPr lang="de-AT" dirty="0" smtClean="0"/>
          </a:p>
          <a:p>
            <a:pPr lvl="1"/>
            <a:r>
              <a:rPr lang="de-AT" dirty="0" err="1" smtClean="0"/>
              <a:t>Method</a:t>
            </a:r>
            <a:r>
              <a:rPr lang="de-AT" dirty="0"/>
              <a:t> </a:t>
            </a:r>
            <a:r>
              <a:rPr lang="de-AT" dirty="0" err="1"/>
              <a:t>LoadMaterial</a:t>
            </a:r>
            <a:endParaRPr lang="en-US" dirty="0" smtClean="0"/>
          </a:p>
          <a:p>
            <a:endParaRPr lang="en-US" dirty="0"/>
          </a:p>
        </p:txBody>
      </p:sp>
      <p:graphicFrame>
        <p:nvGraphicFramePr>
          <p:cNvPr id="8" name="Tabel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672005"/>
              </p:ext>
            </p:extLst>
          </p:nvPr>
        </p:nvGraphicFramePr>
        <p:xfrm>
          <a:off x="1068783" y="1861495"/>
          <a:ext cx="759734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MathParser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*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mp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CoordSystem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defaultCoosy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: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BaseMaterial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(mp,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defaultCoosy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materialDatabaseName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"Test"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allowed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material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parameters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isAllowed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insert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TEST_ALPHA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isAllowed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_.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insert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TEST_BETA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el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608201"/>
              </p:ext>
            </p:extLst>
          </p:nvPr>
        </p:nvGraphicFramePr>
        <p:xfrm>
          <a:off x="1068783" y="5137497"/>
          <a:ext cx="7597340" cy="1015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015654">
                <a:tc>
                  <a:txBody>
                    <a:bodyPr/>
                    <a:lstStyle/>
                    <a:p>
                      <a:r>
                        <a:rPr lang="en-US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en-US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( 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matClass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== TESTMAT ) {</a:t>
                      </a:r>
                    </a:p>
                    <a:p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material = </a:t>
                      </a:r>
                      <a:r>
                        <a:rPr lang="en-US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en-US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TestMaterial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mp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cs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ReadTest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material, 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pn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7" name="Gerade Verbindung mit Pfeil 6"/>
          <p:cNvCxnSpPr>
            <a:stCxn id="9" idx="1"/>
          </p:cNvCxnSpPr>
          <p:nvPr/>
        </p:nvCxnSpPr>
        <p:spPr>
          <a:xfrm flipH="1" flipV="1">
            <a:off x="4057651" y="5722715"/>
            <a:ext cx="361950" cy="184666"/>
          </a:xfrm>
          <a:prstGeom prst="straightConnector1">
            <a:avLst/>
          </a:prstGeom>
          <a:ln w="15875">
            <a:solidFill>
              <a:schemeClr val="bg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/>
          <p:cNvSpPr txBox="1"/>
          <p:nvPr/>
        </p:nvSpPr>
        <p:spPr>
          <a:xfrm>
            <a:off x="4419601" y="5722715"/>
            <a:ext cx="425783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AT" dirty="0" smtClean="0">
                <a:solidFill>
                  <a:schemeClr val="bg1"/>
                </a:solidFill>
              </a:rPr>
              <a:t>Add </a:t>
            </a:r>
            <a:r>
              <a:rPr lang="de-AT" dirty="0" err="1" smtClean="0">
                <a:solidFill>
                  <a:schemeClr val="bg1"/>
                </a:solidFill>
              </a:rPr>
              <a:t>declaration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to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XMLMaterialHandler.hh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543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de-AT" dirty="0" smtClean="0"/>
              <a:t>Class </a:t>
            </a:r>
            <a:r>
              <a:rPr lang="de-AT" dirty="0"/>
              <a:t>„</a:t>
            </a:r>
            <a:r>
              <a:rPr lang="de-AT" dirty="0" err="1" smtClean="0"/>
              <a:t>XMLMaterialHandler</a:t>
            </a:r>
            <a:r>
              <a:rPr lang="de-AT" dirty="0" smtClean="0"/>
              <a:t>“ in </a:t>
            </a:r>
            <a:r>
              <a:rPr lang="de-AT" dirty="0" err="1" smtClean="0"/>
              <a:t>source</a:t>
            </a:r>
            <a:r>
              <a:rPr lang="de-AT" dirty="0" smtClean="0"/>
              <a:t>/</a:t>
            </a:r>
            <a:r>
              <a:rPr lang="de-AT" dirty="0" err="1" smtClean="0"/>
              <a:t>DataInOut</a:t>
            </a:r>
            <a:r>
              <a:rPr lang="de-AT" dirty="0" smtClean="0"/>
              <a:t>/</a:t>
            </a:r>
            <a:r>
              <a:rPr lang="de-AT" dirty="0" err="1" smtClean="0"/>
              <a:t>ParamHandling</a:t>
            </a:r>
            <a:r>
              <a:rPr lang="de-AT" dirty="0" smtClean="0"/>
              <a:t>/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r>
              <a:rPr lang="de-AT" dirty="0" err="1" smtClean="0"/>
              <a:t>Method</a:t>
            </a:r>
            <a:r>
              <a:rPr lang="de-AT" dirty="0"/>
              <a:t> </a:t>
            </a:r>
            <a:r>
              <a:rPr lang="de-AT" dirty="0" err="1" smtClean="0"/>
              <a:t>ReadTest</a:t>
            </a:r>
            <a:endParaRPr lang="en-US" dirty="0" smtClean="0"/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830028"/>
              </p:ext>
            </p:extLst>
          </p:nvPr>
        </p:nvGraphicFramePr>
        <p:xfrm>
          <a:off x="1068783" y="1549073"/>
          <a:ext cx="75973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XMLMaterialHandler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ReadTest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BaseMaterial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material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     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PtrParamNode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test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{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read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alpha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(test-&gt;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Has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alpha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PtrCoefFct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alphaFct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CoefFunction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Generate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(mp_,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Global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::REAL,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 test-&gt;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alpha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)-&gt;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&gt;()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material-&gt;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SetCoefFct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TEST_ALPHA,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alphaFct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read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beta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(test-&gt;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Has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PtrCoefFct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betaFnc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CoefFunction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Generate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(mp_,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Global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::REAL,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test-&gt;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)-&gt;</a:t>
                      </a:r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As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std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string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&gt;()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material-&gt;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SetCoefFct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TEST_BETA,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betaFnc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146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XML-</a:t>
            </a:r>
            <a:r>
              <a:rPr lang="de-AT" dirty="0" err="1" smtClean="0"/>
              <a:t>Scheme</a:t>
            </a:r>
            <a:r>
              <a:rPr lang="de-AT" dirty="0" smtClean="0"/>
              <a:t>: </a:t>
            </a:r>
            <a:r>
              <a:rPr lang="de-AT" dirty="0" err="1" smtClean="0"/>
              <a:t>see</a:t>
            </a:r>
            <a:r>
              <a:rPr lang="de-AT" dirty="0"/>
              <a:t> </a:t>
            </a:r>
            <a:r>
              <a:rPr lang="de-AT" dirty="0" err="1" smtClean="0"/>
              <a:t>share</a:t>
            </a:r>
            <a:r>
              <a:rPr lang="de-AT" dirty="0" smtClean="0"/>
              <a:t>/</a:t>
            </a:r>
            <a:r>
              <a:rPr lang="de-AT" dirty="0" err="1" smtClean="0"/>
              <a:t>xml</a:t>
            </a:r>
            <a:r>
              <a:rPr lang="de-AT" dirty="0" smtClean="0"/>
              <a:t>/CFS-Simulation/Schemas/</a:t>
            </a:r>
          </a:p>
          <a:p>
            <a:pPr lvl="1"/>
            <a:r>
              <a:rPr lang="de-AT" dirty="0" err="1" smtClean="0"/>
              <a:t>Generate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file</a:t>
            </a:r>
            <a:r>
              <a:rPr lang="de-AT" dirty="0"/>
              <a:t> </a:t>
            </a:r>
            <a:r>
              <a:rPr lang="de-AT" dirty="0" smtClean="0"/>
              <a:t>„CFS_PDEtest.xsd“</a:t>
            </a:r>
          </a:p>
          <a:p>
            <a:pPr lvl="1"/>
            <a:r>
              <a:rPr lang="de-AT" dirty="0" smtClean="0"/>
              <a:t>Main </a:t>
            </a:r>
            <a:r>
              <a:rPr lang="de-AT" dirty="0" err="1" smtClean="0"/>
              <a:t>entries</a:t>
            </a:r>
            <a:endParaRPr lang="de-AT" dirty="0" smtClean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605302"/>
              </p:ext>
            </p:extLst>
          </p:nvPr>
        </p:nvGraphicFramePr>
        <p:xfrm>
          <a:off x="1068783" y="1795203"/>
          <a:ext cx="7597340" cy="435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DT_PDETest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complexContent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extension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base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DT_PDEBasic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sequence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&lt;!--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Regions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the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PDE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lives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on --&gt;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regionList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minOccurs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"1"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maxOccurs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"1"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sequence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region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minOccurs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"1"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maxOccurs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unbounded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attribute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xsd:token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use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required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attribute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polyId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xsd:string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«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use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"optional"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default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default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attribute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integId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xsd:string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use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"optional"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default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default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…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299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4"/>
            <a:ext cx="8640960" cy="5564844"/>
          </a:xfrm>
        </p:spPr>
        <p:txBody>
          <a:bodyPr>
            <a:normAutofit lnSpcReduction="10000"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XML-</a:t>
            </a:r>
            <a:r>
              <a:rPr lang="de-AT" dirty="0" err="1" smtClean="0"/>
              <a:t>Scheme</a:t>
            </a:r>
            <a:r>
              <a:rPr lang="de-AT" dirty="0" smtClean="0"/>
              <a:t>: </a:t>
            </a:r>
            <a:r>
              <a:rPr lang="de-AT" dirty="0" err="1" smtClean="0"/>
              <a:t>see</a:t>
            </a:r>
            <a:r>
              <a:rPr lang="de-AT" dirty="0"/>
              <a:t> </a:t>
            </a:r>
            <a:r>
              <a:rPr lang="de-AT" dirty="0" err="1" smtClean="0"/>
              <a:t>share</a:t>
            </a:r>
            <a:r>
              <a:rPr lang="de-AT" dirty="0" smtClean="0"/>
              <a:t>/</a:t>
            </a:r>
            <a:r>
              <a:rPr lang="de-AT" dirty="0" err="1" smtClean="0"/>
              <a:t>xml</a:t>
            </a:r>
            <a:r>
              <a:rPr lang="de-AT" dirty="0" smtClean="0"/>
              <a:t>/CFS-Simulation/Schemas/</a:t>
            </a:r>
          </a:p>
          <a:p>
            <a:pPr lvl="1"/>
            <a:r>
              <a:rPr lang="de-AT" dirty="0" smtClean="0"/>
              <a:t>Main </a:t>
            </a:r>
            <a:r>
              <a:rPr lang="de-AT" dirty="0" err="1" smtClean="0"/>
              <a:t>entries</a:t>
            </a:r>
            <a:r>
              <a:rPr lang="de-AT" dirty="0" smtClean="0"/>
              <a:t> (</a:t>
            </a:r>
            <a:r>
              <a:rPr lang="de-AT" dirty="0" err="1" smtClean="0"/>
              <a:t>cont</a:t>
            </a:r>
            <a:r>
              <a:rPr lang="de-AT" dirty="0" smtClean="0"/>
              <a:t>.)</a:t>
            </a:r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sz="2800" dirty="0"/>
          </a:p>
          <a:p>
            <a:pPr lvl="1"/>
            <a:r>
              <a:rPr lang="de-AT" dirty="0" err="1" smtClean="0"/>
              <a:t>Svn</a:t>
            </a:r>
            <a:r>
              <a:rPr lang="de-AT" dirty="0" smtClean="0"/>
              <a:t> </a:t>
            </a:r>
            <a:r>
              <a:rPr lang="de-AT" dirty="0" err="1" smtClean="0"/>
              <a:t>add</a:t>
            </a:r>
            <a:r>
              <a:rPr lang="de-AT" dirty="0" smtClean="0"/>
              <a:t> CFS_PDEtest.xsd</a:t>
            </a:r>
          </a:p>
          <a:p>
            <a:pPr lvl="1"/>
            <a:r>
              <a:rPr lang="de-AT" dirty="0" smtClean="0"/>
              <a:t>Add in CFS.xsd</a:t>
            </a:r>
          </a:p>
          <a:p>
            <a:pPr lvl="2"/>
            <a:r>
              <a:rPr lang="de-AT" dirty="0"/>
              <a:t> &lt;</a:t>
            </a:r>
            <a:r>
              <a:rPr lang="de-AT" sz="1600" dirty="0" err="1"/>
              <a:t>xsd:include</a:t>
            </a:r>
            <a:r>
              <a:rPr lang="de-AT" sz="1600" dirty="0"/>
              <a:t> </a:t>
            </a:r>
            <a:r>
              <a:rPr lang="de-AT" sz="1600" dirty="0" err="1"/>
              <a:t>schemaLocation</a:t>
            </a:r>
            <a:r>
              <a:rPr lang="de-AT" sz="1600" dirty="0"/>
              <a:t>="Schemas/CFS_PDEtest.xsd</a:t>
            </a:r>
            <a:r>
              <a:rPr lang="de-AT" sz="1600" dirty="0" smtClean="0"/>
              <a:t>"/&gt;</a:t>
            </a:r>
          </a:p>
          <a:p>
            <a:pPr lvl="2"/>
            <a:endParaRPr lang="de-AT" sz="500" dirty="0"/>
          </a:p>
          <a:p>
            <a:pPr lvl="1"/>
            <a:r>
              <a:rPr lang="de-AT" dirty="0" smtClean="0"/>
              <a:t>Add </a:t>
            </a:r>
            <a:r>
              <a:rPr lang="de-AT" dirty="0"/>
              <a:t>in </a:t>
            </a:r>
            <a:r>
              <a:rPr lang="de-AT" dirty="0" smtClean="0"/>
              <a:t>CMakeLists.txt </a:t>
            </a:r>
            <a:r>
              <a:rPr lang="de-AT" dirty="0"/>
              <a:t>(in </a:t>
            </a:r>
            <a:r>
              <a:rPr lang="de-AT" dirty="0" err="1"/>
              <a:t>share</a:t>
            </a:r>
            <a:r>
              <a:rPr lang="de-AT" dirty="0"/>
              <a:t>/</a:t>
            </a:r>
            <a:r>
              <a:rPr lang="de-AT" dirty="0" err="1"/>
              <a:t>xml</a:t>
            </a:r>
            <a:r>
              <a:rPr lang="de-AT" dirty="0" smtClean="0"/>
              <a:t>/)</a:t>
            </a:r>
          </a:p>
          <a:p>
            <a:pPr lvl="2"/>
            <a:r>
              <a:rPr lang="de-AT" sz="1600" dirty="0"/>
              <a:t> COMMAND ${CMAKE_COMMAND} -E </a:t>
            </a:r>
            <a:r>
              <a:rPr lang="de-AT" sz="1600" dirty="0" err="1"/>
              <a:t>copy_if_different</a:t>
            </a:r>
            <a:r>
              <a:rPr lang="de-AT" sz="1600" dirty="0"/>
              <a:t> ${SRC_DIR}/Schemas/CFS_PDEtest.xsd ${DST_DIR}/Schemas/CFS_PDEtest.xsd</a:t>
            </a:r>
            <a:endParaRPr lang="de-AT" sz="1600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marL="457200" lvl="1" indent="0">
              <a:buNone/>
            </a:pPr>
            <a:endParaRPr lang="de-AT" dirty="0" smtClean="0"/>
          </a:p>
          <a:p>
            <a:endParaRPr lang="de-AT" dirty="0" smtClean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217967"/>
              </p:ext>
            </p:extLst>
          </p:nvPr>
        </p:nvGraphicFramePr>
        <p:xfrm>
          <a:off x="1068783" y="1404510"/>
          <a:ext cx="759734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&lt;!--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Boundary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Conditions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&amp;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Loads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(optional) --&gt;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bcsAndLoads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minOccurs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"0"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maxOccurs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unbounded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choice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minOccurs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"0"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maxOccurs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unbounded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&lt;!--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Dirichlet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Boundary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Conditions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--&gt;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endParaRPr lang="de-CH" sz="1400" b="0" i="1" u="none" strike="noStrike" dirty="0" smtClean="0">
                        <a:solidFill>
                          <a:srgbClr val="5F9EA0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testGround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DT_BcHomScalar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testPotential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DT_BcInhomScalar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&lt;!--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test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specific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boundary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conditions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--&gt;</a:t>
                      </a:r>
                    </a:p>
                    <a:p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testSourceDensity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DT_BcInhomScalar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/&gt;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choice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…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63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3"/>
            <a:ext cx="8892480" cy="6289239"/>
          </a:xfrm>
        </p:spPr>
        <p:txBody>
          <a:bodyPr>
            <a:normAutofit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XML-</a:t>
            </a:r>
            <a:r>
              <a:rPr lang="de-AT" dirty="0" err="1" smtClean="0"/>
              <a:t>Scheme</a:t>
            </a:r>
            <a:r>
              <a:rPr lang="de-AT" dirty="0" smtClean="0"/>
              <a:t>: </a:t>
            </a:r>
            <a:r>
              <a:rPr lang="de-AT" dirty="0" err="1" smtClean="0"/>
              <a:t>see</a:t>
            </a:r>
            <a:r>
              <a:rPr lang="de-AT" dirty="0"/>
              <a:t> </a:t>
            </a:r>
            <a:r>
              <a:rPr lang="de-AT" dirty="0" err="1" smtClean="0"/>
              <a:t>share</a:t>
            </a:r>
            <a:r>
              <a:rPr lang="de-AT" dirty="0" smtClean="0"/>
              <a:t>/</a:t>
            </a:r>
            <a:r>
              <a:rPr lang="de-AT" dirty="0" err="1" smtClean="0"/>
              <a:t>xml</a:t>
            </a:r>
            <a:r>
              <a:rPr lang="de-AT" dirty="0" smtClean="0"/>
              <a:t>/CFS-Material/Schemas/</a:t>
            </a:r>
          </a:p>
          <a:p>
            <a:pPr lvl="1"/>
            <a:r>
              <a:rPr lang="de-AT" dirty="0" err="1" smtClean="0"/>
              <a:t>Generate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</a:t>
            </a:r>
            <a:r>
              <a:rPr lang="de-AT" dirty="0" err="1" smtClean="0"/>
              <a:t>file</a:t>
            </a:r>
            <a:r>
              <a:rPr lang="de-AT" dirty="0"/>
              <a:t> „</a:t>
            </a:r>
            <a:r>
              <a:rPr lang="de-AT" dirty="0" smtClean="0"/>
              <a:t>CFS_MATtest.xsd“</a:t>
            </a:r>
          </a:p>
          <a:p>
            <a:pPr lvl="1"/>
            <a:r>
              <a:rPr lang="de-AT" dirty="0" smtClean="0"/>
              <a:t>Main </a:t>
            </a:r>
            <a:r>
              <a:rPr lang="de-AT" dirty="0" err="1" smtClean="0"/>
              <a:t>entries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marL="457200" lvl="1" indent="0">
              <a:buNone/>
            </a:pPr>
            <a:endParaRPr lang="de-AT" dirty="0" smtClean="0"/>
          </a:p>
          <a:p>
            <a:pPr lvl="2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endParaRPr lang="de-AT" dirty="0" smtClean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253425"/>
              </p:ext>
            </p:extLst>
          </p:nvPr>
        </p:nvGraphicFramePr>
        <p:xfrm>
          <a:off x="1068783" y="1846062"/>
          <a:ext cx="75973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DT_MatTest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sequence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alpha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xsd:token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annotation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documentation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xml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lang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"en"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material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parameter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associated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with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time derivative in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test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PDE.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documentation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annotation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beta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minOccurs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"0"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xsd:token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annotation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&lt;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documentation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xml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lang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=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"en"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material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parameter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associated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with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Laplace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operator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in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test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PDE.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documentation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annotation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element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sequence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&lt;/</a:t>
                      </a:r>
                      <a:r>
                        <a:rPr lang="de-CH" sz="1400" b="0" i="0" u="none" strike="noStrike" dirty="0" err="1" smtClean="0">
                          <a:solidFill>
                            <a:srgbClr val="F08080"/>
                          </a:solidFill>
                          <a:effectLst/>
                          <a:latin typeface="Courier New"/>
                        </a:rPr>
                        <a:t>xsd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complexType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7" name="Textfeld 6"/>
          <p:cNvSpPr txBox="1"/>
          <p:nvPr/>
        </p:nvSpPr>
        <p:spPr>
          <a:xfrm>
            <a:off x="4229101" y="4808315"/>
            <a:ext cx="417781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AT" dirty="0" err="1" smtClean="0">
                <a:solidFill>
                  <a:schemeClr val="bg1"/>
                </a:solidFill>
              </a:rPr>
              <a:t>Documentation</a:t>
            </a:r>
            <a:r>
              <a:rPr lang="de-AT" dirty="0" smtClean="0">
                <a:solidFill>
                  <a:schemeClr val="bg1"/>
                </a:solidFill>
              </a:rPr>
              <a:t> tags will </a:t>
            </a:r>
            <a:r>
              <a:rPr lang="de-AT" dirty="0" err="1" smtClean="0">
                <a:solidFill>
                  <a:schemeClr val="bg1"/>
                </a:solidFill>
              </a:rPr>
              <a:t>appear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as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r>
              <a:rPr lang="de-AT" dirty="0" err="1" smtClean="0">
                <a:solidFill>
                  <a:schemeClr val="bg1"/>
                </a:solidFill>
              </a:rPr>
              <a:t>context</a:t>
            </a:r>
            <a:endParaRPr lang="de-AT" dirty="0" smtClean="0">
              <a:solidFill>
                <a:schemeClr val="bg1"/>
              </a:solidFill>
            </a:endParaRPr>
          </a:p>
          <a:p>
            <a:r>
              <a:rPr lang="de-AT" dirty="0" smtClean="0">
                <a:solidFill>
                  <a:schemeClr val="bg1"/>
                </a:solidFill>
              </a:rPr>
              <a:t>sensitive </a:t>
            </a:r>
            <a:r>
              <a:rPr lang="de-AT" dirty="0" err="1" smtClean="0">
                <a:solidFill>
                  <a:schemeClr val="bg1"/>
                </a:solidFill>
              </a:rPr>
              <a:t>help</a:t>
            </a:r>
            <a:r>
              <a:rPr lang="de-AT" dirty="0" smtClean="0">
                <a:solidFill>
                  <a:schemeClr val="bg1"/>
                </a:solidFill>
              </a:rPr>
              <a:t> in &lt;</a:t>
            </a:r>
            <a:r>
              <a:rPr lang="de-AT" dirty="0" err="1" smtClean="0">
                <a:solidFill>
                  <a:schemeClr val="bg1"/>
                </a:solidFill>
              </a:rPr>
              <a:t>oXygen</a:t>
            </a:r>
            <a:r>
              <a:rPr lang="de-AT" dirty="0" smtClean="0">
                <a:solidFill>
                  <a:schemeClr val="bg1"/>
                </a:solidFill>
              </a:rPr>
              <a:t>/&gt;.</a:t>
            </a:r>
            <a:r>
              <a:rPr lang="de-AT" dirty="0" smtClean="0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8" name="Gerade Verbindung mit Pfeil 7"/>
          <p:cNvCxnSpPr>
            <a:stCxn id="7" idx="1"/>
          </p:cNvCxnSpPr>
          <p:nvPr/>
        </p:nvCxnSpPr>
        <p:spPr>
          <a:xfrm flipH="1" flipV="1">
            <a:off x="3800477" y="4767299"/>
            <a:ext cx="428624" cy="364182"/>
          </a:xfrm>
          <a:prstGeom prst="straightConnector1">
            <a:avLst/>
          </a:prstGeom>
          <a:ln w="15875">
            <a:solidFill>
              <a:schemeClr val="bg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52" y="1843088"/>
            <a:ext cx="5467348" cy="1960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339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Main Steps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764703"/>
            <a:ext cx="8892480" cy="6289239"/>
          </a:xfrm>
        </p:spPr>
        <p:txBody>
          <a:bodyPr>
            <a:normAutofit/>
          </a:bodyPr>
          <a:lstStyle/>
          <a:p>
            <a:r>
              <a:rPr lang="de-AT" dirty="0" err="1" smtClean="0"/>
              <a:t>Extend</a:t>
            </a:r>
            <a:r>
              <a:rPr lang="de-AT" dirty="0" smtClean="0"/>
              <a:t> </a:t>
            </a:r>
            <a:r>
              <a:rPr lang="de-AT" dirty="0" err="1" smtClean="0"/>
              <a:t>the</a:t>
            </a:r>
            <a:r>
              <a:rPr lang="de-AT" dirty="0" smtClean="0"/>
              <a:t> XML-</a:t>
            </a:r>
            <a:r>
              <a:rPr lang="de-AT" dirty="0" err="1" smtClean="0"/>
              <a:t>Scheme</a:t>
            </a:r>
            <a:r>
              <a:rPr lang="de-AT" dirty="0" smtClean="0"/>
              <a:t>: </a:t>
            </a:r>
            <a:r>
              <a:rPr lang="de-AT" dirty="0" err="1" smtClean="0"/>
              <a:t>see</a:t>
            </a:r>
            <a:r>
              <a:rPr lang="de-AT" dirty="0"/>
              <a:t> </a:t>
            </a:r>
            <a:r>
              <a:rPr lang="de-AT" dirty="0" err="1" smtClean="0"/>
              <a:t>share</a:t>
            </a:r>
            <a:r>
              <a:rPr lang="de-AT" dirty="0" smtClean="0"/>
              <a:t>/</a:t>
            </a:r>
            <a:r>
              <a:rPr lang="de-AT" dirty="0" err="1" smtClean="0"/>
              <a:t>xml</a:t>
            </a:r>
            <a:r>
              <a:rPr lang="de-AT" dirty="0" smtClean="0"/>
              <a:t>/CFS-Material/Schemas/</a:t>
            </a:r>
          </a:p>
          <a:p>
            <a:pPr lvl="1"/>
            <a:r>
              <a:rPr lang="de-AT" dirty="0" err="1" smtClean="0"/>
              <a:t>svn</a:t>
            </a:r>
            <a:r>
              <a:rPr lang="de-AT" dirty="0" smtClean="0"/>
              <a:t> </a:t>
            </a:r>
            <a:r>
              <a:rPr lang="de-AT" dirty="0" err="1"/>
              <a:t>add</a:t>
            </a:r>
            <a:r>
              <a:rPr lang="de-AT" dirty="0"/>
              <a:t> </a:t>
            </a:r>
            <a:r>
              <a:rPr lang="de-AT" dirty="0" smtClean="0"/>
              <a:t>CFS_MATtest.xsd</a:t>
            </a:r>
          </a:p>
          <a:p>
            <a:pPr lvl="1"/>
            <a:endParaRPr lang="de-AT" sz="500" dirty="0" smtClean="0"/>
          </a:p>
          <a:p>
            <a:pPr lvl="1"/>
            <a:r>
              <a:rPr lang="de-AT" dirty="0" smtClean="0"/>
              <a:t>Add </a:t>
            </a:r>
            <a:r>
              <a:rPr lang="de-AT" dirty="0"/>
              <a:t>in „</a:t>
            </a:r>
            <a:r>
              <a:rPr lang="de-AT" dirty="0" smtClean="0"/>
              <a:t>CFS_Material.xsd“ (in </a:t>
            </a:r>
            <a:r>
              <a:rPr lang="de-AT" dirty="0" err="1" smtClean="0"/>
              <a:t>share</a:t>
            </a:r>
            <a:r>
              <a:rPr lang="de-AT" dirty="0" smtClean="0"/>
              <a:t>/</a:t>
            </a:r>
            <a:r>
              <a:rPr lang="de-AT" dirty="0" err="1" smtClean="0"/>
              <a:t>xml</a:t>
            </a:r>
            <a:r>
              <a:rPr lang="de-AT" dirty="0" smtClean="0"/>
              <a:t>/CFS-Material/)</a:t>
            </a:r>
          </a:p>
          <a:p>
            <a:pPr lvl="2"/>
            <a:r>
              <a:rPr lang="de-AT" sz="1600" dirty="0" smtClean="0"/>
              <a:t>&lt;</a:t>
            </a:r>
            <a:r>
              <a:rPr lang="de-AT" sz="1600" dirty="0" err="1"/>
              <a:t>xsd:include</a:t>
            </a:r>
            <a:r>
              <a:rPr lang="de-AT" sz="1600" dirty="0"/>
              <a:t> </a:t>
            </a:r>
            <a:r>
              <a:rPr lang="de-AT" sz="1600" dirty="0" err="1"/>
              <a:t>schemaLocation</a:t>
            </a:r>
            <a:r>
              <a:rPr lang="de-AT" sz="1600" dirty="0"/>
              <a:t>="Schemas/CFS_MATtest.xsd"/&gt;</a:t>
            </a:r>
          </a:p>
          <a:p>
            <a:pPr lvl="2"/>
            <a:r>
              <a:rPr lang="de-AT" sz="1600" dirty="0" smtClean="0"/>
              <a:t>&lt;</a:t>
            </a:r>
            <a:r>
              <a:rPr lang="de-AT" sz="1600" dirty="0" err="1"/>
              <a:t>xsd:element</a:t>
            </a:r>
            <a:r>
              <a:rPr lang="de-AT" sz="1600" dirty="0"/>
              <a:t> </a:t>
            </a:r>
            <a:r>
              <a:rPr lang="de-AT" sz="1600" dirty="0" err="1"/>
              <a:t>name</a:t>
            </a:r>
            <a:r>
              <a:rPr lang="de-AT" sz="1600" dirty="0"/>
              <a:t>="</a:t>
            </a:r>
            <a:r>
              <a:rPr lang="de-AT" sz="1600" dirty="0" err="1"/>
              <a:t>test</a:t>
            </a:r>
            <a:r>
              <a:rPr lang="de-AT" sz="1600" dirty="0"/>
              <a:t>" type="</a:t>
            </a:r>
            <a:r>
              <a:rPr lang="de-AT" sz="1600" dirty="0" err="1"/>
              <a:t>DT_MatTest</a:t>
            </a:r>
            <a:r>
              <a:rPr lang="de-AT" sz="1600" dirty="0" smtClean="0"/>
              <a:t>"  </a:t>
            </a:r>
            <a:r>
              <a:rPr lang="de-AT" sz="1600" dirty="0" err="1"/>
              <a:t>minOccurs</a:t>
            </a:r>
            <a:r>
              <a:rPr lang="de-AT" sz="1600" dirty="0"/>
              <a:t>="0</a:t>
            </a:r>
            <a:r>
              <a:rPr lang="de-AT" sz="1600" dirty="0" smtClean="0"/>
              <a:t>"  </a:t>
            </a:r>
            <a:r>
              <a:rPr lang="de-AT" sz="1600" dirty="0" err="1" smtClean="0"/>
              <a:t>maxOccurs</a:t>
            </a:r>
            <a:r>
              <a:rPr lang="de-AT" sz="1600" dirty="0"/>
              <a:t>="</a:t>
            </a:r>
            <a:r>
              <a:rPr lang="de-AT" sz="1600" dirty="0" smtClean="0"/>
              <a:t>1</a:t>
            </a:r>
            <a:r>
              <a:rPr lang="de-AT" sz="1600" dirty="0"/>
              <a:t>"</a:t>
            </a:r>
            <a:r>
              <a:rPr lang="de-AT" sz="1600" dirty="0" smtClean="0"/>
              <a:t>  /&gt;</a:t>
            </a:r>
          </a:p>
          <a:p>
            <a:pPr lvl="2"/>
            <a:endParaRPr lang="de-AT" sz="500" dirty="0" smtClean="0"/>
          </a:p>
          <a:p>
            <a:pPr lvl="1"/>
            <a:r>
              <a:rPr lang="de-AT" dirty="0" smtClean="0"/>
              <a:t>Add </a:t>
            </a:r>
            <a:r>
              <a:rPr lang="de-AT" dirty="0" err="1" smtClean="0"/>
              <a:t>to</a:t>
            </a:r>
            <a:r>
              <a:rPr lang="de-AT" dirty="0" smtClean="0"/>
              <a:t>  CMakeLists.txt (in </a:t>
            </a:r>
            <a:r>
              <a:rPr lang="de-AT" dirty="0" err="1"/>
              <a:t>share</a:t>
            </a:r>
            <a:r>
              <a:rPr lang="de-AT" dirty="0"/>
              <a:t>/</a:t>
            </a:r>
            <a:r>
              <a:rPr lang="de-AT" dirty="0" err="1"/>
              <a:t>xml</a:t>
            </a:r>
            <a:r>
              <a:rPr lang="de-AT" dirty="0" smtClean="0"/>
              <a:t>/)</a:t>
            </a:r>
            <a:endParaRPr lang="de-AT" dirty="0"/>
          </a:p>
          <a:p>
            <a:pPr lvl="2"/>
            <a:r>
              <a:rPr lang="de-AT" sz="1600" dirty="0" smtClean="0"/>
              <a:t>COMMAND </a:t>
            </a:r>
            <a:r>
              <a:rPr lang="de-AT" sz="1600" dirty="0"/>
              <a:t>${CMAKE_COMMAND} -E </a:t>
            </a:r>
            <a:r>
              <a:rPr lang="de-AT" sz="1600" dirty="0" err="1"/>
              <a:t>copy_if_different</a:t>
            </a:r>
            <a:r>
              <a:rPr lang="de-AT" sz="1600" dirty="0"/>
              <a:t> ${SRC_DIR}/Schemas/CFS_MATtest.xsd ${DST_DIR}/Schemas/CFS_MATtest.xsd</a:t>
            </a:r>
          </a:p>
          <a:p>
            <a:pPr lvl="2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endParaRPr lang="de-AT" dirty="0" smtClean="0"/>
          </a:p>
        </p:txBody>
      </p:sp>
    </p:spTree>
    <p:extLst>
      <p:ext uri="{BB962C8B-B14F-4D97-AF65-F5344CB8AC3E}">
        <p14:creationId xmlns:p14="http://schemas.microsoft.com/office/powerpoint/2010/main" val="2654866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Calling Structure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 directory “source/Domain” add in “Domain.cc”</a:t>
            </a:r>
          </a:p>
          <a:p>
            <a:pPr lvl="1"/>
            <a:r>
              <a:rPr lang="en-US" dirty="0"/>
              <a:t>#include "</a:t>
            </a:r>
            <a:r>
              <a:rPr lang="en-US" dirty="0" smtClean="0"/>
              <a:t>PDE/</a:t>
            </a:r>
            <a:r>
              <a:rPr lang="en-US" dirty="0" err="1" smtClean="0"/>
              <a:t>TestPDE.hh</a:t>
            </a:r>
            <a:r>
              <a:rPr lang="en-US" dirty="0" smtClean="0"/>
              <a:t>“</a:t>
            </a:r>
          </a:p>
          <a:p>
            <a:pPr lvl="1"/>
            <a:r>
              <a:rPr lang="de-AT" dirty="0"/>
              <a:t>In </a:t>
            </a:r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de-AT" dirty="0" err="1" smtClean="0"/>
              <a:t>CreateSinglePDEs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dirty="0"/>
          </a:p>
          <a:p>
            <a:pPr marL="457200" lvl="1" indent="0">
              <a:buNone/>
            </a:pPr>
            <a:endParaRPr lang="de-AT" sz="1200" dirty="0"/>
          </a:p>
          <a:p>
            <a:r>
              <a:rPr lang="de-AT" dirty="0" smtClean="0"/>
              <a:t>Time </a:t>
            </a:r>
            <a:r>
              <a:rPr lang="de-AT" dirty="0" err="1" smtClean="0"/>
              <a:t>stepping</a:t>
            </a:r>
            <a:endParaRPr lang="de-AT" dirty="0" smtClean="0"/>
          </a:p>
          <a:p>
            <a:pPr lvl="1"/>
            <a:r>
              <a:rPr lang="de-AT" dirty="0" err="1" smtClean="0"/>
              <a:t>Define</a:t>
            </a:r>
            <a:r>
              <a:rPr lang="de-AT" dirty="0" smtClean="0"/>
              <a:t> </a:t>
            </a:r>
            <a:r>
              <a:rPr lang="de-AT" dirty="0" err="1" smtClean="0"/>
              <a:t>SolveStep</a:t>
            </a:r>
            <a:endParaRPr lang="de-AT" dirty="0" smtClean="0"/>
          </a:p>
          <a:p>
            <a:pPr lvl="1"/>
            <a:endParaRPr lang="de-AT" dirty="0"/>
          </a:p>
          <a:p>
            <a:pPr lvl="1"/>
            <a:endParaRPr lang="de-AT" dirty="0" smtClean="0"/>
          </a:p>
          <a:p>
            <a:pPr lvl="1"/>
            <a:endParaRPr lang="de-AT" sz="1400" dirty="0"/>
          </a:p>
          <a:p>
            <a:pPr lvl="1"/>
            <a:r>
              <a:rPr lang="de-AT" dirty="0" err="1" smtClean="0"/>
              <a:t>Init</a:t>
            </a:r>
            <a:endParaRPr lang="de-AT" dirty="0" smtClean="0"/>
          </a:p>
          <a:p>
            <a:pPr lvl="2"/>
            <a:endParaRPr lang="de-AT" dirty="0" smtClean="0"/>
          </a:p>
          <a:p>
            <a:pPr lvl="2"/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D37D5-2D62-4019-B603-311C6B5CF006}" type="slidenum">
              <a:rPr lang="en-US" smtClean="0"/>
              <a:pPr/>
              <a:t>24</a:t>
            </a:fld>
            <a:endParaRPr lang="en-US" dirty="0"/>
          </a:p>
        </p:txBody>
      </p:sp>
      <p:graphicFrame>
        <p:nvGraphicFramePr>
          <p:cNvPr id="8" name="Tabel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224401"/>
              </p:ext>
            </p:extLst>
          </p:nvPr>
        </p:nvGraphicFramePr>
        <p:xfrm>
          <a:off x="1068783" y="3730031"/>
          <a:ext cx="7597340" cy="830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830463">
                <a:tc>
                  <a:txBody>
                    <a:bodyPr/>
                    <a:lstStyle/>
                    <a:p>
                      <a:r>
                        <a:rPr lang="en-US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en-US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en-US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DefineSolveStep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{</a:t>
                      </a:r>
                    </a:p>
                    <a:p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en-US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solveStep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 = </a:t>
                      </a:r>
                      <a:r>
                        <a:rPr lang="en-US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en-US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StdSolveStep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(*</a:t>
                      </a:r>
                      <a:r>
                        <a:rPr lang="en-US" sz="1400" b="1" i="0" u="none" strike="noStrike" dirty="0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this</a:t>
                      </a:r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en-US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el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105210"/>
              </p:ext>
            </p:extLst>
          </p:nvPr>
        </p:nvGraphicFramePr>
        <p:xfrm>
          <a:off x="1068783" y="4939374"/>
          <a:ext cx="75973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void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</a:t>
                      </a:r>
                      <a:r>
                        <a:rPr lang="de-CH" sz="1400" b="1" i="0" u="none" strike="noStrike" dirty="0" err="1" smtClean="0">
                          <a:solidFill>
                            <a:srgbClr val="DAA520"/>
                          </a:solidFill>
                          <a:effectLst/>
                          <a:latin typeface="Courier New"/>
                        </a:rPr>
                        <a:t>InitTimeStepping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shared_ptr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BaseTimeScheme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myScheme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TimeSchemeGLM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baseline="0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GLMScheme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::TRAPEZOIDAL, 0)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feFunctions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_[TEST_DOF]-&gt;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SetTimeScheme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myScheme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el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817519"/>
              </p:ext>
            </p:extLst>
          </p:nvPr>
        </p:nvGraphicFramePr>
        <p:xfrm>
          <a:off x="1068783" y="1846062"/>
          <a:ext cx="7597340" cy="1040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040013">
                <a:tc>
                  <a:txBody>
                    <a:bodyPr/>
                    <a:lstStyle/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actPdeName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==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ptSinglePde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_[i]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TestPDE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defaultGrid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actPdeNode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infoNode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simState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_,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this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4039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RHS - </a:t>
            </a:r>
            <a:r>
              <a:rPr lang="en-US" dirty="0" err="1" smtClean="0"/>
              <a:t>Linearform</a:t>
            </a:r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51520" y="586579"/>
            <a:ext cx="8640960" cy="5256584"/>
          </a:xfrm>
        </p:spPr>
        <p:txBody>
          <a:bodyPr/>
          <a:lstStyle/>
          <a:p>
            <a:r>
              <a:rPr lang="en-US" dirty="0" smtClean="0"/>
              <a:t>Add RHS-</a:t>
            </a:r>
            <a:r>
              <a:rPr lang="en-US" dirty="0" err="1" smtClean="0"/>
              <a:t>linearform</a:t>
            </a:r>
            <a:r>
              <a:rPr lang="en-US" dirty="0" smtClean="0"/>
              <a:t> (): file T</a:t>
            </a:r>
            <a:r>
              <a:rPr lang="de-AT" dirty="0" smtClean="0"/>
              <a:t>estPDE.cc</a:t>
            </a:r>
          </a:p>
          <a:p>
            <a:pPr lvl="1"/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de-AT" dirty="0" err="1" smtClean="0"/>
              <a:t>DefineRhsLoadIntegrators</a:t>
            </a:r>
            <a:r>
              <a:rPr lang="de-AT" dirty="0" smtClean="0"/>
              <a:t> (just </a:t>
            </a:r>
            <a:r>
              <a:rPr lang="de-AT" dirty="0" err="1" smtClean="0"/>
              <a:t>main</a:t>
            </a:r>
            <a:r>
              <a:rPr lang="de-AT" dirty="0" smtClean="0"/>
              <a:t> </a:t>
            </a:r>
            <a:r>
              <a:rPr lang="de-AT" dirty="0" err="1" smtClean="0"/>
              <a:t>part</a:t>
            </a:r>
            <a:r>
              <a:rPr lang="de-AT" dirty="0" smtClean="0"/>
              <a:t>)</a:t>
            </a:r>
          </a:p>
          <a:p>
            <a:pPr lvl="2"/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D37D5-2D62-4019-B603-311C6B5CF006}" type="slidenum">
              <a:rPr lang="en-US" smtClean="0"/>
              <a:pPr/>
              <a:t>25</a:t>
            </a:fld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724524"/>
              </p:ext>
            </p:extLst>
          </p:nvPr>
        </p:nvGraphicFramePr>
        <p:xfrm>
          <a:off x="1068783" y="1287113"/>
          <a:ext cx="7597340" cy="499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7340"/>
              </a:tblGrid>
              <a:tr h="1349011">
                <a:tc>
                  <a:txBody>
                    <a:bodyPr/>
                    <a:lstStyle/>
                    <a:p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LinearForm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NULL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;</a:t>
                      </a:r>
                    </a:p>
                    <a:p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ReadRhsExcitation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testSourceDensity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dofNames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ResultInfo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::VECTOR,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       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coefUpdateGeo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  <a:p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UInt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0; i &lt;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ent.GetSize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 ++i 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[i]-&gt;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GetType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 == </a:t>
                      </a:r>
                      <a:r>
                        <a:rPr lang="de-CH" sz="1400" b="0" i="0" u="none" strike="noStrike" dirty="0" err="1" smtClean="0">
                          <a:solidFill>
                            <a:srgbClr val="FFD700"/>
                          </a:solidFill>
                          <a:effectLst/>
                          <a:latin typeface="Courier New"/>
                        </a:rPr>
                        <a:t>EntityList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::NODE_LIST)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EXCEPTION(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"Test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source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density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must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be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defined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 on 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elements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EntityIterator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it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[i]-&gt;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GetIterator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it.Begin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if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isComplex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_)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BUIntegrator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&gt;(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IdentityOperator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&lt;FeH1&gt;(), 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Complex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(1.0),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[i],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coefUpdateGeo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else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{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BUIntegrator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&lt;Double&gt;(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IdentityOperator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&lt;FeH1&gt;(),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    1.0,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[i],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coefUpdateGeo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}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SetName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err="1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TestSourceDensityInt</a:t>
                      </a:r>
                      <a:r>
                        <a:rPr lang="de-CH" sz="1400" b="0" i="0" u="none" strike="noStrike" dirty="0" smtClean="0">
                          <a:solidFill>
                            <a:srgbClr val="DEB887"/>
                          </a:solidFill>
                          <a:effectLst/>
                          <a:latin typeface="Courier New"/>
                        </a:rPr>
                        <a:t>"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LinearFormContext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*</a:t>
                      </a:r>
                      <a:r>
                        <a:rPr lang="de-CH" sz="1400" b="0" i="0" u="none" strike="noStrike" dirty="0" err="1" smtClean="0">
                          <a:solidFill>
                            <a:srgbClr val="4EEE94"/>
                          </a:solidFill>
                          <a:effectLst/>
                          <a:latin typeface="Courier New"/>
                        </a:rPr>
                        <a:t>ctx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= </a:t>
                      </a:r>
                      <a:r>
                        <a:rPr lang="de-CH" sz="1400" b="1" i="0" u="none" strike="noStrike" dirty="0" err="1" smtClean="0">
                          <a:solidFill>
                            <a:srgbClr val="00BFFF"/>
                          </a:solidFill>
                          <a:effectLst/>
                          <a:latin typeface="Courier New"/>
                        </a:rPr>
                        <a:t>new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</a:t>
                      </a:r>
                      <a:r>
                        <a:rPr lang="de-CH" sz="1400" b="0" i="0" u="none" strike="noStrike" dirty="0" err="1" smtClean="0">
                          <a:solidFill>
                            <a:srgbClr val="98F5FF"/>
                          </a:solidFill>
                          <a:effectLst/>
                          <a:latin typeface="Courier New"/>
                        </a:rPr>
                        <a:t>LinearFormContext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lin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ctx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SetEntities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ent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[i] 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ctx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SetFeFunction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myFct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  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assemble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_-&gt;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AddLinearForm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(</a:t>
                      </a:r>
                      <a:r>
                        <a:rPr lang="de-CH" sz="1400" b="0" i="0" u="none" strike="noStrike" dirty="0" err="1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ctx</a:t>
                      </a:r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);</a:t>
                      </a:r>
                    </a:p>
                    <a:p>
                      <a:r>
                        <a:rPr lang="de-CH" sz="1400" b="0" i="0" u="none" strike="noStrike" dirty="0" smtClean="0">
                          <a:solidFill>
                            <a:srgbClr val="EEEEEE"/>
                          </a:solidFill>
                          <a:effectLst/>
                          <a:latin typeface="Courier New"/>
                        </a:rPr>
                        <a:t>} 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// </a:t>
                      </a:r>
                      <a:r>
                        <a:rPr lang="de-CH" sz="1400" b="0" i="1" u="none" strike="noStrike" dirty="0" err="1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for</a:t>
                      </a:r>
                      <a:r>
                        <a:rPr lang="de-CH" sz="1400" b="0" i="1" u="none" strike="noStrike" dirty="0" smtClean="0">
                          <a:solidFill>
                            <a:srgbClr val="5F9EA0"/>
                          </a:solidFill>
                          <a:effectLst/>
                          <a:latin typeface="Courier New"/>
                        </a:rPr>
                        <a:t> </a:t>
                      </a:r>
                      <a:endParaRPr lang="de-CH" sz="1400" b="0" i="0" u="none" strike="noStrike" dirty="0" smtClean="0">
                        <a:solidFill>
                          <a:srgbClr val="EEEEEE"/>
                        </a:solidFill>
                        <a:effectLst/>
                        <a:latin typeface="Courier New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151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INIT" val=""/>
  <p:tag name="USEAMSFONTS" val="Wahr"/>
  <p:tag name="EMBEDFONTS" val="Falsch"/>
  <p:tag name="USEBOLDAMS" val="Falsch"/>
  <p:tag name="DEFAULTDISPLAYSOURCE" val="\documentclass{slides}\pagestyle{empty}&#10;\usepackage{bm}&#10;&#10;\begin{document}&#10;&#10;\end{document}&#10;"/>
  <p:tag name="TEX2PS" val="latex $(base).tex; dvips -D $(res) -E -o $(base).ps $(base).dvi"/>
  <p:tag name="EXTERNALEDITCOMMAND" val="notepad %"/>
  <p:tag name="GHOSTSCRIPTCOMMAND" val="gswin32c"/>
  <p:tag name="DEFAULTBITMAP" val="pngmono"/>
  <p:tag name="DEFAULTBLEND" val="Falsch"/>
  <p:tag name="DEFAULTTRANSPARENT" val="Falsch"/>
  <p:tag name="DEFAULTWORKAROUNDTRANSPARENCYBUG" val="Falsch"/>
  <p:tag name="DEFAULTRESOLUTION" val="600"/>
  <p:tag name="DEFAULTMAGNIFICATION" val="0,8"/>
  <p:tag name="DEFAULTFONTSIZE" val="10"/>
  <p:tag name="DEFAULTWIDTH" val="603"/>
  <p:tag name="DEFAULTHEIGHT" val="42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usepackage{bm}&#10;&#10;\begin{document}&#10;&#10;\[&#10;\int\limits_\Omega\,  \alpha\, v\, \frac{\partial u}{\partial t}\, {\rm d}\bm x&#10;+ \int\limits_\Omega\, \beta\, \nabla v \cdot \nabla u \, {\rm d}\bm x&#10;= \int\limits_\Omega\, v f\, {\rm d}\bm x&#10;\]&#10;&#10;\end{document}&#10;"/>
  <p:tag name="EXTERNALNAME" val="txp_fig"/>
  <p:tag name="BLEND" val="Falsch"/>
  <p:tag name="TRANSPARENT" val="Falsch"/>
  <p:tag name="KEEPFILES" val="Falsch"/>
  <p:tag name="DEBUGPAUSE" val="Falsch"/>
  <p:tag name="RESOLUTION" val="600"/>
  <p:tag name="TIMEOUT" val="(none)"/>
  <p:tag name="BOXWIDTH" val="603"/>
  <p:tag name="BOXHEIGHT" val="428"/>
  <p:tag name="BOXFONT" val="10"/>
  <p:tag name="BOXWRAP" val="Falsch"/>
  <p:tag name="WORKAROUNDTRANSPARENCYBUG" val="Falsch"/>
  <p:tag name="ALLOWFONTSUBSTITUTION" val="Falsch"/>
  <p:tag name="BITMAPFORMAT" val="pngmono"/>
  <p:tag name="ORIGWIDTH" val="720"/>
  <p:tag name="PICTUREFILESIZE" val="117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usepackage{bm}&#10;&#10;\begin{document}&#10;\[&#10;u = u_{\rm e} \ \ \hbox{on $\Gamma$}&#10;\]&#10;&#10;\end{document}&#10;"/>
  <p:tag name="EXTERNALNAME" val="txp_fig"/>
  <p:tag name="BLEND" val="Falsch"/>
  <p:tag name="TRANSPARENT" val="Falsch"/>
  <p:tag name="KEEPFILES" val="Falsch"/>
  <p:tag name="DEBUGPAUSE" val="Falsch"/>
  <p:tag name="RESOLUTION" val="600"/>
  <p:tag name="TIMEOUT" val="(none)"/>
  <p:tag name="BOXWIDTH" val="603"/>
  <p:tag name="BOXHEIGHT" val="428"/>
  <p:tag name="BOXFONT" val="10"/>
  <p:tag name="BOXWRAP" val="Falsch"/>
  <p:tag name="WORKAROUNDTRANSPARENCYBUG" val="Falsch"/>
  <p:tag name="ALLOWFONTSUBSTITUTION" val="Falsch"/>
  <p:tag name="BITMAPFORMAT" val="pngmono"/>
  <p:tag name="ORIGWIDTH" val="720"/>
  <p:tag name="PICTUREFILESIZE" val="169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usepackage{bm}&#10;&#10;\begin{document}&#10;&#10;\[&#10;\alpha \frac{\partial u}{\partial t} - \nabla \cdot \beta \nabla u = f\,;&#10;\]&#10;&#10;\end{document}&#10;"/>
  <p:tag name="EXTERNALNAME" val="txp_fig"/>
  <p:tag name="BLEND" val="Falsch"/>
  <p:tag name="TRANSPARENT" val="Falsch"/>
  <p:tag name="KEEPFILES" val="Falsch"/>
  <p:tag name="DEBUGPAUSE" val="Falsch"/>
  <p:tag name="RESOLUTION" val="600"/>
  <p:tag name="TIMEOUT" val="(none)"/>
  <p:tag name="BOXWIDTH" val="603"/>
  <p:tag name="BOXHEIGHT" val="428"/>
  <p:tag name="BOXFONT" val="10"/>
  <p:tag name="BOXWRAP" val="Falsch"/>
  <p:tag name="WORKAROUNDTRANSPARENCYBUG" val="Falsch"/>
  <p:tag name="ALLOWFONTSUBSTITUTION" val="Falsch"/>
  <p:tag name="BITMAPFORMAT" val="pngmono"/>
  <p:tag name="ORIGWIDTH" val="720"/>
  <p:tag name="PICTUREFILESIZE" val="50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usepackage{bm}&#10;&#10;\begin{document}&#10;\[&#10;u = u_{\rm e} \ \ \hbox{on $\Gamma$}&#10;\]&#10;&#10;\end{document}&#10;"/>
  <p:tag name="EXTERNALNAME" val="txp_fig"/>
  <p:tag name="BLEND" val="Falsch"/>
  <p:tag name="TRANSPARENT" val="Falsch"/>
  <p:tag name="KEEPFILES" val="Falsch"/>
  <p:tag name="DEBUGPAUSE" val="Falsch"/>
  <p:tag name="RESOLUTION" val="600"/>
  <p:tag name="TIMEOUT" val="(none)"/>
  <p:tag name="BOXWIDTH" val="603"/>
  <p:tag name="BOXHEIGHT" val="428"/>
  <p:tag name="BOXFONT" val="10"/>
  <p:tag name="BOXWRAP" val="Falsch"/>
  <p:tag name="WORKAROUNDTRANSPARENCYBUG" val="Falsch"/>
  <p:tag name="ALLOWFONTSUBSTITUTION" val="Falsch"/>
  <p:tag name="BITMAPFORMAT" val="pngmono"/>
  <p:tag name="ORIGWIDTH" val="720"/>
  <p:tag name="PICTUREFILESIZE" val="1690"/>
</p:tagLst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2886</Words>
  <Application>Microsoft Office PowerPoint</Application>
  <PresentationFormat>Bildschirmpräsentation (4:3)</PresentationFormat>
  <Paragraphs>740</Paragraphs>
  <Slides>25</Slides>
  <Notes>1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26" baseType="lpstr">
      <vt:lpstr>Larissa</vt:lpstr>
      <vt:lpstr>PowerPoint-Präsentation</vt:lpstr>
      <vt:lpstr>Test PDE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Main Steps</vt:lpstr>
      <vt:lpstr>Calling Structure</vt:lpstr>
      <vt:lpstr>RHS - Linearform</vt:lpstr>
    </vt:vector>
  </TitlesOfParts>
  <Company>TU Wien - Campusversion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</dc:title>
  <dc:creator>Manfred</dc:creator>
  <cp:lastModifiedBy>Simon Triebenbacher</cp:lastModifiedBy>
  <cp:revision>527</cp:revision>
  <cp:lastPrinted>2012-09-04T10:03:22Z</cp:lastPrinted>
  <dcterms:created xsi:type="dcterms:W3CDTF">2012-08-27T12:05:20Z</dcterms:created>
  <dcterms:modified xsi:type="dcterms:W3CDTF">2014-04-02T13:16:20Z</dcterms:modified>
</cp:coreProperties>
</file>