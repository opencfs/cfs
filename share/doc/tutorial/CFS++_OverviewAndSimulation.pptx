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377" r:id="rId2"/>
    <p:sldId id="446" r:id="rId3"/>
    <p:sldId id="402" r:id="rId4"/>
    <p:sldId id="401" r:id="rId5"/>
    <p:sldId id="393" r:id="rId6"/>
    <p:sldId id="394" r:id="rId7"/>
    <p:sldId id="403" r:id="rId8"/>
    <p:sldId id="404" r:id="rId9"/>
    <p:sldId id="405" r:id="rId10"/>
    <p:sldId id="395" r:id="rId11"/>
    <p:sldId id="396" r:id="rId12"/>
    <p:sldId id="397" r:id="rId13"/>
    <p:sldId id="398" r:id="rId14"/>
    <p:sldId id="399" r:id="rId15"/>
    <p:sldId id="400" r:id="rId16"/>
    <p:sldId id="406" r:id="rId17"/>
    <p:sldId id="407" r:id="rId18"/>
    <p:sldId id="408" r:id="rId19"/>
    <p:sldId id="409" r:id="rId20"/>
    <p:sldId id="410" r:id="rId21"/>
    <p:sldId id="411" r:id="rId22"/>
    <p:sldId id="447" r:id="rId23"/>
    <p:sldId id="412" r:id="rId24"/>
    <p:sldId id="413" r:id="rId25"/>
    <p:sldId id="414" r:id="rId26"/>
    <p:sldId id="415" r:id="rId27"/>
    <p:sldId id="416" r:id="rId28"/>
    <p:sldId id="417" r:id="rId29"/>
    <p:sldId id="418" r:id="rId30"/>
    <p:sldId id="419" r:id="rId31"/>
    <p:sldId id="420" r:id="rId32"/>
    <p:sldId id="421" r:id="rId33"/>
    <p:sldId id="422" r:id="rId34"/>
    <p:sldId id="424" r:id="rId35"/>
    <p:sldId id="425" r:id="rId36"/>
    <p:sldId id="426" r:id="rId37"/>
    <p:sldId id="423" r:id="rId38"/>
    <p:sldId id="427" r:id="rId39"/>
    <p:sldId id="428" r:id="rId40"/>
    <p:sldId id="429" r:id="rId41"/>
    <p:sldId id="432" r:id="rId42"/>
    <p:sldId id="433" r:id="rId43"/>
    <p:sldId id="431" r:id="rId44"/>
    <p:sldId id="434" r:id="rId45"/>
    <p:sldId id="435" r:id="rId46"/>
    <p:sldId id="436" r:id="rId47"/>
    <p:sldId id="439" r:id="rId48"/>
    <p:sldId id="437" r:id="rId49"/>
    <p:sldId id="438" r:id="rId50"/>
    <p:sldId id="440" r:id="rId51"/>
    <p:sldId id="441" r:id="rId52"/>
    <p:sldId id="442" r:id="rId53"/>
    <p:sldId id="443" r:id="rId54"/>
    <p:sldId id="444" r:id="rId55"/>
    <p:sldId id="445" r:id="rId56"/>
  </p:sldIdLst>
  <p:sldSz cx="9144000" cy="6858000" type="screen4x3"/>
  <p:notesSz cx="6811963" cy="9942513"/>
  <p:custDataLst>
    <p:tags r:id="rId5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9EA0"/>
    <a:srgbClr val="2A98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4" autoAdjust="0"/>
    <p:restoredTop sz="93837" autoAdjust="0"/>
  </p:normalViewPr>
  <p:slideViewPr>
    <p:cSldViewPr snapToGrid="0">
      <p:cViewPr>
        <p:scale>
          <a:sx n="100" d="100"/>
          <a:sy n="100" d="100"/>
        </p:scale>
        <p:origin x="-3192" y="-9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9213" y="0"/>
            <a:ext cx="295116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632C7-A46A-4A61-B87F-C305BE696B05}" type="datetimeFigureOut">
              <a:rPr lang="en-US" smtClean="0"/>
              <a:t>4/2/2014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511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9213" y="9444038"/>
            <a:ext cx="2951162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0D8A8-E489-47CD-9481-D2CFCB060DA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181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851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8536" y="0"/>
            <a:ext cx="2951851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C3315-6D57-46FA-A30C-59ECC2CC792E}" type="datetimeFigureOut">
              <a:rPr lang="en-US" smtClean="0"/>
              <a:t>4/2/2014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51851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8536" y="9443662"/>
            <a:ext cx="2951851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75916-1A84-4714-97C4-EFF1309E833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975916-1A84-4714-97C4-EFF1309E83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98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975916-1A84-4714-97C4-EFF1309E833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69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412776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 dirty="0" smtClean="0"/>
              <a:t>Titelmasterformat durch Klicken 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168551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1622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256584"/>
          </a:xfrm>
        </p:spPr>
        <p:txBody>
          <a:bodyPr/>
          <a:lstStyle>
            <a:lvl1pPr marL="342900" indent="-342900">
              <a:buFont typeface="Wingdings" pitchFamily="2" charset="2"/>
              <a:buChar char="q"/>
              <a:defRPr/>
            </a:lvl1pPr>
            <a:lvl2pPr marL="742950" indent="-285750">
              <a:buFont typeface="Wingdings" pitchFamily="2" charset="2"/>
              <a:buChar char="Ø"/>
              <a:defRPr/>
            </a:lvl2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323555" y="6444614"/>
            <a:ext cx="69344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840D37D5-2D62-4019-B603-311C6B5CF006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7982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4427" r="850" b="3910"/>
          <a:stretch/>
        </p:blipFill>
        <p:spPr>
          <a:xfrm>
            <a:off x="63499" y="6413979"/>
            <a:ext cx="2242821" cy="408836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670708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 smtClean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51520" y="764704"/>
            <a:ext cx="8568952" cy="5472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8" name="Text Box 82"/>
          <p:cNvSpPr txBox="1">
            <a:spLocks noChangeArrowheads="1"/>
          </p:cNvSpPr>
          <p:nvPr userDrawn="1"/>
        </p:nvSpPr>
        <p:spPr bwMode="auto">
          <a:xfrm>
            <a:off x="2597544" y="6474733"/>
            <a:ext cx="532383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500" dirty="0" smtClean="0"/>
              <a:t>CFS++</a:t>
            </a:r>
            <a:r>
              <a:rPr lang="en-US" sz="1500" baseline="0" dirty="0" smtClean="0"/>
              <a:t> - Tutorial: Part I,  2013</a:t>
            </a:r>
            <a:endParaRPr lang="en-US" sz="1500" b="1" noProof="0" dirty="0"/>
          </a:p>
        </p:txBody>
      </p:sp>
      <p:sp>
        <p:nvSpPr>
          <p:cNvPr id="10" name="Line 40"/>
          <p:cNvSpPr>
            <a:spLocks noChangeShapeType="1"/>
          </p:cNvSpPr>
          <p:nvPr userDrawn="1"/>
        </p:nvSpPr>
        <p:spPr bwMode="auto">
          <a:xfrm>
            <a:off x="0" y="476672"/>
            <a:ext cx="914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" name="Line 40"/>
          <p:cNvSpPr>
            <a:spLocks noChangeShapeType="1"/>
          </p:cNvSpPr>
          <p:nvPr userDrawn="1"/>
        </p:nvSpPr>
        <p:spPr bwMode="auto">
          <a:xfrm>
            <a:off x="0" y="6373236"/>
            <a:ext cx="914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24" name="Gruppieren 23"/>
          <p:cNvGrpSpPr/>
          <p:nvPr userDrawn="1"/>
        </p:nvGrpSpPr>
        <p:grpSpPr>
          <a:xfrm>
            <a:off x="85725" y="6437313"/>
            <a:ext cx="814706" cy="381000"/>
            <a:chOff x="85725" y="6203633"/>
            <a:chExt cx="814706" cy="381000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85725" y="6203633"/>
              <a:ext cx="379413" cy="381000"/>
            </a:xfrm>
            <a:custGeom>
              <a:avLst/>
              <a:gdLst>
                <a:gd name="T0" fmla="*/ 1088 w 1209"/>
                <a:gd name="T1" fmla="*/ 0 h 1209"/>
                <a:gd name="T2" fmla="*/ 1088 w 1209"/>
                <a:gd name="T3" fmla="*/ 0 h 1209"/>
                <a:gd name="T4" fmla="*/ 1209 w 1209"/>
                <a:gd name="T5" fmla="*/ 120 h 1209"/>
                <a:gd name="T6" fmla="*/ 1209 w 1209"/>
                <a:gd name="T7" fmla="*/ 1087 h 1209"/>
                <a:gd name="T8" fmla="*/ 1088 w 1209"/>
                <a:gd name="T9" fmla="*/ 1209 h 1209"/>
                <a:gd name="T10" fmla="*/ 120 w 1209"/>
                <a:gd name="T11" fmla="*/ 1209 h 1209"/>
                <a:gd name="T12" fmla="*/ 0 w 1209"/>
                <a:gd name="T13" fmla="*/ 1087 h 1209"/>
                <a:gd name="T14" fmla="*/ 0 w 1209"/>
                <a:gd name="T15" fmla="*/ 120 h 1209"/>
                <a:gd name="T16" fmla="*/ 120 w 1209"/>
                <a:gd name="T17" fmla="*/ 0 h 1209"/>
                <a:gd name="T18" fmla="*/ 1088 w 1209"/>
                <a:gd name="T19" fmla="*/ 0 h 1209"/>
                <a:gd name="T20" fmla="*/ 1088 w 1209"/>
                <a:gd name="T21" fmla="*/ 0 h 1209"/>
                <a:gd name="T22" fmla="*/ 1088 w 1209"/>
                <a:gd name="T23" fmla="*/ 0 h 1209"/>
                <a:gd name="T24" fmla="*/ 1088 w 1209"/>
                <a:gd name="T25" fmla="*/ 0 h 1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9" h="1209">
                  <a:moveTo>
                    <a:pt x="1088" y="0"/>
                  </a:moveTo>
                  <a:lnTo>
                    <a:pt x="1088" y="0"/>
                  </a:lnTo>
                  <a:cubicBezTo>
                    <a:pt x="1155" y="0"/>
                    <a:pt x="1209" y="53"/>
                    <a:pt x="1209" y="120"/>
                  </a:cubicBezTo>
                  <a:lnTo>
                    <a:pt x="1209" y="1087"/>
                  </a:lnTo>
                  <a:cubicBezTo>
                    <a:pt x="1209" y="1154"/>
                    <a:pt x="1155" y="1209"/>
                    <a:pt x="1088" y="1209"/>
                  </a:cubicBezTo>
                  <a:lnTo>
                    <a:pt x="120" y="1209"/>
                  </a:lnTo>
                  <a:cubicBezTo>
                    <a:pt x="54" y="1209"/>
                    <a:pt x="0" y="1154"/>
                    <a:pt x="0" y="1087"/>
                  </a:cubicBezTo>
                  <a:lnTo>
                    <a:pt x="0" y="120"/>
                  </a:lnTo>
                  <a:cubicBezTo>
                    <a:pt x="0" y="53"/>
                    <a:pt x="54" y="0"/>
                    <a:pt x="120" y="0"/>
                  </a:cubicBezTo>
                  <a:lnTo>
                    <a:pt x="1088" y="0"/>
                  </a:lnTo>
                  <a:lnTo>
                    <a:pt x="1088" y="0"/>
                  </a:lnTo>
                  <a:close/>
                  <a:moveTo>
                    <a:pt x="1088" y="0"/>
                  </a:moveTo>
                  <a:lnTo>
                    <a:pt x="1088" y="0"/>
                  </a:lnTo>
                  <a:close/>
                </a:path>
              </a:pathLst>
            </a:custGeom>
            <a:solidFill>
              <a:srgbClr val="0066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7"/>
            <p:cNvSpPr>
              <a:spLocks noEditPoints="1"/>
            </p:cNvSpPr>
            <p:nvPr userDrawn="1"/>
          </p:nvSpPr>
          <p:spPr bwMode="auto">
            <a:xfrm>
              <a:off x="166688" y="6294121"/>
              <a:ext cx="39688" cy="134938"/>
            </a:xfrm>
            <a:custGeom>
              <a:avLst/>
              <a:gdLst>
                <a:gd name="T0" fmla="*/ 0 w 129"/>
                <a:gd name="T1" fmla="*/ 0 h 429"/>
                <a:gd name="T2" fmla="*/ 0 w 129"/>
                <a:gd name="T3" fmla="*/ 0 h 429"/>
                <a:gd name="T4" fmla="*/ 129 w 129"/>
                <a:gd name="T5" fmla="*/ 0 h 429"/>
                <a:gd name="T6" fmla="*/ 129 w 129"/>
                <a:gd name="T7" fmla="*/ 429 h 429"/>
                <a:gd name="T8" fmla="*/ 0 w 129"/>
                <a:gd name="T9" fmla="*/ 429 h 429"/>
                <a:gd name="T10" fmla="*/ 0 w 129"/>
                <a:gd name="T11" fmla="*/ 0 h 429"/>
                <a:gd name="T12" fmla="*/ 0 w 129"/>
                <a:gd name="T13" fmla="*/ 0 h 429"/>
                <a:gd name="T14" fmla="*/ 0 w 129"/>
                <a:gd name="T15" fmla="*/ 0 h 429"/>
                <a:gd name="T16" fmla="*/ 0 w 129"/>
                <a:gd name="T1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429">
                  <a:moveTo>
                    <a:pt x="0" y="0"/>
                  </a:moveTo>
                  <a:lnTo>
                    <a:pt x="0" y="0"/>
                  </a:lnTo>
                  <a:lnTo>
                    <a:pt x="129" y="0"/>
                  </a:lnTo>
                  <a:lnTo>
                    <a:pt x="129" y="429"/>
                  </a:lnTo>
                  <a:lnTo>
                    <a:pt x="0" y="429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eform 8"/>
            <p:cNvSpPr>
              <a:spLocks noEditPoints="1"/>
            </p:cNvSpPr>
            <p:nvPr userDrawn="1"/>
          </p:nvSpPr>
          <p:spPr bwMode="auto">
            <a:xfrm>
              <a:off x="114300" y="6241733"/>
              <a:ext cx="142875" cy="39688"/>
            </a:xfrm>
            <a:custGeom>
              <a:avLst/>
              <a:gdLst>
                <a:gd name="T0" fmla="*/ 0 w 451"/>
                <a:gd name="T1" fmla="*/ 0 h 129"/>
                <a:gd name="T2" fmla="*/ 0 w 451"/>
                <a:gd name="T3" fmla="*/ 0 h 129"/>
                <a:gd name="T4" fmla="*/ 451 w 451"/>
                <a:gd name="T5" fmla="*/ 0 h 129"/>
                <a:gd name="T6" fmla="*/ 451 w 451"/>
                <a:gd name="T7" fmla="*/ 129 h 129"/>
                <a:gd name="T8" fmla="*/ 0 w 451"/>
                <a:gd name="T9" fmla="*/ 129 h 129"/>
                <a:gd name="T10" fmla="*/ 0 w 451"/>
                <a:gd name="T11" fmla="*/ 0 h 129"/>
                <a:gd name="T12" fmla="*/ 0 w 451"/>
                <a:gd name="T13" fmla="*/ 0 h 129"/>
                <a:gd name="T14" fmla="*/ 0 w 451"/>
                <a:gd name="T15" fmla="*/ 0 h 129"/>
                <a:gd name="T16" fmla="*/ 0 w 451"/>
                <a:gd name="T17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1" h="129">
                  <a:moveTo>
                    <a:pt x="0" y="0"/>
                  </a:moveTo>
                  <a:lnTo>
                    <a:pt x="0" y="0"/>
                  </a:lnTo>
                  <a:lnTo>
                    <a:pt x="451" y="0"/>
                  </a:lnTo>
                  <a:lnTo>
                    <a:pt x="451" y="129"/>
                  </a:lnTo>
                  <a:lnTo>
                    <a:pt x="0" y="129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117475" y="6478271"/>
              <a:ext cx="82550" cy="68263"/>
            </a:xfrm>
            <a:custGeom>
              <a:avLst/>
              <a:gdLst>
                <a:gd name="T0" fmla="*/ 262 w 262"/>
                <a:gd name="T1" fmla="*/ 0 h 213"/>
                <a:gd name="T2" fmla="*/ 262 w 262"/>
                <a:gd name="T3" fmla="*/ 0 h 213"/>
                <a:gd name="T4" fmla="*/ 219 w 262"/>
                <a:gd name="T5" fmla="*/ 0 h 213"/>
                <a:gd name="T6" fmla="*/ 186 w 262"/>
                <a:gd name="T7" fmla="*/ 134 h 213"/>
                <a:gd name="T8" fmla="*/ 147 w 262"/>
                <a:gd name="T9" fmla="*/ 0 h 213"/>
                <a:gd name="T10" fmla="*/ 115 w 262"/>
                <a:gd name="T11" fmla="*/ 0 h 213"/>
                <a:gd name="T12" fmla="*/ 77 w 262"/>
                <a:gd name="T13" fmla="*/ 134 h 213"/>
                <a:gd name="T14" fmla="*/ 44 w 262"/>
                <a:gd name="T15" fmla="*/ 0 h 213"/>
                <a:gd name="T16" fmla="*/ 0 w 262"/>
                <a:gd name="T17" fmla="*/ 0 h 213"/>
                <a:gd name="T18" fmla="*/ 57 w 262"/>
                <a:gd name="T19" fmla="*/ 213 h 213"/>
                <a:gd name="T20" fmla="*/ 92 w 262"/>
                <a:gd name="T21" fmla="*/ 213 h 213"/>
                <a:gd name="T22" fmla="*/ 131 w 262"/>
                <a:gd name="T23" fmla="*/ 84 h 213"/>
                <a:gd name="T24" fmla="*/ 170 w 262"/>
                <a:gd name="T25" fmla="*/ 213 h 213"/>
                <a:gd name="T26" fmla="*/ 205 w 262"/>
                <a:gd name="T27" fmla="*/ 213 h 213"/>
                <a:gd name="T28" fmla="*/ 262 w 262"/>
                <a:gd name="T29" fmla="*/ 0 h 213"/>
                <a:gd name="T30" fmla="*/ 262 w 262"/>
                <a:gd name="T31" fmla="*/ 0 h 213"/>
                <a:gd name="T32" fmla="*/ 262 w 262"/>
                <a:gd name="T33" fmla="*/ 0 h 213"/>
                <a:gd name="T34" fmla="*/ 262 w 262"/>
                <a:gd name="T35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2" h="213">
                  <a:moveTo>
                    <a:pt x="262" y="0"/>
                  </a:moveTo>
                  <a:lnTo>
                    <a:pt x="262" y="0"/>
                  </a:lnTo>
                  <a:lnTo>
                    <a:pt x="219" y="0"/>
                  </a:lnTo>
                  <a:lnTo>
                    <a:pt x="186" y="134"/>
                  </a:lnTo>
                  <a:lnTo>
                    <a:pt x="147" y="0"/>
                  </a:lnTo>
                  <a:lnTo>
                    <a:pt x="115" y="0"/>
                  </a:lnTo>
                  <a:lnTo>
                    <a:pt x="77" y="134"/>
                  </a:lnTo>
                  <a:lnTo>
                    <a:pt x="44" y="0"/>
                  </a:lnTo>
                  <a:lnTo>
                    <a:pt x="0" y="0"/>
                  </a:lnTo>
                  <a:lnTo>
                    <a:pt x="57" y="213"/>
                  </a:lnTo>
                  <a:lnTo>
                    <a:pt x="92" y="213"/>
                  </a:lnTo>
                  <a:lnTo>
                    <a:pt x="131" y="84"/>
                  </a:lnTo>
                  <a:lnTo>
                    <a:pt x="170" y="213"/>
                  </a:lnTo>
                  <a:lnTo>
                    <a:pt x="205" y="213"/>
                  </a:lnTo>
                  <a:lnTo>
                    <a:pt x="262" y="0"/>
                  </a:lnTo>
                  <a:lnTo>
                    <a:pt x="262" y="0"/>
                  </a:lnTo>
                  <a:close/>
                  <a:moveTo>
                    <a:pt x="262" y="0"/>
                  </a:moveTo>
                  <a:lnTo>
                    <a:pt x="26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10"/>
            <p:cNvSpPr>
              <a:spLocks noEditPoints="1"/>
            </p:cNvSpPr>
            <p:nvPr userDrawn="1"/>
          </p:nvSpPr>
          <p:spPr bwMode="auto">
            <a:xfrm>
              <a:off x="374650" y="6478271"/>
              <a:ext cx="52388" cy="66675"/>
            </a:xfrm>
            <a:custGeom>
              <a:avLst/>
              <a:gdLst>
                <a:gd name="T0" fmla="*/ 163 w 163"/>
                <a:gd name="T1" fmla="*/ 213 h 213"/>
                <a:gd name="T2" fmla="*/ 163 w 163"/>
                <a:gd name="T3" fmla="*/ 213 h 213"/>
                <a:gd name="T4" fmla="*/ 163 w 163"/>
                <a:gd name="T5" fmla="*/ 0 h 213"/>
                <a:gd name="T6" fmla="*/ 121 w 163"/>
                <a:gd name="T7" fmla="*/ 0 h 213"/>
                <a:gd name="T8" fmla="*/ 121 w 163"/>
                <a:gd name="T9" fmla="*/ 131 h 213"/>
                <a:gd name="T10" fmla="*/ 37 w 163"/>
                <a:gd name="T11" fmla="*/ 0 h 213"/>
                <a:gd name="T12" fmla="*/ 0 w 163"/>
                <a:gd name="T13" fmla="*/ 0 h 213"/>
                <a:gd name="T14" fmla="*/ 0 w 163"/>
                <a:gd name="T15" fmla="*/ 213 h 213"/>
                <a:gd name="T16" fmla="*/ 42 w 163"/>
                <a:gd name="T17" fmla="*/ 213 h 213"/>
                <a:gd name="T18" fmla="*/ 42 w 163"/>
                <a:gd name="T19" fmla="*/ 83 h 213"/>
                <a:gd name="T20" fmla="*/ 126 w 163"/>
                <a:gd name="T21" fmla="*/ 213 h 213"/>
                <a:gd name="T22" fmla="*/ 163 w 163"/>
                <a:gd name="T23" fmla="*/ 213 h 213"/>
                <a:gd name="T24" fmla="*/ 163 w 163"/>
                <a:gd name="T25" fmla="*/ 213 h 213"/>
                <a:gd name="T26" fmla="*/ 163 w 163"/>
                <a:gd name="T27" fmla="*/ 213 h 213"/>
                <a:gd name="T28" fmla="*/ 163 w 163"/>
                <a:gd name="T29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3" h="213">
                  <a:moveTo>
                    <a:pt x="163" y="213"/>
                  </a:moveTo>
                  <a:lnTo>
                    <a:pt x="163" y="213"/>
                  </a:lnTo>
                  <a:lnTo>
                    <a:pt x="163" y="0"/>
                  </a:lnTo>
                  <a:lnTo>
                    <a:pt x="121" y="0"/>
                  </a:lnTo>
                  <a:lnTo>
                    <a:pt x="121" y="131"/>
                  </a:lnTo>
                  <a:lnTo>
                    <a:pt x="37" y="0"/>
                  </a:lnTo>
                  <a:lnTo>
                    <a:pt x="0" y="0"/>
                  </a:lnTo>
                  <a:lnTo>
                    <a:pt x="0" y="213"/>
                  </a:lnTo>
                  <a:lnTo>
                    <a:pt x="42" y="213"/>
                  </a:lnTo>
                  <a:lnTo>
                    <a:pt x="42" y="83"/>
                  </a:lnTo>
                  <a:lnTo>
                    <a:pt x="126" y="213"/>
                  </a:lnTo>
                  <a:lnTo>
                    <a:pt x="163" y="213"/>
                  </a:lnTo>
                  <a:lnTo>
                    <a:pt x="163" y="213"/>
                  </a:lnTo>
                  <a:close/>
                  <a:moveTo>
                    <a:pt x="163" y="213"/>
                  </a:moveTo>
                  <a:lnTo>
                    <a:pt x="163" y="21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auto">
            <a:xfrm>
              <a:off x="288925" y="6478271"/>
              <a:ext cx="44450" cy="66675"/>
            </a:xfrm>
            <a:custGeom>
              <a:avLst/>
              <a:gdLst>
                <a:gd name="T0" fmla="*/ 140 w 140"/>
                <a:gd name="T1" fmla="*/ 213 h 213"/>
                <a:gd name="T2" fmla="*/ 140 w 140"/>
                <a:gd name="T3" fmla="*/ 213 h 213"/>
                <a:gd name="T4" fmla="*/ 140 w 140"/>
                <a:gd name="T5" fmla="*/ 176 h 213"/>
                <a:gd name="T6" fmla="*/ 42 w 140"/>
                <a:gd name="T7" fmla="*/ 176 h 213"/>
                <a:gd name="T8" fmla="*/ 42 w 140"/>
                <a:gd name="T9" fmla="*/ 125 h 213"/>
                <a:gd name="T10" fmla="*/ 125 w 140"/>
                <a:gd name="T11" fmla="*/ 125 h 213"/>
                <a:gd name="T12" fmla="*/ 125 w 140"/>
                <a:gd name="T13" fmla="*/ 87 h 213"/>
                <a:gd name="T14" fmla="*/ 42 w 140"/>
                <a:gd name="T15" fmla="*/ 87 h 213"/>
                <a:gd name="T16" fmla="*/ 42 w 140"/>
                <a:gd name="T17" fmla="*/ 38 h 213"/>
                <a:gd name="T18" fmla="*/ 140 w 140"/>
                <a:gd name="T19" fmla="*/ 38 h 213"/>
                <a:gd name="T20" fmla="*/ 140 w 140"/>
                <a:gd name="T21" fmla="*/ 0 h 213"/>
                <a:gd name="T22" fmla="*/ 0 w 140"/>
                <a:gd name="T23" fmla="*/ 0 h 213"/>
                <a:gd name="T24" fmla="*/ 0 w 140"/>
                <a:gd name="T25" fmla="*/ 213 h 213"/>
                <a:gd name="T26" fmla="*/ 140 w 140"/>
                <a:gd name="T27" fmla="*/ 213 h 213"/>
                <a:gd name="T28" fmla="*/ 140 w 140"/>
                <a:gd name="T29" fmla="*/ 213 h 213"/>
                <a:gd name="T30" fmla="*/ 140 w 140"/>
                <a:gd name="T31" fmla="*/ 213 h 213"/>
                <a:gd name="T32" fmla="*/ 140 w 140"/>
                <a:gd name="T3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0" h="213">
                  <a:moveTo>
                    <a:pt x="140" y="213"/>
                  </a:moveTo>
                  <a:lnTo>
                    <a:pt x="140" y="213"/>
                  </a:lnTo>
                  <a:lnTo>
                    <a:pt x="140" y="176"/>
                  </a:lnTo>
                  <a:lnTo>
                    <a:pt x="42" y="176"/>
                  </a:lnTo>
                  <a:lnTo>
                    <a:pt x="42" y="125"/>
                  </a:lnTo>
                  <a:lnTo>
                    <a:pt x="125" y="125"/>
                  </a:lnTo>
                  <a:lnTo>
                    <a:pt x="125" y="87"/>
                  </a:lnTo>
                  <a:lnTo>
                    <a:pt x="42" y="87"/>
                  </a:lnTo>
                  <a:lnTo>
                    <a:pt x="42" y="38"/>
                  </a:lnTo>
                  <a:lnTo>
                    <a:pt x="140" y="38"/>
                  </a:lnTo>
                  <a:lnTo>
                    <a:pt x="140" y="0"/>
                  </a:lnTo>
                  <a:lnTo>
                    <a:pt x="0" y="0"/>
                  </a:lnTo>
                  <a:lnTo>
                    <a:pt x="0" y="213"/>
                  </a:lnTo>
                  <a:lnTo>
                    <a:pt x="140" y="213"/>
                  </a:lnTo>
                  <a:lnTo>
                    <a:pt x="140" y="213"/>
                  </a:lnTo>
                  <a:close/>
                  <a:moveTo>
                    <a:pt x="140" y="213"/>
                  </a:moveTo>
                  <a:lnTo>
                    <a:pt x="140" y="21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231775" y="6478271"/>
              <a:ext cx="12700" cy="66675"/>
            </a:xfrm>
            <a:custGeom>
              <a:avLst/>
              <a:gdLst>
                <a:gd name="T0" fmla="*/ 42 w 42"/>
                <a:gd name="T1" fmla="*/ 0 h 213"/>
                <a:gd name="T2" fmla="*/ 42 w 42"/>
                <a:gd name="T3" fmla="*/ 0 h 213"/>
                <a:gd name="T4" fmla="*/ 0 w 42"/>
                <a:gd name="T5" fmla="*/ 0 h 213"/>
                <a:gd name="T6" fmla="*/ 0 w 42"/>
                <a:gd name="T7" fmla="*/ 213 h 213"/>
                <a:gd name="T8" fmla="*/ 42 w 42"/>
                <a:gd name="T9" fmla="*/ 213 h 213"/>
                <a:gd name="T10" fmla="*/ 42 w 42"/>
                <a:gd name="T11" fmla="*/ 0 h 213"/>
                <a:gd name="T12" fmla="*/ 42 w 42"/>
                <a:gd name="T13" fmla="*/ 0 h 213"/>
                <a:gd name="T14" fmla="*/ 42 w 42"/>
                <a:gd name="T15" fmla="*/ 0 h 213"/>
                <a:gd name="T16" fmla="*/ 42 w 42"/>
                <a:gd name="T17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213">
                  <a:moveTo>
                    <a:pt x="42" y="0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0" y="213"/>
                  </a:lnTo>
                  <a:lnTo>
                    <a:pt x="42" y="213"/>
                  </a:lnTo>
                  <a:lnTo>
                    <a:pt x="42" y="0"/>
                  </a:lnTo>
                  <a:lnTo>
                    <a:pt x="42" y="0"/>
                  </a:lnTo>
                  <a:close/>
                  <a:moveTo>
                    <a:pt x="42" y="0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3"/>
            <p:cNvSpPr>
              <a:spLocks noEditPoints="1"/>
            </p:cNvSpPr>
            <p:nvPr userDrawn="1"/>
          </p:nvSpPr>
          <p:spPr bwMode="auto">
            <a:xfrm>
              <a:off x="274638" y="6241733"/>
              <a:ext cx="69850" cy="188913"/>
            </a:xfrm>
            <a:custGeom>
              <a:avLst/>
              <a:gdLst>
                <a:gd name="T0" fmla="*/ 222 w 222"/>
                <a:gd name="T1" fmla="*/ 599 h 599"/>
                <a:gd name="T2" fmla="*/ 222 w 222"/>
                <a:gd name="T3" fmla="*/ 599 h 599"/>
                <a:gd name="T4" fmla="*/ 215 w 222"/>
                <a:gd name="T5" fmla="*/ 599 h 599"/>
                <a:gd name="T6" fmla="*/ 0 w 222"/>
                <a:gd name="T7" fmla="*/ 359 h 599"/>
                <a:gd name="T8" fmla="*/ 0 w 222"/>
                <a:gd name="T9" fmla="*/ 0 h 599"/>
                <a:gd name="T10" fmla="*/ 131 w 222"/>
                <a:gd name="T11" fmla="*/ 0 h 599"/>
                <a:gd name="T12" fmla="*/ 130 w 222"/>
                <a:gd name="T13" fmla="*/ 356 h 599"/>
                <a:gd name="T14" fmla="*/ 215 w 222"/>
                <a:gd name="T15" fmla="*/ 468 h 599"/>
                <a:gd name="T16" fmla="*/ 222 w 222"/>
                <a:gd name="T17" fmla="*/ 469 h 599"/>
                <a:gd name="T18" fmla="*/ 222 w 222"/>
                <a:gd name="T19" fmla="*/ 599 h 599"/>
                <a:gd name="T20" fmla="*/ 222 w 222"/>
                <a:gd name="T21" fmla="*/ 599 h 599"/>
                <a:gd name="T22" fmla="*/ 222 w 222"/>
                <a:gd name="T23" fmla="*/ 599 h 599"/>
                <a:gd name="T24" fmla="*/ 222 w 222"/>
                <a:gd name="T25" fmla="*/ 599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2" h="599">
                  <a:moveTo>
                    <a:pt x="222" y="599"/>
                  </a:moveTo>
                  <a:lnTo>
                    <a:pt x="222" y="599"/>
                  </a:lnTo>
                  <a:lnTo>
                    <a:pt x="215" y="599"/>
                  </a:lnTo>
                  <a:cubicBezTo>
                    <a:pt x="94" y="586"/>
                    <a:pt x="0" y="484"/>
                    <a:pt x="0" y="359"/>
                  </a:cubicBezTo>
                  <a:lnTo>
                    <a:pt x="0" y="0"/>
                  </a:lnTo>
                  <a:lnTo>
                    <a:pt x="131" y="0"/>
                  </a:lnTo>
                  <a:lnTo>
                    <a:pt x="130" y="356"/>
                  </a:lnTo>
                  <a:cubicBezTo>
                    <a:pt x="130" y="408"/>
                    <a:pt x="167" y="455"/>
                    <a:pt x="215" y="468"/>
                  </a:cubicBezTo>
                  <a:cubicBezTo>
                    <a:pt x="217" y="468"/>
                    <a:pt x="219" y="469"/>
                    <a:pt x="222" y="469"/>
                  </a:cubicBezTo>
                  <a:lnTo>
                    <a:pt x="222" y="599"/>
                  </a:lnTo>
                  <a:lnTo>
                    <a:pt x="222" y="599"/>
                  </a:lnTo>
                  <a:close/>
                  <a:moveTo>
                    <a:pt x="222" y="599"/>
                  </a:moveTo>
                  <a:lnTo>
                    <a:pt x="222" y="599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57188" y="6241733"/>
              <a:ext cx="69850" cy="188913"/>
            </a:xfrm>
            <a:custGeom>
              <a:avLst/>
              <a:gdLst>
                <a:gd name="T0" fmla="*/ 0 w 220"/>
                <a:gd name="T1" fmla="*/ 469 h 599"/>
                <a:gd name="T2" fmla="*/ 0 w 220"/>
                <a:gd name="T3" fmla="*/ 469 h 599"/>
                <a:gd name="T4" fmla="*/ 5 w 220"/>
                <a:gd name="T5" fmla="*/ 468 h 599"/>
                <a:gd name="T6" fmla="*/ 90 w 220"/>
                <a:gd name="T7" fmla="*/ 356 h 599"/>
                <a:gd name="T8" fmla="*/ 89 w 220"/>
                <a:gd name="T9" fmla="*/ 0 h 599"/>
                <a:gd name="T10" fmla="*/ 220 w 220"/>
                <a:gd name="T11" fmla="*/ 0 h 599"/>
                <a:gd name="T12" fmla="*/ 220 w 220"/>
                <a:gd name="T13" fmla="*/ 358 h 599"/>
                <a:gd name="T14" fmla="*/ 5 w 220"/>
                <a:gd name="T15" fmla="*/ 599 h 599"/>
                <a:gd name="T16" fmla="*/ 0 w 220"/>
                <a:gd name="T17" fmla="*/ 599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0" h="599">
                  <a:moveTo>
                    <a:pt x="0" y="469"/>
                  </a:moveTo>
                  <a:lnTo>
                    <a:pt x="0" y="469"/>
                  </a:lnTo>
                  <a:cubicBezTo>
                    <a:pt x="2" y="468"/>
                    <a:pt x="3" y="468"/>
                    <a:pt x="5" y="468"/>
                  </a:cubicBezTo>
                  <a:cubicBezTo>
                    <a:pt x="54" y="455"/>
                    <a:pt x="90" y="408"/>
                    <a:pt x="90" y="356"/>
                  </a:cubicBezTo>
                  <a:lnTo>
                    <a:pt x="89" y="0"/>
                  </a:lnTo>
                  <a:lnTo>
                    <a:pt x="220" y="0"/>
                  </a:lnTo>
                  <a:lnTo>
                    <a:pt x="220" y="358"/>
                  </a:lnTo>
                  <a:cubicBezTo>
                    <a:pt x="220" y="483"/>
                    <a:pt x="126" y="586"/>
                    <a:pt x="5" y="599"/>
                  </a:cubicBezTo>
                  <a:lnTo>
                    <a:pt x="0" y="599"/>
                  </a:ln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5"/>
            <p:cNvSpPr>
              <a:spLocks noEditPoints="1"/>
            </p:cNvSpPr>
            <p:nvPr userDrawn="1"/>
          </p:nvSpPr>
          <p:spPr bwMode="auto">
            <a:xfrm>
              <a:off x="577850" y="6251258"/>
              <a:ext cx="22225" cy="26988"/>
            </a:xfrm>
            <a:custGeom>
              <a:avLst/>
              <a:gdLst>
                <a:gd name="T0" fmla="*/ 0 w 73"/>
                <a:gd name="T1" fmla="*/ 90 h 90"/>
                <a:gd name="T2" fmla="*/ 0 w 73"/>
                <a:gd name="T3" fmla="*/ 90 h 90"/>
                <a:gd name="T4" fmla="*/ 0 w 73"/>
                <a:gd name="T5" fmla="*/ 0 h 90"/>
                <a:gd name="T6" fmla="*/ 73 w 73"/>
                <a:gd name="T7" fmla="*/ 0 h 90"/>
                <a:gd name="T8" fmla="*/ 73 w 73"/>
                <a:gd name="T9" fmla="*/ 90 h 90"/>
                <a:gd name="T10" fmla="*/ 0 w 73"/>
                <a:gd name="T11" fmla="*/ 90 h 90"/>
                <a:gd name="T12" fmla="*/ 0 w 73"/>
                <a:gd name="T13" fmla="*/ 90 h 90"/>
                <a:gd name="T14" fmla="*/ 3 w 73"/>
                <a:gd name="T15" fmla="*/ 88 h 90"/>
                <a:gd name="T16" fmla="*/ 3 w 73"/>
                <a:gd name="T17" fmla="*/ 88 h 90"/>
                <a:gd name="T18" fmla="*/ 70 w 73"/>
                <a:gd name="T19" fmla="*/ 88 h 90"/>
                <a:gd name="T20" fmla="*/ 70 w 73"/>
                <a:gd name="T21" fmla="*/ 2 h 90"/>
                <a:gd name="T22" fmla="*/ 3 w 73"/>
                <a:gd name="T23" fmla="*/ 2 h 90"/>
                <a:gd name="T24" fmla="*/ 3 w 73"/>
                <a:gd name="T25" fmla="*/ 88 h 90"/>
                <a:gd name="T26" fmla="*/ 3 w 73"/>
                <a:gd name="T27" fmla="*/ 88 h 90"/>
                <a:gd name="T28" fmla="*/ 3 w 73"/>
                <a:gd name="T29" fmla="*/ 88 h 90"/>
                <a:gd name="T30" fmla="*/ 3 w 73"/>
                <a:gd name="T31" fmla="*/ 8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3" h="90">
                  <a:moveTo>
                    <a:pt x="0" y="90"/>
                  </a:moveTo>
                  <a:lnTo>
                    <a:pt x="0" y="90"/>
                  </a:lnTo>
                  <a:lnTo>
                    <a:pt x="0" y="0"/>
                  </a:lnTo>
                  <a:lnTo>
                    <a:pt x="73" y="0"/>
                  </a:lnTo>
                  <a:lnTo>
                    <a:pt x="73" y="90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3" y="88"/>
                  </a:moveTo>
                  <a:lnTo>
                    <a:pt x="3" y="88"/>
                  </a:lnTo>
                  <a:lnTo>
                    <a:pt x="70" y="88"/>
                  </a:lnTo>
                  <a:lnTo>
                    <a:pt x="70" y="2"/>
                  </a:lnTo>
                  <a:lnTo>
                    <a:pt x="3" y="2"/>
                  </a:lnTo>
                  <a:lnTo>
                    <a:pt x="3" y="88"/>
                  </a:lnTo>
                  <a:lnTo>
                    <a:pt x="3" y="88"/>
                  </a:lnTo>
                  <a:close/>
                  <a:moveTo>
                    <a:pt x="3" y="88"/>
                  </a:moveTo>
                  <a:lnTo>
                    <a:pt x="3" y="8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6"/>
            <p:cNvSpPr>
              <a:spLocks noEditPoints="1"/>
            </p:cNvSpPr>
            <p:nvPr userDrawn="1"/>
          </p:nvSpPr>
          <p:spPr bwMode="auto">
            <a:xfrm>
              <a:off x="521018" y="6203633"/>
              <a:ext cx="379413" cy="381000"/>
            </a:xfrm>
            <a:custGeom>
              <a:avLst/>
              <a:gdLst>
                <a:gd name="T0" fmla="*/ 107 w 1209"/>
                <a:gd name="T1" fmla="*/ 0 h 1209"/>
                <a:gd name="T2" fmla="*/ 107 w 1209"/>
                <a:gd name="T3" fmla="*/ 0 h 1209"/>
                <a:gd name="T4" fmla="*/ 0 w 1209"/>
                <a:gd name="T5" fmla="*/ 106 h 1209"/>
                <a:gd name="T6" fmla="*/ 0 w 1209"/>
                <a:gd name="T7" fmla="*/ 1101 h 1209"/>
                <a:gd name="T8" fmla="*/ 107 w 1209"/>
                <a:gd name="T9" fmla="*/ 1209 h 1209"/>
                <a:gd name="T10" fmla="*/ 1102 w 1209"/>
                <a:gd name="T11" fmla="*/ 1209 h 1209"/>
                <a:gd name="T12" fmla="*/ 1209 w 1209"/>
                <a:gd name="T13" fmla="*/ 1101 h 1209"/>
                <a:gd name="T14" fmla="*/ 1209 w 1209"/>
                <a:gd name="T15" fmla="*/ 106 h 1209"/>
                <a:gd name="T16" fmla="*/ 1102 w 1209"/>
                <a:gd name="T17" fmla="*/ 0 h 1209"/>
                <a:gd name="T18" fmla="*/ 107 w 1209"/>
                <a:gd name="T19" fmla="*/ 0 h 1209"/>
                <a:gd name="T20" fmla="*/ 107 w 1209"/>
                <a:gd name="T21" fmla="*/ 0 h 1209"/>
                <a:gd name="T22" fmla="*/ 107 w 1209"/>
                <a:gd name="T23" fmla="*/ 0 h 1209"/>
                <a:gd name="T24" fmla="*/ 107 w 1209"/>
                <a:gd name="T25" fmla="*/ 0 h 1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9" h="1209">
                  <a:moveTo>
                    <a:pt x="107" y="0"/>
                  </a:moveTo>
                  <a:lnTo>
                    <a:pt x="107" y="0"/>
                  </a:lnTo>
                  <a:cubicBezTo>
                    <a:pt x="48" y="0"/>
                    <a:pt x="0" y="47"/>
                    <a:pt x="0" y="106"/>
                  </a:cubicBezTo>
                  <a:lnTo>
                    <a:pt x="0" y="1101"/>
                  </a:lnTo>
                  <a:cubicBezTo>
                    <a:pt x="0" y="1160"/>
                    <a:pt x="48" y="1209"/>
                    <a:pt x="107" y="1209"/>
                  </a:cubicBezTo>
                  <a:lnTo>
                    <a:pt x="1102" y="1209"/>
                  </a:lnTo>
                  <a:cubicBezTo>
                    <a:pt x="1162" y="1209"/>
                    <a:pt x="1209" y="1160"/>
                    <a:pt x="1209" y="1101"/>
                  </a:cubicBezTo>
                  <a:lnTo>
                    <a:pt x="1209" y="106"/>
                  </a:lnTo>
                  <a:cubicBezTo>
                    <a:pt x="1209" y="47"/>
                    <a:pt x="1162" y="0"/>
                    <a:pt x="1102" y="0"/>
                  </a:cubicBezTo>
                  <a:lnTo>
                    <a:pt x="107" y="0"/>
                  </a:lnTo>
                  <a:lnTo>
                    <a:pt x="107" y="0"/>
                  </a:lnTo>
                  <a:close/>
                  <a:moveTo>
                    <a:pt x="107" y="0"/>
                  </a:moveTo>
                  <a:lnTo>
                    <a:pt x="107" y="0"/>
                  </a:lnTo>
                  <a:close/>
                </a:path>
              </a:pathLst>
            </a:custGeom>
            <a:solidFill>
              <a:srgbClr val="CC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7"/>
            <p:cNvSpPr>
              <a:spLocks noEditPoints="1"/>
            </p:cNvSpPr>
            <p:nvPr userDrawn="1"/>
          </p:nvSpPr>
          <p:spPr bwMode="auto">
            <a:xfrm>
              <a:off x="596900" y="6305233"/>
              <a:ext cx="247650" cy="180975"/>
            </a:xfrm>
            <a:custGeom>
              <a:avLst/>
              <a:gdLst>
                <a:gd name="T0" fmla="*/ 643 w 786"/>
                <a:gd name="T1" fmla="*/ 574 h 574"/>
                <a:gd name="T2" fmla="*/ 643 w 786"/>
                <a:gd name="T3" fmla="*/ 574 h 574"/>
                <a:gd name="T4" fmla="*/ 643 w 786"/>
                <a:gd name="T5" fmla="*/ 234 h 574"/>
                <a:gd name="T6" fmla="*/ 626 w 786"/>
                <a:gd name="T7" fmla="*/ 164 h 574"/>
                <a:gd name="T8" fmla="*/ 560 w 786"/>
                <a:gd name="T9" fmla="*/ 135 h 574"/>
                <a:gd name="T10" fmla="*/ 488 w 786"/>
                <a:gd name="T11" fmla="*/ 164 h 574"/>
                <a:gd name="T12" fmla="*/ 464 w 786"/>
                <a:gd name="T13" fmla="*/ 246 h 574"/>
                <a:gd name="T14" fmla="*/ 464 w 786"/>
                <a:gd name="T15" fmla="*/ 574 h 574"/>
                <a:gd name="T16" fmla="*/ 321 w 786"/>
                <a:gd name="T17" fmla="*/ 574 h 574"/>
                <a:gd name="T18" fmla="*/ 321 w 786"/>
                <a:gd name="T19" fmla="*/ 234 h 574"/>
                <a:gd name="T20" fmla="*/ 304 w 786"/>
                <a:gd name="T21" fmla="*/ 164 h 574"/>
                <a:gd name="T22" fmla="*/ 239 w 786"/>
                <a:gd name="T23" fmla="*/ 135 h 574"/>
                <a:gd name="T24" fmla="*/ 168 w 786"/>
                <a:gd name="T25" fmla="*/ 164 h 574"/>
                <a:gd name="T26" fmla="*/ 143 w 786"/>
                <a:gd name="T27" fmla="*/ 246 h 574"/>
                <a:gd name="T28" fmla="*/ 143 w 786"/>
                <a:gd name="T29" fmla="*/ 574 h 574"/>
                <a:gd name="T30" fmla="*/ 0 w 786"/>
                <a:gd name="T31" fmla="*/ 574 h 574"/>
                <a:gd name="T32" fmla="*/ 0 w 786"/>
                <a:gd name="T33" fmla="*/ 8 h 574"/>
                <a:gd name="T34" fmla="*/ 143 w 786"/>
                <a:gd name="T35" fmla="*/ 8 h 574"/>
                <a:gd name="T36" fmla="*/ 143 w 786"/>
                <a:gd name="T37" fmla="*/ 74 h 574"/>
                <a:gd name="T38" fmla="*/ 202 w 786"/>
                <a:gd name="T39" fmla="*/ 20 h 574"/>
                <a:gd name="T40" fmla="*/ 282 w 786"/>
                <a:gd name="T41" fmla="*/ 0 h 574"/>
                <a:gd name="T42" fmla="*/ 370 w 786"/>
                <a:gd name="T43" fmla="*/ 23 h 574"/>
                <a:gd name="T44" fmla="*/ 420 w 786"/>
                <a:gd name="T45" fmla="*/ 85 h 574"/>
                <a:gd name="T46" fmla="*/ 498 w 786"/>
                <a:gd name="T47" fmla="*/ 22 h 574"/>
                <a:gd name="T48" fmla="*/ 596 w 786"/>
                <a:gd name="T49" fmla="*/ 0 h 574"/>
                <a:gd name="T50" fmla="*/ 683 w 786"/>
                <a:gd name="T51" fmla="*/ 16 h 574"/>
                <a:gd name="T52" fmla="*/ 743 w 786"/>
                <a:gd name="T53" fmla="*/ 60 h 574"/>
                <a:gd name="T54" fmla="*/ 776 w 786"/>
                <a:gd name="T55" fmla="*/ 125 h 574"/>
                <a:gd name="T56" fmla="*/ 786 w 786"/>
                <a:gd name="T57" fmla="*/ 203 h 574"/>
                <a:gd name="T58" fmla="*/ 786 w 786"/>
                <a:gd name="T59" fmla="*/ 574 h 574"/>
                <a:gd name="T60" fmla="*/ 644 w 786"/>
                <a:gd name="T61" fmla="*/ 574 h 574"/>
                <a:gd name="T62" fmla="*/ 643 w 786"/>
                <a:gd name="T63" fmla="*/ 574 h 574"/>
                <a:gd name="T64" fmla="*/ 643 w 786"/>
                <a:gd name="T65" fmla="*/ 574 h 574"/>
                <a:gd name="T66" fmla="*/ 643 w 786"/>
                <a:gd name="T67" fmla="*/ 574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86" h="574">
                  <a:moveTo>
                    <a:pt x="643" y="574"/>
                  </a:moveTo>
                  <a:lnTo>
                    <a:pt x="643" y="574"/>
                  </a:lnTo>
                  <a:lnTo>
                    <a:pt x="643" y="234"/>
                  </a:lnTo>
                  <a:cubicBezTo>
                    <a:pt x="643" y="207"/>
                    <a:pt x="637" y="183"/>
                    <a:pt x="626" y="164"/>
                  </a:cubicBezTo>
                  <a:cubicBezTo>
                    <a:pt x="614" y="144"/>
                    <a:pt x="593" y="135"/>
                    <a:pt x="560" y="135"/>
                  </a:cubicBezTo>
                  <a:cubicBezTo>
                    <a:pt x="528" y="135"/>
                    <a:pt x="504" y="144"/>
                    <a:pt x="488" y="164"/>
                  </a:cubicBezTo>
                  <a:cubicBezTo>
                    <a:pt x="472" y="184"/>
                    <a:pt x="464" y="211"/>
                    <a:pt x="464" y="246"/>
                  </a:cubicBezTo>
                  <a:lnTo>
                    <a:pt x="464" y="574"/>
                  </a:lnTo>
                  <a:lnTo>
                    <a:pt x="321" y="574"/>
                  </a:lnTo>
                  <a:lnTo>
                    <a:pt x="321" y="234"/>
                  </a:lnTo>
                  <a:cubicBezTo>
                    <a:pt x="321" y="207"/>
                    <a:pt x="316" y="183"/>
                    <a:pt x="304" y="164"/>
                  </a:cubicBezTo>
                  <a:cubicBezTo>
                    <a:pt x="293" y="144"/>
                    <a:pt x="271" y="135"/>
                    <a:pt x="239" y="135"/>
                  </a:cubicBezTo>
                  <a:cubicBezTo>
                    <a:pt x="209" y="135"/>
                    <a:pt x="186" y="144"/>
                    <a:pt x="168" y="164"/>
                  </a:cubicBezTo>
                  <a:cubicBezTo>
                    <a:pt x="151" y="184"/>
                    <a:pt x="143" y="211"/>
                    <a:pt x="143" y="246"/>
                  </a:cubicBezTo>
                  <a:lnTo>
                    <a:pt x="143" y="574"/>
                  </a:lnTo>
                  <a:lnTo>
                    <a:pt x="0" y="574"/>
                  </a:lnTo>
                  <a:lnTo>
                    <a:pt x="0" y="8"/>
                  </a:lnTo>
                  <a:lnTo>
                    <a:pt x="143" y="8"/>
                  </a:lnTo>
                  <a:lnTo>
                    <a:pt x="143" y="74"/>
                  </a:lnTo>
                  <a:cubicBezTo>
                    <a:pt x="157" y="52"/>
                    <a:pt x="176" y="34"/>
                    <a:pt x="202" y="20"/>
                  </a:cubicBezTo>
                  <a:cubicBezTo>
                    <a:pt x="228" y="7"/>
                    <a:pt x="255" y="0"/>
                    <a:pt x="282" y="0"/>
                  </a:cubicBezTo>
                  <a:cubicBezTo>
                    <a:pt x="318" y="0"/>
                    <a:pt x="348" y="8"/>
                    <a:pt x="370" y="23"/>
                  </a:cubicBezTo>
                  <a:cubicBezTo>
                    <a:pt x="392" y="38"/>
                    <a:pt x="409" y="59"/>
                    <a:pt x="420" y="85"/>
                  </a:cubicBezTo>
                  <a:cubicBezTo>
                    <a:pt x="439" y="58"/>
                    <a:pt x="465" y="36"/>
                    <a:pt x="498" y="22"/>
                  </a:cubicBezTo>
                  <a:cubicBezTo>
                    <a:pt x="530" y="7"/>
                    <a:pt x="563" y="0"/>
                    <a:pt x="596" y="0"/>
                  </a:cubicBezTo>
                  <a:cubicBezTo>
                    <a:pt x="630" y="0"/>
                    <a:pt x="659" y="5"/>
                    <a:pt x="683" y="16"/>
                  </a:cubicBezTo>
                  <a:cubicBezTo>
                    <a:pt x="708" y="27"/>
                    <a:pt x="728" y="41"/>
                    <a:pt x="743" y="60"/>
                  </a:cubicBezTo>
                  <a:cubicBezTo>
                    <a:pt x="757" y="78"/>
                    <a:pt x="769" y="100"/>
                    <a:pt x="776" y="125"/>
                  </a:cubicBezTo>
                  <a:cubicBezTo>
                    <a:pt x="783" y="150"/>
                    <a:pt x="786" y="176"/>
                    <a:pt x="786" y="203"/>
                  </a:cubicBezTo>
                  <a:lnTo>
                    <a:pt x="786" y="574"/>
                  </a:lnTo>
                  <a:lnTo>
                    <a:pt x="644" y="574"/>
                  </a:lnTo>
                  <a:lnTo>
                    <a:pt x="643" y="574"/>
                  </a:lnTo>
                  <a:close/>
                  <a:moveTo>
                    <a:pt x="643" y="574"/>
                  </a:moveTo>
                  <a:lnTo>
                    <a:pt x="643" y="574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488348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dfgroup.org/HDF5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://www.oxygenxml.com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://www.paraview.org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://geuz.org/gmsh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1069" y="3598385"/>
            <a:ext cx="8863343" cy="2564705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Manfred </a:t>
            </a:r>
            <a:r>
              <a:rPr lang="en-US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Kaltenbacher</a:t>
            </a:r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and Andreas Hüppe</a:t>
            </a:r>
          </a:p>
          <a:p>
            <a:pPr>
              <a:spcAft>
                <a:spcPts val="1200"/>
              </a:spcAft>
            </a:pPr>
            <a:endParaRPr lang="en-US" sz="10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spcAft>
                <a:spcPts val="1200"/>
              </a:spcAft>
            </a:pPr>
            <a:r>
              <a:rPr lang="en-US" dirty="0" smtClean="0">
                <a:solidFill>
                  <a:schemeClr val="tx1"/>
                </a:solidFill>
              </a:rPr>
              <a:t>Institute of Mechanics and Mechatronics, Vienna University of Technology</a:t>
            </a:r>
          </a:p>
          <a:p>
            <a:pPr>
              <a:spcAft>
                <a:spcPts val="1200"/>
              </a:spcAft>
            </a:pPr>
            <a:r>
              <a:rPr lang="en-US" dirty="0" smtClean="0">
                <a:solidFill>
                  <a:schemeClr val="tx1"/>
                </a:solidFill>
              </a:rPr>
              <a:t>Austria</a:t>
            </a:r>
          </a:p>
          <a:p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sz="2400" dirty="0"/>
          </a:p>
        </p:txBody>
      </p:sp>
      <p:sp>
        <p:nvSpPr>
          <p:cNvPr id="5" name="Textfeld 4"/>
          <p:cNvSpPr txBox="1"/>
          <p:nvPr/>
        </p:nvSpPr>
        <p:spPr>
          <a:xfrm>
            <a:off x="1591286" y="2434443"/>
            <a:ext cx="58828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/>
              <a:t>C</a:t>
            </a:r>
            <a:r>
              <a:rPr lang="en-US" sz="4400" dirty="0" smtClean="0"/>
              <a:t>oupled </a:t>
            </a:r>
            <a:r>
              <a:rPr lang="en-US" sz="4400" b="1" dirty="0" smtClean="0"/>
              <a:t>F</a:t>
            </a:r>
            <a:r>
              <a:rPr lang="en-US" sz="4400" dirty="0" smtClean="0"/>
              <a:t>ield </a:t>
            </a:r>
            <a:r>
              <a:rPr lang="en-US" sz="4400" b="1" dirty="0" smtClean="0"/>
              <a:t>S</a:t>
            </a:r>
            <a:r>
              <a:rPr lang="en-US" sz="4400" dirty="0" smtClean="0"/>
              <a:t>imulation</a:t>
            </a:r>
            <a:endParaRPr lang="en-US" sz="4400" dirty="0"/>
          </a:p>
        </p:txBody>
      </p:sp>
      <p:pic>
        <p:nvPicPr>
          <p:cNvPr id="6" name="Picture 5" descr="cfs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465" y="806426"/>
            <a:ext cx="5793592" cy="160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7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3"/>
            <a:ext cx="8640960" cy="550546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GB" sz="2200" b="1" dirty="0"/>
              <a:t>Overview about CFS++</a:t>
            </a:r>
            <a:endParaRPr lang="en-US" sz="2200" dirty="0" smtClean="0"/>
          </a:p>
          <a:p>
            <a:pPr lvl="1">
              <a:lnSpc>
                <a:spcPct val="90000"/>
              </a:lnSpc>
            </a:pPr>
            <a:r>
              <a:rPr lang="en-GB" sz="1900" dirty="0" smtClean="0"/>
              <a:t>History</a:t>
            </a:r>
            <a:endParaRPr lang="en-US" sz="1900" dirty="0" smtClean="0"/>
          </a:p>
          <a:p>
            <a:pPr lvl="1">
              <a:lnSpc>
                <a:spcPct val="90000"/>
              </a:lnSpc>
            </a:pPr>
            <a:r>
              <a:rPr lang="en-GB" sz="1900" dirty="0"/>
              <a:t>Capabilities</a:t>
            </a:r>
            <a:endParaRPr lang="en-US" sz="1900" dirty="0" smtClean="0"/>
          </a:p>
          <a:p>
            <a:pPr lvl="1">
              <a:lnSpc>
                <a:spcPct val="90000"/>
              </a:lnSpc>
            </a:pPr>
            <a:r>
              <a:rPr lang="en-GB" sz="1900" dirty="0"/>
              <a:t>General </a:t>
            </a:r>
            <a:r>
              <a:rPr lang="en-GB" sz="1900" dirty="0" smtClean="0"/>
              <a:t>Approach</a:t>
            </a:r>
            <a:endParaRPr lang="en-US" sz="1900" dirty="0"/>
          </a:p>
          <a:p>
            <a:pPr lvl="1">
              <a:lnSpc>
                <a:spcPct val="90000"/>
              </a:lnSpc>
            </a:pPr>
            <a:endParaRPr lang="en-US" sz="1100" dirty="0" smtClean="0"/>
          </a:p>
          <a:p>
            <a:pPr>
              <a:lnSpc>
                <a:spcPct val="90000"/>
              </a:lnSpc>
            </a:pPr>
            <a:r>
              <a:rPr lang="en-GB" sz="2200" b="1" dirty="0" err="1"/>
              <a:t>Preprocessing</a:t>
            </a:r>
            <a:r>
              <a:rPr lang="en-US" sz="2200" dirty="0" smtClean="0"/>
              <a:t> </a:t>
            </a:r>
          </a:p>
          <a:p>
            <a:pPr lvl="1">
              <a:lnSpc>
                <a:spcPct val="90000"/>
              </a:lnSpc>
            </a:pPr>
            <a:r>
              <a:rPr lang="en-GB" sz="1900" dirty="0"/>
              <a:t>ANSYS (Classic), </a:t>
            </a:r>
            <a:r>
              <a:rPr lang="en-GB" sz="1900" dirty="0" err="1"/>
              <a:t>Gmsh</a:t>
            </a:r>
            <a:r>
              <a:rPr lang="en-GB" sz="1900" dirty="0"/>
              <a:t>, ... </a:t>
            </a:r>
            <a:endParaRPr lang="en-GB" sz="1900" dirty="0" smtClean="0"/>
          </a:p>
          <a:p>
            <a:pPr lvl="1">
              <a:lnSpc>
                <a:spcPct val="90000"/>
              </a:lnSpc>
            </a:pPr>
            <a:r>
              <a:rPr lang="en-GB" sz="1900" dirty="0"/>
              <a:t>Physical definitions</a:t>
            </a:r>
            <a:endParaRPr lang="en-US" sz="1900" dirty="0" smtClean="0"/>
          </a:p>
          <a:p>
            <a:pPr lvl="1">
              <a:lnSpc>
                <a:spcPct val="90000"/>
              </a:lnSpc>
            </a:pPr>
            <a:r>
              <a:rPr lang="en-GB" sz="1900" dirty="0"/>
              <a:t>Material </a:t>
            </a:r>
            <a:r>
              <a:rPr lang="en-GB" sz="1900" dirty="0" smtClean="0"/>
              <a:t>definition</a:t>
            </a:r>
          </a:p>
          <a:p>
            <a:pPr lvl="1">
              <a:lnSpc>
                <a:spcPct val="90000"/>
              </a:lnSpc>
            </a:pPr>
            <a:endParaRPr lang="en-US" sz="1100" dirty="0" smtClean="0"/>
          </a:p>
          <a:p>
            <a:pPr>
              <a:lnSpc>
                <a:spcPct val="90000"/>
              </a:lnSpc>
            </a:pPr>
            <a:r>
              <a:rPr lang="en-GB" sz="2200" b="1" dirty="0"/>
              <a:t>Performing simulation</a:t>
            </a:r>
            <a:r>
              <a:rPr lang="en-US" sz="2200" dirty="0" smtClean="0"/>
              <a:t> </a:t>
            </a:r>
          </a:p>
          <a:p>
            <a:pPr lvl="1">
              <a:lnSpc>
                <a:spcPct val="90000"/>
              </a:lnSpc>
            </a:pPr>
            <a:r>
              <a:rPr lang="en-GB" sz="1900" dirty="0"/>
              <a:t>Simulation </a:t>
            </a:r>
            <a:r>
              <a:rPr lang="en-GB" sz="1900" dirty="0" smtClean="0"/>
              <a:t>parameters</a:t>
            </a:r>
            <a:endParaRPr lang="en-US" sz="1900" dirty="0"/>
          </a:p>
          <a:p>
            <a:pPr lvl="1">
              <a:lnSpc>
                <a:spcPct val="90000"/>
              </a:lnSpc>
            </a:pPr>
            <a:endParaRPr lang="en-US" sz="1100" dirty="0" smtClean="0"/>
          </a:p>
          <a:p>
            <a:pPr>
              <a:lnSpc>
                <a:spcPct val="90000"/>
              </a:lnSpc>
            </a:pPr>
            <a:r>
              <a:rPr lang="en-GB" sz="2200" b="1" dirty="0" err="1"/>
              <a:t>Postprocessing</a:t>
            </a:r>
            <a:endParaRPr lang="en-GB" sz="2200" b="1" dirty="0"/>
          </a:p>
          <a:p>
            <a:pPr lvl="1">
              <a:lnSpc>
                <a:spcPct val="90000"/>
              </a:lnSpc>
            </a:pPr>
            <a:r>
              <a:rPr lang="en-GB" sz="1900" dirty="0"/>
              <a:t>Result files</a:t>
            </a:r>
            <a:endParaRPr lang="en-US" sz="1900" dirty="0"/>
          </a:p>
          <a:p>
            <a:pPr lvl="1">
              <a:lnSpc>
                <a:spcPct val="90000"/>
              </a:lnSpc>
            </a:pPr>
            <a:r>
              <a:rPr lang="en-GB" sz="1900" dirty="0" err="1" smtClean="0"/>
              <a:t>ParaView</a:t>
            </a:r>
            <a:endParaRPr lang="en-US" sz="1900" dirty="0" smtClean="0"/>
          </a:p>
          <a:p>
            <a:pPr lvl="1">
              <a:lnSpc>
                <a:spcPct val="90000"/>
              </a:lnSpc>
            </a:pPr>
            <a:endParaRPr lang="en-US" dirty="0" smtClean="0"/>
          </a:p>
          <a:p>
            <a:pPr lvl="1">
              <a:lnSpc>
                <a:spcPct val="90000"/>
              </a:lnSpc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53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CFS++: History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1206971"/>
          </a:xfrm>
        </p:spPr>
        <p:txBody>
          <a:bodyPr>
            <a:normAutofit/>
          </a:bodyPr>
          <a:lstStyle/>
          <a:p>
            <a:r>
              <a:rPr lang="en-US" dirty="0" smtClean="0"/>
              <a:t>In the beginning</a:t>
            </a:r>
          </a:p>
          <a:p>
            <a:pPr lvl="1"/>
            <a:r>
              <a:rPr lang="en-US" dirty="0" smtClean="0"/>
              <a:t>M. </a:t>
            </a:r>
            <a:r>
              <a:rPr lang="en-US" dirty="0" err="1" smtClean="0"/>
              <a:t>Kaltenbacher</a:t>
            </a:r>
            <a:r>
              <a:rPr lang="en-US" dirty="0" smtClean="0"/>
              <a:t> and PhD students at Department of Sensor Technology, Friedrich-Alexander University (FAU) Erlangen-Nuremberg, year 2000</a:t>
            </a:r>
          </a:p>
          <a:p>
            <a:pPr lvl="1"/>
            <a:endParaRPr lang="en-US" sz="100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024" y="4965124"/>
            <a:ext cx="897158" cy="89715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154" y="3821080"/>
            <a:ext cx="1062270" cy="650570"/>
          </a:xfrm>
          <a:prstGeom prst="rect">
            <a:avLst/>
          </a:prstGeom>
        </p:spPr>
      </p:pic>
      <p:grpSp>
        <p:nvGrpSpPr>
          <p:cNvPr id="11" name="Gruppieren 10"/>
          <p:cNvGrpSpPr/>
          <p:nvPr/>
        </p:nvGrpSpPr>
        <p:grpSpPr>
          <a:xfrm>
            <a:off x="6820941" y="2427287"/>
            <a:ext cx="1721607" cy="805115"/>
            <a:chOff x="85725" y="6203633"/>
            <a:chExt cx="814706" cy="381000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85725" y="6203633"/>
              <a:ext cx="379413" cy="381000"/>
            </a:xfrm>
            <a:custGeom>
              <a:avLst/>
              <a:gdLst>
                <a:gd name="T0" fmla="*/ 1088 w 1209"/>
                <a:gd name="T1" fmla="*/ 0 h 1209"/>
                <a:gd name="T2" fmla="*/ 1088 w 1209"/>
                <a:gd name="T3" fmla="*/ 0 h 1209"/>
                <a:gd name="T4" fmla="*/ 1209 w 1209"/>
                <a:gd name="T5" fmla="*/ 120 h 1209"/>
                <a:gd name="T6" fmla="*/ 1209 w 1209"/>
                <a:gd name="T7" fmla="*/ 1087 h 1209"/>
                <a:gd name="T8" fmla="*/ 1088 w 1209"/>
                <a:gd name="T9" fmla="*/ 1209 h 1209"/>
                <a:gd name="T10" fmla="*/ 120 w 1209"/>
                <a:gd name="T11" fmla="*/ 1209 h 1209"/>
                <a:gd name="T12" fmla="*/ 0 w 1209"/>
                <a:gd name="T13" fmla="*/ 1087 h 1209"/>
                <a:gd name="T14" fmla="*/ 0 w 1209"/>
                <a:gd name="T15" fmla="*/ 120 h 1209"/>
                <a:gd name="T16" fmla="*/ 120 w 1209"/>
                <a:gd name="T17" fmla="*/ 0 h 1209"/>
                <a:gd name="T18" fmla="*/ 1088 w 1209"/>
                <a:gd name="T19" fmla="*/ 0 h 1209"/>
                <a:gd name="T20" fmla="*/ 1088 w 1209"/>
                <a:gd name="T21" fmla="*/ 0 h 1209"/>
                <a:gd name="T22" fmla="*/ 1088 w 1209"/>
                <a:gd name="T23" fmla="*/ 0 h 1209"/>
                <a:gd name="T24" fmla="*/ 1088 w 1209"/>
                <a:gd name="T25" fmla="*/ 0 h 1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9" h="1209">
                  <a:moveTo>
                    <a:pt x="1088" y="0"/>
                  </a:moveTo>
                  <a:lnTo>
                    <a:pt x="1088" y="0"/>
                  </a:lnTo>
                  <a:cubicBezTo>
                    <a:pt x="1155" y="0"/>
                    <a:pt x="1209" y="53"/>
                    <a:pt x="1209" y="120"/>
                  </a:cubicBezTo>
                  <a:lnTo>
                    <a:pt x="1209" y="1087"/>
                  </a:lnTo>
                  <a:cubicBezTo>
                    <a:pt x="1209" y="1154"/>
                    <a:pt x="1155" y="1209"/>
                    <a:pt x="1088" y="1209"/>
                  </a:cubicBezTo>
                  <a:lnTo>
                    <a:pt x="120" y="1209"/>
                  </a:lnTo>
                  <a:cubicBezTo>
                    <a:pt x="54" y="1209"/>
                    <a:pt x="0" y="1154"/>
                    <a:pt x="0" y="1087"/>
                  </a:cubicBezTo>
                  <a:lnTo>
                    <a:pt x="0" y="120"/>
                  </a:lnTo>
                  <a:cubicBezTo>
                    <a:pt x="0" y="53"/>
                    <a:pt x="54" y="0"/>
                    <a:pt x="120" y="0"/>
                  </a:cubicBezTo>
                  <a:lnTo>
                    <a:pt x="1088" y="0"/>
                  </a:lnTo>
                  <a:lnTo>
                    <a:pt x="1088" y="0"/>
                  </a:lnTo>
                  <a:close/>
                  <a:moveTo>
                    <a:pt x="1088" y="0"/>
                  </a:moveTo>
                  <a:lnTo>
                    <a:pt x="1088" y="0"/>
                  </a:lnTo>
                  <a:close/>
                </a:path>
              </a:pathLst>
            </a:custGeom>
            <a:solidFill>
              <a:srgbClr val="0066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7"/>
            <p:cNvSpPr>
              <a:spLocks noEditPoints="1"/>
            </p:cNvSpPr>
            <p:nvPr userDrawn="1"/>
          </p:nvSpPr>
          <p:spPr bwMode="auto">
            <a:xfrm>
              <a:off x="166688" y="6294121"/>
              <a:ext cx="39688" cy="134938"/>
            </a:xfrm>
            <a:custGeom>
              <a:avLst/>
              <a:gdLst>
                <a:gd name="T0" fmla="*/ 0 w 129"/>
                <a:gd name="T1" fmla="*/ 0 h 429"/>
                <a:gd name="T2" fmla="*/ 0 w 129"/>
                <a:gd name="T3" fmla="*/ 0 h 429"/>
                <a:gd name="T4" fmla="*/ 129 w 129"/>
                <a:gd name="T5" fmla="*/ 0 h 429"/>
                <a:gd name="T6" fmla="*/ 129 w 129"/>
                <a:gd name="T7" fmla="*/ 429 h 429"/>
                <a:gd name="T8" fmla="*/ 0 w 129"/>
                <a:gd name="T9" fmla="*/ 429 h 429"/>
                <a:gd name="T10" fmla="*/ 0 w 129"/>
                <a:gd name="T11" fmla="*/ 0 h 429"/>
                <a:gd name="T12" fmla="*/ 0 w 129"/>
                <a:gd name="T13" fmla="*/ 0 h 429"/>
                <a:gd name="T14" fmla="*/ 0 w 129"/>
                <a:gd name="T15" fmla="*/ 0 h 429"/>
                <a:gd name="T16" fmla="*/ 0 w 129"/>
                <a:gd name="T1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429">
                  <a:moveTo>
                    <a:pt x="0" y="0"/>
                  </a:moveTo>
                  <a:lnTo>
                    <a:pt x="0" y="0"/>
                  </a:lnTo>
                  <a:lnTo>
                    <a:pt x="129" y="0"/>
                  </a:lnTo>
                  <a:lnTo>
                    <a:pt x="129" y="429"/>
                  </a:lnTo>
                  <a:lnTo>
                    <a:pt x="0" y="429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eform 8"/>
            <p:cNvSpPr>
              <a:spLocks noEditPoints="1"/>
            </p:cNvSpPr>
            <p:nvPr userDrawn="1"/>
          </p:nvSpPr>
          <p:spPr bwMode="auto">
            <a:xfrm>
              <a:off x="114300" y="6241733"/>
              <a:ext cx="142875" cy="39688"/>
            </a:xfrm>
            <a:custGeom>
              <a:avLst/>
              <a:gdLst>
                <a:gd name="T0" fmla="*/ 0 w 451"/>
                <a:gd name="T1" fmla="*/ 0 h 129"/>
                <a:gd name="T2" fmla="*/ 0 w 451"/>
                <a:gd name="T3" fmla="*/ 0 h 129"/>
                <a:gd name="T4" fmla="*/ 451 w 451"/>
                <a:gd name="T5" fmla="*/ 0 h 129"/>
                <a:gd name="T6" fmla="*/ 451 w 451"/>
                <a:gd name="T7" fmla="*/ 129 h 129"/>
                <a:gd name="T8" fmla="*/ 0 w 451"/>
                <a:gd name="T9" fmla="*/ 129 h 129"/>
                <a:gd name="T10" fmla="*/ 0 w 451"/>
                <a:gd name="T11" fmla="*/ 0 h 129"/>
                <a:gd name="T12" fmla="*/ 0 w 451"/>
                <a:gd name="T13" fmla="*/ 0 h 129"/>
                <a:gd name="T14" fmla="*/ 0 w 451"/>
                <a:gd name="T15" fmla="*/ 0 h 129"/>
                <a:gd name="T16" fmla="*/ 0 w 451"/>
                <a:gd name="T17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1" h="129">
                  <a:moveTo>
                    <a:pt x="0" y="0"/>
                  </a:moveTo>
                  <a:lnTo>
                    <a:pt x="0" y="0"/>
                  </a:lnTo>
                  <a:lnTo>
                    <a:pt x="451" y="0"/>
                  </a:lnTo>
                  <a:lnTo>
                    <a:pt x="451" y="129"/>
                  </a:lnTo>
                  <a:lnTo>
                    <a:pt x="0" y="129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117475" y="6478271"/>
              <a:ext cx="82550" cy="68263"/>
            </a:xfrm>
            <a:custGeom>
              <a:avLst/>
              <a:gdLst>
                <a:gd name="T0" fmla="*/ 262 w 262"/>
                <a:gd name="T1" fmla="*/ 0 h 213"/>
                <a:gd name="T2" fmla="*/ 262 w 262"/>
                <a:gd name="T3" fmla="*/ 0 h 213"/>
                <a:gd name="T4" fmla="*/ 219 w 262"/>
                <a:gd name="T5" fmla="*/ 0 h 213"/>
                <a:gd name="T6" fmla="*/ 186 w 262"/>
                <a:gd name="T7" fmla="*/ 134 h 213"/>
                <a:gd name="T8" fmla="*/ 147 w 262"/>
                <a:gd name="T9" fmla="*/ 0 h 213"/>
                <a:gd name="T10" fmla="*/ 115 w 262"/>
                <a:gd name="T11" fmla="*/ 0 h 213"/>
                <a:gd name="T12" fmla="*/ 77 w 262"/>
                <a:gd name="T13" fmla="*/ 134 h 213"/>
                <a:gd name="T14" fmla="*/ 44 w 262"/>
                <a:gd name="T15" fmla="*/ 0 h 213"/>
                <a:gd name="T16" fmla="*/ 0 w 262"/>
                <a:gd name="T17" fmla="*/ 0 h 213"/>
                <a:gd name="T18" fmla="*/ 57 w 262"/>
                <a:gd name="T19" fmla="*/ 213 h 213"/>
                <a:gd name="T20" fmla="*/ 92 w 262"/>
                <a:gd name="T21" fmla="*/ 213 h 213"/>
                <a:gd name="T22" fmla="*/ 131 w 262"/>
                <a:gd name="T23" fmla="*/ 84 h 213"/>
                <a:gd name="T24" fmla="*/ 170 w 262"/>
                <a:gd name="T25" fmla="*/ 213 h 213"/>
                <a:gd name="T26" fmla="*/ 205 w 262"/>
                <a:gd name="T27" fmla="*/ 213 h 213"/>
                <a:gd name="T28" fmla="*/ 262 w 262"/>
                <a:gd name="T29" fmla="*/ 0 h 213"/>
                <a:gd name="T30" fmla="*/ 262 w 262"/>
                <a:gd name="T31" fmla="*/ 0 h 213"/>
                <a:gd name="T32" fmla="*/ 262 w 262"/>
                <a:gd name="T33" fmla="*/ 0 h 213"/>
                <a:gd name="T34" fmla="*/ 262 w 262"/>
                <a:gd name="T35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2" h="213">
                  <a:moveTo>
                    <a:pt x="262" y="0"/>
                  </a:moveTo>
                  <a:lnTo>
                    <a:pt x="262" y="0"/>
                  </a:lnTo>
                  <a:lnTo>
                    <a:pt x="219" y="0"/>
                  </a:lnTo>
                  <a:lnTo>
                    <a:pt x="186" y="134"/>
                  </a:lnTo>
                  <a:lnTo>
                    <a:pt x="147" y="0"/>
                  </a:lnTo>
                  <a:lnTo>
                    <a:pt x="115" y="0"/>
                  </a:lnTo>
                  <a:lnTo>
                    <a:pt x="77" y="134"/>
                  </a:lnTo>
                  <a:lnTo>
                    <a:pt x="44" y="0"/>
                  </a:lnTo>
                  <a:lnTo>
                    <a:pt x="0" y="0"/>
                  </a:lnTo>
                  <a:lnTo>
                    <a:pt x="57" y="213"/>
                  </a:lnTo>
                  <a:lnTo>
                    <a:pt x="92" y="213"/>
                  </a:lnTo>
                  <a:lnTo>
                    <a:pt x="131" y="84"/>
                  </a:lnTo>
                  <a:lnTo>
                    <a:pt x="170" y="213"/>
                  </a:lnTo>
                  <a:lnTo>
                    <a:pt x="205" y="213"/>
                  </a:lnTo>
                  <a:lnTo>
                    <a:pt x="262" y="0"/>
                  </a:lnTo>
                  <a:lnTo>
                    <a:pt x="262" y="0"/>
                  </a:lnTo>
                  <a:close/>
                  <a:moveTo>
                    <a:pt x="262" y="0"/>
                  </a:moveTo>
                  <a:lnTo>
                    <a:pt x="26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10"/>
            <p:cNvSpPr>
              <a:spLocks noEditPoints="1"/>
            </p:cNvSpPr>
            <p:nvPr userDrawn="1"/>
          </p:nvSpPr>
          <p:spPr bwMode="auto">
            <a:xfrm>
              <a:off x="374650" y="6478271"/>
              <a:ext cx="52388" cy="66675"/>
            </a:xfrm>
            <a:custGeom>
              <a:avLst/>
              <a:gdLst>
                <a:gd name="T0" fmla="*/ 163 w 163"/>
                <a:gd name="T1" fmla="*/ 213 h 213"/>
                <a:gd name="T2" fmla="*/ 163 w 163"/>
                <a:gd name="T3" fmla="*/ 213 h 213"/>
                <a:gd name="T4" fmla="*/ 163 w 163"/>
                <a:gd name="T5" fmla="*/ 0 h 213"/>
                <a:gd name="T6" fmla="*/ 121 w 163"/>
                <a:gd name="T7" fmla="*/ 0 h 213"/>
                <a:gd name="T8" fmla="*/ 121 w 163"/>
                <a:gd name="T9" fmla="*/ 131 h 213"/>
                <a:gd name="T10" fmla="*/ 37 w 163"/>
                <a:gd name="T11" fmla="*/ 0 h 213"/>
                <a:gd name="T12" fmla="*/ 0 w 163"/>
                <a:gd name="T13" fmla="*/ 0 h 213"/>
                <a:gd name="T14" fmla="*/ 0 w 163"/>
                <a:gd name="T15" fmla="*/ 213 h 213"/>
                <a:gd name="T16" fmla="*/ 42 w 163"/>
                <a:gd name="T17" fmla="*/ 213 h 213"/>
                <a:gd name="T18" fmla="*/ 42 w 163"/>
                <a:gd name="T19" fmla="*/ 83 h 213"/>
                <a:gd name="T20" fmla="*/ 126 w 163"/>
                <a:gd name="T21" fmla="*/ 213 h 213"/>
                <a:gd name="T22" fmla="*/ 163 w 163"/>
                <a:gd name="T23" fmla="*/ 213 h 213"/>
                <a:gd name="T24" fmla="*/ 163 w 163"/>
                <a:gd name="T25" fmla="*/ 213 h 213"/>
                <a:gd name="T26" fmla="*/ 163 w 163"/>
                <a:gd name="T27" fmla="*/ 213 h 213"/>
                <a:gd name="T28" fmla="*/ 163 w 163"/>
                <a:gd name="T29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3" h="213">
                  <a:moveTo>
                    <a:pt x="163" y="213"/>
                  </a:moveTo>
                  <a:lnTo>
                    <a:pt x="163" y="213"/>
                  </a:lnTo>
                  <a:lnTo>
                    <a:pt x="163" y="0"/>
                  </a:lnTo>
                  <a:lnTo>
                    <a:pt x="121" y="0"/>
                  </a:lnTo>
                  <a:lnTo>
                    <a:pt x="121" y="131"/>
                  </a:lnTo>
                  <a:lnTo>
                    <a:pt x="37" y="0"/>
                  </a:lnTo>
                  <a:lnTo>
                    <a:pt x="0" y="0"/>
                  </a:lnTo>
                  <a:lnTo>
                    <a:pt x="0" y="213"/>
                  </a:lnTo>
                  <a:lnTo>
                    <a:pt x="42" y="213"/>
                  </a:lnTo>
                  <a:lnTo>
                    <a:pt x="42" y="83"/>
                  </a:lnTo>
                  <a:lnTo>
                    <a:pt x="126" y="213"/>
                  </a:lnTo>
                  <a:lnTo>
                    <a:pt x="163" y="213"/>
                  </a:lnTo>
                  <a:lnTo>
                    <a:pt x="163" y="213"/>
                  </a:lnTo>
                  <a:close/>
                  <a:moveTo>
                    <a:pt x="163" y="213"/>
                  </a:moveTo>
                  <a:lnTo>
                    <a:pt x="163" y="21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auto">
            <a:xfrm>
              <a:off x="288925" y="6478271"/>
              <a:ext cx="44450" cy="66675"/>
            </a:xfrm>
            <a:custGeom>
              <a:avLst/>
              <a:gdLst>
                <a:gd name="T0" fmla="*/ 140 w 140"/>
                <a:gd name="T1" fmla="*/ 213 h 213"/>
                <a:gd name="T2" fmla="*/ 140 w 140"/>
                <a:gd name="T3" fmla="*/ 213 h 213"/>
                <a:gd name="T4" fmla="*/ 140 w 140"/>
                <a:gd name="T5" fmla="*/ 176 h 213"/>
                <a:gd name="T6" fmla="*/ 42 w 140"/>
                <a:gd name="T7" fmla="*/ 176 h 213"/>
                <a:gd name="T8" fmla="*/ 42 w 140"/>
                <a:gd name="T9" fmla="*/ 125 h 213"/>
                <a:gd name="T10" fmla="*/ 125 w 140"/>
                <a:gd name="T11" fmla="*/ 125 h 213"/>
                <a:gd name="T12" fmla="*/ 125 w 140"/>
                <a:gd name="T13" fmla="*/ 87 h 213"/>
                <a:gd name="T14" fmla="*/ 42 w 140"/>
                <a:gd name="T15" fmla="*/ 87 h 213"/>
                <a:gd name="T16" fmla="*/ 42 w 140"/>
                <a:gd name="T17" fmla="*/ 38 h 213"/>
                <a:gd name="T18" fmla="*/ 140 w 140"/>
                <a:gd name="T19" fmla="*/ 38 h 213"/>
                <a:gd name="T20" fmla="*/ 140 w 140"/>
                <a:gd name="T21" fmla="*/ 0 h 213"/>
                <a:gd name="T22" fmla="*/ 0 w 140"/>
                <a:gd name="T23" fmla="*/ 0 h 213"/>
                <a:gd name="T24" fmla="*/ 0 w 140"/>
                <a:gd name="T25" fmla="*/ 213 h 213"/>
                <a:gd name="T26" fmla="*/ 140 w 140"/>
                <a:gd name="T27" fmla="*/ 213 h 213"/>
                <a:gd name="T28" fmla="*/ 140 w 140"/>
                <a:gd name="T29" fmla="*/ 213 h 213"/>
                <a:gd name="T30" fmla="*/ 140 w 140"/>
                <a:gd name="T31" fmla="*/ 213 h 213"/>
                <a:gd name="T32" fmla="*/ 140 w 140"/>
                <a:gd name="T3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0" h="213">
                  <a:moveTo>
                    <a:pt x="140" y="213"/>
                  </a:moveTo>
                  <a:lnTo>
                    <a:pt x="140" y="213"/>
                  </a:lnTo>
                  <a:lnTo>
                    <a:pt x="140" y="176"/>
                  </a:lnTo>
                  <a:lnTo>
                    <a:pt x="42" y="176"/>
                  </a:lnTo>
                  <a:lnTo>
                    <a:pt x="42" y="125"/>
                  </a:lnTo>
                  <a:lnTo>
                    <a:pt x="125" y="125"/>
                  </a:lnTo>
                  <a:lnTo>
                    <a:pt x="125" y="87"/>
                  </a:lnTo>
                  <a:lnTo>
                    <a:pt x="42" y="87"/>
                  </a:lnTo>
                  <a:lnTo>
                    <a:pt x="42" y="38"/>
                  </a:lnTo>
                  <a:lnTo>
                    <a:pt x="140" y="38"/>
                  </a:lnTo>
                  <a:lnTo>
                    <a:pt x="140" y="0"/>
                  </a:lnTo>
                  <a:lnTo>
                    <a:pt x="0" y="0"/>
                  </a:lnTo>
                  <a:lnTo>
                    <a:pt x="0" y="213"/>
                  </a:lnTo>
                  <a:lnTo>
                    <a:pt x="140" y="213"/>
                  </a:lnTo>
                  <a:lnTo>
                    <a:pt x="140" y="213"/>
                  </a:lnTo>
                  <a:close/>
                  <a:moveTo>
                    <a:pt x="140" y="213"/>
                  </a:moveTo>
                  <a:lnTo>
                    <a:pt x="140" y="21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231775" y="6478271"/>
              <a:ext cx="12700" cy="66675"/>
            </a:xfrm>
            <a:custGeom>
              <a:avLst/>
              <a:gdLst>
                <a:gd name="T0" fmla="*/ 42 w 42"/>
                <a:gd name="T1" fmla="*/ 0 h 213"/>
                <a:gd name="T2" fmla="*/ 42 w 42"/>
                <a:gd name="T3" fmla="*/ 0 h 213"/>
                <a:gd name="T4" fmla="*/ 0 w 42"/>
                <a:gd name="T5" fmla="*/ 0 h 213"/>
                <a:gd name="T6" fmla="*/ 0 w 42"/>
                <a:gd name="T7" fmla="*/ 213 h 213"/>
                <a:gd name="T8" fmla="*/ 42 w 42"/>
                <a:gd name="T9" fmla="*/ 213 h 213"/>
                <a:gd name="T10" fmla="*/ 42 w 42"/>
                <a:gd name="T11" fmla="*/ 0 h 213"/>
                <a:gd name="T12" fmla="*/ 42 w 42"/>
                <a:gd name="T13" fmla="*/ 0 h 213"/>
                <a:gd name="T14" fmla="*/ 42 w 42"/>
                <a:gd name="T15" fmla="*/ 0 h 213"/>
                <a:gd name="T16" fmla="*/ 42 w 42"/>
                <a:gd name="T17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213">
                  <a:moveTo>
                    <a:pt x="42" y="0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0" y="213"/>
                  </a:lnTo>
                  <a:lnTo>
                    <a:pt x="42" y="213"/>
                  </a:lnTo>
                  <a:lnTo>
                    <a:pt x="42" y="0"/>
                  </a:lnTo>
                  <a:lnTo>
                    <a:pt x="42" y="0"/>
                  </a:lnTo>
                  <a:close/>
                  <a:moveTo>
                    <a:pt x="42" y="0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3"/>
            <p:cNvSpPr>
              <a:spLocks noEditPoints="1"/>
            </p:cNvSpPr>
            <p:nvPr userDrawn="1"/>
          </p:nvSpPr>
          <p:spPr bwMode="auto">
            <a:xfrm>
              <a:off x="274638" y="6241733"/>
              <a:ext cx="69850" cy="188913"/>
            </a:xfrm>
            <a:custGeom>
              <a:avLst/>
              <a:gdLst>
                <a:gd name="T0" fmla="*/ 222 w 222"/>
                <a:gd name="T1" fmla="*/ 599 h 599"/>
                <a:gd name="T2" fmla="*/ 222 w 222"/>
                <a:gd name="T3" fmla="*/ 599 h 599"/>
                <a:gd name="T4" fmla="*/ 215 w 222"/>
                <a:gd name="T5" fmla="*/ 599 h 599"/>
                <a:gd name="T6" fmla="*/ 0 w 222"/>
                <a:gd name="T7" fmla="*/ 359 h 599"/>
                <a:gd name="T8" fmla="*/ 0 w 222"/>
                <a:gd name="T9" fmla="*/ 0 h 599"/>
                <a:gd name="T10" fmla="*/ 131 w 222"/>
                <a:gd name="T11" fmla="*/ 0 h 599"/>
                <a:gd name="T12" fmla="*/ 130 w 222"/>
                <a:gd name="T13" fmla="*/ 356 h 599"/>
                <a:gd name="T14" fmla="*/ 215 w 222"/>
                <a:gd name="T15" fmla="*/ 468 h 599"/>
                <a:gd name="T16" fmla="*/ 222 w 222"/>
                <a:gd name="T17" fmla="*/ 469 h 599"/>
                <a:gd name="T18" fmla="*/ 222 w 222"/>
                <a:gd name="T19" fmla="*/ 599 h 599"/>
                <a:gd name="T20" fmla="*/ 222 w 222"/>
                <a:gd name="T21" fmla="*/ 599 h 599"/>
                <a:gd name="T22" fmla="*/ 222 w 222"/>
                <a:gd name="T23" fmla="*/ 599 h 599"/>
                <a:gd name="T24" fmla="*/ 222 w 222"/>
                <a:gd name="T25" fmla="*/ 599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2" h="599">
                  <a:moveTo>
                    <a:pt x="222" y="599"/>
                  </a:moveTo>
                  <a:lnTo>
                    <a:pt x="222" y="599"/>
                  </a:lnTo>
                  <a:lnTo>
                    <a:pt x="215" y="599"/>
                  </a:lnTo>
                  <a:cubicBezTo>
                    <a:pt x="94" y="586"/>
                    <a:pt x="0" y="484"/>
                    <a:pt x="0" y="359"/>
                  </a:cubicBezTo>
                  <a:lnTo>
                    <a:pt x="0" y="0"/>
                  </a:lnTo>
                  <a:lnTo>
                    <a:pt x="131" y="0"/>
                  </a:lnTo>
                  <a:lnTo>
                    <a:pt x="130" y="356"/>
                  </a:lnTo>
                  <a:cubicBezTo>
                    <a:pt x="130" y="408"/>
                    <a:pt x="167" y="455"/>
                    <a:pt x="215" y="468"/>
                  </a:cubicBezTo>
                  <a:cubicBezTo>
                    <a:pt x="217" y="468"/>
                    <a:pt x="219" y="469"/>
                    <a:pt x="222" y="469"/>
                  </a:cubicBezTo>
                  <a:lnTo>
                    <a:pt x="222" y="599"/>
                  </a:lnTo>
                  <a:lnTo>
                    <a:pt x="222" y="599"/>
                  </a:lnTo>
                  <a:close/>
                  <a:moveTo>
                    <a:pt x="222" y="599"/>
                  </a:moveTo>
                  <a:lnTo>
                    <a:pt x="222" y="599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57188" y="6241733"/>
              <a:ext cx="69850" cy="188913"/>
            </a:xfrm>
            <a:custGeom>
              <a:avLst/>
              <a:gdLst>
                <a:gd name="T0" fmla="*/ 0 w 220"/>
                <a:gd name="T1" fmla="*/ 469 h 599"/>
                <a:gd name="T2" fmla="*/ 0 w 220"/>
                <a:gd name="T3" fmla="*/ 469 h 599"/>
                <a:gd name="T4" fmla="*/ 5 w 220"/>
                <a:gd name="T5" fmla="*/ 468 h 599"/>
                <a:gd name="T6" fmla="*/ 90 w 220"/>
                <a:gd name="T7" fmla="*/ 356 h 599"/>
                <a:gd name="T8" fmla="*/ 89 w 220"/>
                <a:gd name="T9" fmla="*/ 0 h 599"/>
                <a:gd name="T10" fmla="*/ 220 w 220"/>
                <a:gd name="T11" fmla="*/ 0 h 599"/>
                <a:gd name="T12" fmla="*/ 220 w 220"/>
                <a:gd name="T13" fmla="*/ 358 h 599"/>
                <a:gd name="T14" fmla="*/ 5 w 220"/>
                <a:gd name="T15" fmla="*/ 599 h 599"/>
                <a:gd name="T16" fmla="*/ 0 w 220"/>
                <a:gd name="T17" fmla="*/ 599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0" h="599">
                  <a:moveTo>
                    <a:pt x="0" y="469"/>
                  </a:moveTo>
                  <a:lnTo>
                    <a:pt x="0" y="469"/>
                  </a:lnTo>
                  <a:cubicBezTo>
                    <a:pt x="2" y="468"/>
                    <a:pt x="3" y="468"/>
                    <a:pt x="5" y="468"/>
                  </a:cubicBezTo>
                  <a:cubicBezTo>
                    <a:pt x="54" y="455"/>
                    <a:pt x="90" y="408"/>
                    <a:pt x="90" y="356"/>
                  </a:cubicBezTo>
                  <a:lnTo>
                    <a:pt x="89" y="0"/>
                  </a:lnTo>
                  <a:lnTo>
                    <a:pt x="220" y="0"/>
                  </a:lnTo>
                  <a:lnTo>
                    <a:pt x="220" y="358"/>
                  </a:lnTo>
                  <a:cubicBezTo>
                    <a:pt x="220" y="483"/>
                    <a:pt x="126" y="586"/>
                    <a:pt x="5" y="599"/>
                  </a:cubicBezTo>
                  <a:lnTo>
                    <a:pt x="0" y="599"/>
                  </a:ln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5"/>
            <p:cNvSpPr>
              <a:spLocks noEditPoints="1"/>
            </p:cNvSpPr>
            <p:nvPr userDrawn="1"/>
          </p:nvSpPr>
          <p:spPr bwMode="auto">
            <a:xfrm>
              <a:off x="577850" y="6251258"/>
              <a:ext cx="22225" cy="26988"/>
            </a:xfrm>
            <a:custGeom>
              <a:avLst/>
              <a:gdLst>
                <a:gd name="T0" fmla="*/ 0 w 73"/>
                <a:gd name="T1" fmla="*/ 90 h 90"/>
                <a:gd name="T2" fmla="*/ 0 w 73"/>
                <a:gd name="T3" fmla="*/ 90 h 90"/>
                <a:gd name="T4" fmla="*/ 0 w 73"/>
                <a:gd name="T5" fmla="*/ 0 h 90"/>
                <a:gd name="T6" fmla="*/ 73 w 73"/>
                <a:gd name="T7" fmla="*/ 0 h 90"/>
                <a:gd name="T8" fmla="*/ 73 w 73"/>
                <a:gd name="T9" fmla="*/ 90 h 90"/>
                <a:gd name="T10" fmla="*/ 0 w 73"/>
                <a:gd name="T11" fmla="*/ 90 h 90"/>
                <a:gd name="T12" fmla="*/ 0 w 73"/>
                <a:gd name="T13" fmla="*/ 90 h 90"/>
                <a:gd name="T14" fmla="*/ 3 w 73"/>
                <a:gd name="T15" fmla="*/ 88 h 90"/>
                <a:gd name="T16" fmla="*/ 3 w 73"/>
                <a:gd name="T17" fmla="*/ 88 h 90"/>
                <a:gd name="T18" fmla="*/ 70 w 73"/>
                <a:gd name="T19" fmla="*/ 88 h 90"/>
                <a:gd name="T20" fmla="*/ 70 w 73"/>
                <a:gd name="T21" fmla="*/ 2 h 90"/>
                <a:gd name="T22" fmla="*/ 3 w 73"/>
                <a:gd name="T23" fmla="*/ 2 h 90"/>
                <a:gd name="T24" fmla="*/ 3 w 73"/>
                <a:gd name="T25" fmla="*/ 88 h 90"/>
                <a:gd name="T26" fmla="*/ 3 w 73"/>
                <a:gd name="T27" fmla="*/ 88 h 90"/>
                <a:gd name="T28" fmla="*/ 3 w 73"/>
                <a:gd name="T29" fmla="*/ 88 h 90"/>
                <a:gd name="T30" fmla="*/ 3 w 73"/>
                <a:gd name="T31" fmla="*/ 8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3" h="90">
                  <a:moveTo>
                    <a:pt x="0" y="90"/>
                  </a:moveTo>
                  <a:lnTo>
                    <a:pt x="0" y="90"/>
                  </a:lnTo>
                  <a:lnTo>
                    <a:pt x="0" y="0"/>
                  </a:lnTo>
                  <a:lnTo>
                    <a:pt x="73" y="0"/>
                  </a:lnTo>
                  <a:lnTo>
                    <a:pt x="73" y="90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3" y="88"/>
                  </a:moveTo>
                  <a:lnTo>
                    <a:pt x="3" y="88"/>
                  </a:lnTo>
                  <a:lnTo>
                    <a:pt x="70" y="88"/>
                  </a:lnTo>
                  <a:lnTo>
                    <a:pt x="70" y="2"/>
                  </a:lnTo>
                  <a:lnTo>
                    <a:pt x="3" y="2"/>
                  </a:lnTo>
                  <a:lnTo>
                    <a:pt x="3" y="88"/>
                  </a:lnTo>
                  <a:lnTo>
                    <a:pt x="3" y="88"/>
                  </a:lnTo>
                  <a:close/>
                  <a:moveTo>
                    <a:pt x="3" y="88"/>
                  </a:moveTo>
                  <a:lnTo>
                    <a:pt x="3" y="8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6"/>
            <p:cNvSpPr>
              <a:spLocks noEditPoints="1"/>
            </p:cNvSpPr>
            <p:nvPr userDrawn="1"/>
          </p:nvSpPr>
          <p:spPr bwMode="auto">
            <a:xfrm>
              <a:off x="521018" y="6203633"/>
              <a:ext cx="379413" cy="381000"/>
            </a:xfrm>
            <a:custGeom>
              <a:avLst/>
              <a:gdLst>
                <a:gd name="T0" fmla="*/ 107 w 1209"/>
                <a:gd name="T1" fmla="*/ 0 h 1209"/>
                <a:gd name="T2" fmla="*/ 107 w 1209"/>
                <a:gd name="T3" fmla="*/ 0 h 1209"/>
                <a:gd name="T4" fmla="*/ 0 w 1209"/>
                <a:gd name="T5" fmla="*/ 106 h 1209"/>
                <a:gd name="T6" fmla="*/ 0 w 1209"/>
                <a:gd name="T7" fmla="*/ 1101 h 1209"/>
                <a:gd name="T8" fmla="*/ 107 w 1209"/>
                <a:gd name="T9" fmla="*/ 1209 h 1209"/>
                <a:gd name="T10" fmla="*/ 1102 w 1209"/>
                <a:gd name="T11" fmla="*/ 1209 h 1209"/>
                <a:gd name="T12" fmla="*/ 1209 w 1209"/>
                <a:gd name="T13" fmla="*/ 1101 h 1209"/>
                <a:gd name="T14" fmla="*/ 1209 w 1209"/>
                <a:gd name="T15" fmla="*/ 106 h 1209"/>
                <a:gd name="T16" fmla="*/ 1102 w 1209"/>
                <a:gd name="T17" fmla="*/ 0 h 1209"/>
                <a:gd name="T18" fmla="*/ 107 w 1209"/>
                <a:gd name="T19" fmla="*/ 0 h 1209"/>
                <a:gd name="T20" fmla="*/ 107 w 1209"/>
                <a:gd name="T21" fmla="*/ 0 h 1209"/>
                <a:gd name="T22" fmla="*/ 107 w 1209"/>
                <a:gd name="T23" fmla="*/ 0 h 1209"/>
                <a:gd name="T24" fmla="*/ 107 w 1209"/>
                <a:gd name="T25" fmla="*/ 0 h 1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9" h="1209">
                  <a:moveTo>
                    <a:pt x="107" y="0"/>
                  </a:moveTo>
                  <a:lnTo>
                    <a:pt x="107" y="0"/>
                  </a:lnTo>
                  <a:cubicBezTo>
                    <a:pt x="48" y="0"/>
                    <a:pt x="0" y="47"/>
                    <a:pt x="0" y="106"/>
                  </a:cubicBezTo>
                  <a:lnTo>
                    <a:pt x="0" y="1101"/>
                  </a:lnTo>
                  <a:cubicBezTo>
                    <a:pt x="0" y="1160"/>
                    <a:pt x="48" y="1209"/>
                    <a:pt x="107" y="1209"/>
                  </a:cubicBezTo>
                  <a:lnTo>
                    <a:pt x="1102" y="1209"/>
                  </a:lnTo>
                  <a:cubicBezTo>
                    <a:pt x="1162" y="1209"/>
                    <a:pt x="1209" y="1160"/>
                    <a:pt x="1209" y="1101"/>
                  </a:cubicBezTo>
                  <a:lnTo>
                    <a:pt x="1209" y="106"/>
                  </a:lnTo>
                  <a:cubicBezTo>
                    <a:pt x="1209" y="47"/>
                    <a:pt x="1162" y="0"/>
                    <a:pt x="1102" y="0"/>
                  </a:cubicBezTo>
                  <a:lnTo>
                    <a:pt x="107" y="0"/>
                  </a:lnTo>
                  <a:lnTo>
                    <a:pt x="107" y="0"/>
                  </a:lnTo>
                  <a:close/>
                  <a:moveTo>
                    <a:pt x="107" y="0"/>
                  </a:moveTo>
                  <a:lnTo>
                    <a:pt x="107" y="0"/>
                  </a:lnTo>
                  <a:close/>
                </a:path>
              </a:pathLst>
            </a:custGeom>
            <a:solidFill>
              <a:srgbClr val="CC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7"/>
            <p:cNvSpPr>
              <a:spLocks noEditPoints="1"/>
            </p:cNvSpPr>
            <p:nvPr userDrawn="1"/>
          </p:nvSpPr>
          <p:spPr bwMode="auto">
            <a:xfrm>
              <a:off x="596900" y="6305233"/>
              <a:ext cx="247650" cy="180975"/>
            </a:xfrm>
            <a:custGeom>
              <a:avLst/>
              <a:gdLst>
                <a:gd name="T0" fmla="*/ 643 w 786"/>
                <a:gd name="T1" fmla="*/ 574 h 574"/>
                <a:gd name="T2" fmla="*/ 643 w 786"/>
                <a:gd name="T3" fmla="*/ 574 h 574"/>
                <a:gd name="T4" fmla="*/ 643 w 786"/>
                <a:gd name="T5" fmla="*/ 234 h 574"/>
                <a:gd name="T6" fmla="*/ 626 w 786"/>
                <a:gd name="T7" fmla="*/ 164 h 574"/>
                <a:gd name="T8" fmla="*/ 560 w 786"/>
                <a:gd name="T9" fmla="*/ 135 h 574"/>
                <a:gd name="T10" fmla="*/ 488 w 786"/>
                <a:gd name="T11" fmla="*/ 164 h 574"/>
                <a:gd name="T12" fmla="*/ 464 w 786"/>
                <a:gd name="T13" fmla="*/ 246 h 574"/>
                <a:gd name="T14" fmla="*/ 464 w 786"/>
                <a:gd name="T15" fmla="*/ 574 h 574"/>
                <a:gd name="T16" fmla="*/ 321 w 786"/>
                <a:gd name="T17" fmla="*/ 574 h 574"/>
                <a:gd name="T18" fmla="*/ 321 w 786"/>
                <a:gd name="T19" fmla="*/ 234 h 574"/>
                <a:gd name="T20" fmla="*/ 304 w 786"/>
                <a:gd name="T21" fmla="*/ 164 h 574"/>
                <a:gd name="T22" fmla="*/ 239 w 786"/>
                <a:gd name="T23" fmla="*/ 135 h 574"/>
                <a:gd name="T24" fmla="*/ 168 w 786"/>
                <a:gd name="T25" fmla="*/ 164 h 574"/>
                <a:gd name="T26" fmla="*/ 143 w 786"/>
                <a:gd name="T27" fmla="*/ 246 h 574"/>
                <a:gd name="T28" fmla="*/ 143 w 786"/>
                <a:gd name="T29" fmla="*/ 574 h 574"/>
                <a:gd name="T30" fmla="*/ 0 w 786"/>
                <a:gd name="T31" fmla="*/ 574 h 574"/>
                <a:gd name="T32" fmla="*/ 0 w 786"/>
                <a:gd name="T33" fmla="*/ 8 h 574"/>
                <a:gd name="T34" fmla="*/ 143 w 786"/>
                <a:gd name="T35" fmla="*/ 8 h 574"/>
                <a:gd name="T36" fmla="*/ 143 w 786"/>
                <a:gd name="T37" fmla="*/ 74 h 574"/>
                <a:gd name="T38" fmla="*/ 202 w 786"/>
                <a:gd name="T39" fmla="*/ 20 h 574"/>
                <a:gd name="T40" fmla="*/ 282 w 786"/>
                <a:gd name="T41" fmla="*/ 0 h 574"/>
                <a:gd name="T42" fmla="*/ 370 w 786"/>
                <a:gd name="T43" fmla="*/ 23 h 574"/>
                <a:gd name="T44" fmla="*/ 420 w 786"/>
                <a:gd name="T45" fmla="*/ 85 h 574"/>
                <a:gd name="T46" fmla="*/ 498 w 786"/>
                <a:gd name="T47" fmla="*/ 22 h 574"/>
                <a:gd name="T48" fmla="*/ 596 w 786"/>
                <a:gd name="T49" fmla="*/ 0 h 574"/>
                <a:gd name="T50" fmla="*/ 683 w 786"/>
                <a:gd name="T51" fmla="*/ 16 h 574"/>
                <a:gd name="T52" fmla="*/ 743 w 786"/>
                <a:gd name="T53" fmla="*/ 60 h 574"/>
                <a:gd name="T54" fmla="*/ 776 w 786"/>
                <a:gd name="T55" fmla="*/ 125 h 574"/>
                <a:gd name="T56" fmla="*/ 786 w 786"/>
                <a:gd name="T57" fmla="*/ 203 h 574"/>
                <a:gd name="T58" fmla="*/ 786 w 786"/>
                <a:gd name="T59" fmla="*/ 574 h 574"/>
                <a:gd name="T60" fmla="*/ 644 w 786"/>
                <a:gd name="T61" fmla="*/ 574 h 574"/>
                <a:gd name="T62" fmla="*/ 643 w 786"/>
                <a:gd name="T63" fmla="*/ 574 h 574"/>
                <a:gd name="T64" fmla="*/ 643 w 786"/>
                <a:gd name="T65" fmla="*/ 574 h 574"/>
                <a:gd name="T66" fmla="*/ 643 w 786"/>
                <a:gd name="T67" fmla="*/ 574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86" h="574">
                  <a:moveTo>
                    <a:pt x="643" y="574"/>
                  </a:moveTo>
                  <a:lnTo>
                    <a:pt x="643" y="574"/>
                  </a:lnTo>
                  <a:lnTo>
                    <a:pt x="643" y="234"/>
                  </a:lnTo>
                  <a:cubicBezTo>
                    <a:pt x="643" y="207"/>
                    <a:pt x="637" y="183"/>
                    <a:pt x="626" y="164"/>
                  </a:cubicBezTo>
                  <a:cubicBezTo>
                    <a:pt x="614" y="144"/>
                    <a:pt x="593" y="135"/>
                    <a:pt x="560" y="135"/>
                  </a:cubicBezTo>
                  <a:cubicBezTo>
                    <a:pt x="528" y="135"/>
                    <a:pt x="504" y="144"/>
                    <a:pt x="488" y="164"/>
                  </a:cubicBezTo>
                  <a:cubicBezTo>
                    <a:pt x="472" y="184"/>
                    <a:pt x="464" y="211"/>
                    <a:pt x="464" y="246"/>
                  </a:cubicBezTo>
                  <a:lnTo>
                    <a:pt x="464" y="574"/>
                  </a:lnTo>
                  <a:lnTo>
                    <a:pt x="321" y="574"/>
                  </a:lnTo>
                  <a:lnTo>
                    <a:pt x="321" y="234"/>
                  </a:lnTo>
                  <a:cubicBezTo>
                    <a:pt x="321" y="207"/>
                    <a:pt x="316" y="183"/>
                    <a:pt x="304" y="164"/>
                  </a:cubicBezTo>
                  <a:cubicBezTo>
                    <a:pt x="293" y="144"/>
                    <a:pt x="271" y="135"/>
                    <a:pt x="239" y="135"/>
                  </a:cubicBezTo>
                  <a:cubicBezTo>
                    <a:pt x="209" y="135"/>
                    <a:pt x="186" y="144"/>
                    <a:pt x="168" y="164"/>
                  </a:cubicBezTo>
                  <a:cubicBezTo>
                    <a:pt x="151" y="184"/>
                    <a:pt x="143" y="211"/>
                    <a:pt x="143" y="246"/>
                  </a:cubicBezTo>
                  <a:lnTo>
                    <a:pt x="143" y="574"/>
                  </a:lnTo>
                  <a:lnTo>
                    <a:pt x="0" y="574"/>
                  </a:lnTo>
                  <a:lnTo>
                    <a:pt x="0" y="8"/>
                  </a:lnTo>
                  <a:lnTo>
                    <a:pt x="143" y="8"/>
                  </a:lnTo>
                  <a:lnTo>
                    <a:pt x="143" y="74"/>
                  </a:lnTo>
                  <a:cubicBezTo>
                    <a:pt x="157" y="52"/>
                    <a:pt x="176" y="34"/>
                    <a:pt x="202" y="20"/>
                  </a:cubicBezTo>
                  <a:cubicBezTo>
                    <a:pt x="228" y="7"/>
                    <a:pt x="255" y="0"/>
                    <a:pt x="282" y="0"/>
                  </a:cubicBezTo>
                  <a:cubicBezTo>
                    <a:pt x="318" y="0"/>
                    <a:pt x="348" y="8"/>
                    <a:pt x="370" y="23"/>
                  </a:cubicBezTo>
                  <a:cubicBezTo>
                    <a:pt x="392" y="38"/>
                    <a:pt x="409" y="59"/>
                    <a:pt x="420" y="85"/>
                  </a:cubicBezTo>
                  <a:cubicBezTo>
                    <a:pt x="439" y="58"/>
                    <a:pt x="465" y="36"/>
                    <a:pt x="498" y="22"/>
                  </a:cubicBezTo>
                  <a:cubicBezTo>
                    <a:pt x="530" y="7"/>
                    <a:pt x="563" y="0"/>
                    <a:pt x="596" y="0"/>
                  </a:cubicBezTo>
                  <a:cubicBezTo>
                    <a:pt x="630" y="0"/>
                    <a:pt x="659" y="5"/>
                    <a:pt x="683" y="16"/>
                  </a:cubicBezTo>
                  <a:cubicBezTo>
                    <a:pt x="708" y="27"/>
                    <a:pt x="728" y="41"/>
                    <a:pt x="743" y="60"/>
                  </a:cubicBezTo>
                  <a:cubicBezTo>
                    <a:pt x="757" y="78"/>
                    <a:pt x="769" y="100"/>
                    <a:pt x="776" y="125"/>
                  </a:cubicBezTo>
                  <a:cubicBezTo>
                    <a:pt x="783" y="150"/>
                    <a:pt x="786" y="176"/>
                    <a:pt x="786" y="203"/>
                  </a:cubicBezTo>
                  <a:lnTo>
                    <a:pt x="786" y="574"/>
                  </a:lnTo>
                  <a:lnTo>
                    <a:pt x="644" y="574"/>
                  </a:lnTo>
                  <a:lnTo>
                    <a:pt x="643" y="574"/>
                  </a:lnTo>
                  <a:close/>
                  <a:moveTo>
                    <a:pt x="643" y="574"/>
                  </a:moveTo>
                  <a:lnTo>
                    <a:pt x="643" y="574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4" name="Inhaltsplatzhalter 2"/>
          <p:cNvSpPr txBox="1">
            <a:spLocks/>
          </p:cNvSpPr>
          <p:nvPr/>
        </p:nvSpPr>
        <p:spPr>
          <a:xfrm>
            <a:off x="251520" y="1707679"/>
            <a:ext cx="6207471" cy="5529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z="1000" dirty="0" smtClean="0"/>
          </a:p>
          <a:p>
            <a:r>
              <a:rPr lang="en-US" dirty="0" smtClean="0"/>
              <a:t>Currently involved groups</a:t>
            </a:r>
          </a:p>
          <a:p>
            <a:pPr lvl="1"/>
            <a:r>
              <a:rPr lang="en-US" dirty="0" err="1" smtClean="0"/>
              <a:t>Kaltenbacher‘s</a:t>
            </a:r>
            <a:r>
              <a:rPr lang="en-US" dirty="0" smtClean="0"/>
              <a:t> group</a:t>
            </a:r>
          </a:p>
          <a:p>
            <a:pPr lvl="2"/>
            <a:r>
              <a:rPr lang="en-US" dirty="0" smtClean="0"/>
              <a:t>Institute of Mechanics and Mechatronics, Vienna University of Technology</a:t>
            </a:r>
          </a:p>
          <a:p>
            <a:pPr lvl="2"/>
            <a:endParaRPr lang="en-US" sz="1200" dirty="0" smtClean="0"/>
          </a:p>
          <a:p>
            <a:pPr lvl="1"/>
            <a:r>
              <a:rPr lang="en-US" dirty="0" smtClean="0"/>
              <a:t>R. </a:t>
            </a:r>
            <a:r>
              <a:rPr lang="en-US" dirty="0" err="1" smtClean="0"/>
              <a:t>Lerch‘s</a:t>
            </a:r>
            <a:r>
              <a:rPr lang="en-US" dirty="0" smtClean="0"/>
              <a:t> group</a:t>
            </a:r>
          </a:p>
          <a:p>
            <a:pPr lvl="2"/>
            <a:r>
              <a:rPr lang="en-US" dirty="0" smtClean="0"/>
              <a:t>Department of Sensor Technology, Friedrich-Alexander University Erlangen-Nuremberg</a:t>
            </a:r>
          </a:p>
          <a:p>
            <a:pPr marL="914400" lvl="2" indent="0">
              <a:buFont typeface="Arial" pitchFamily="34" charset="0"/>
              <a:buNone/>
            </a:pPr>
            <a:endParaRPr lang="en-US" dirty="0" smtClean="0"/>
          </a:p>
          <a:p>
            <a:pPr lvl="1"/>
            <a:r>
              <a:rPr lang="en-US" dirty="0" smtClean="0"/>
              <a:t>M. </a:t>
            </a:r>
            <a:r>
              <a:rPr lang="en-US" dirty="0" err="1" smtClean="0"/>
              <a:t>Stingl‘s</a:t>
            </a:r>
            <a:r>
              <a:rPr lang="en-US" dirty="0" smtClean="0"/>
              <a:t> group</a:t>
            </a:r>
          </a:p>
          <a:p>
            <a:pPr lvl="2"/>
            <a:r>
              <a:rPr lang="en-US" dirty="0" smtClean="0"/>
              <a:t>Chair of Applied Mathematics 2, Friedrich-Alexander University Erlangen-Nuremberg</a:t>
            </a:r>
          </a:p>
          <a:p>
            <a:pPr lvl="2"/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825" y="4396138"/>
            <a:ext cx="1485684" cy="62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92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History: People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3"/>
            <a:ext cx="8640960" cy="550546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1900" dirty="0" smtClean="0"/>
              <a:t>Co-operation partners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S. </a:t>
            </a:r>
            <a:r>
              <a:rPr lang="en-US" sz="1600" dirty="0" err="1" smtClean="0"/>
              <a:t>Reitzinger</a:t>
            </a:r>
            <a:r>
              <a:rPr lang="en-US" sz="1600" dirty="0" smtClean="0"/>
              <a:t> (support in the design phase)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M. Hofer (bilinear and linear forms)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M. Mohr (algebraic system and XML-structure)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T. </a:t>
            </a:r>
            <a:r>
              <a:rPr lang="en-US" sz="1600" dirty="0" err="1" smtClean="0"/>
              <a:t>Lahmer</a:t>
            </a:r>
            <a:r>
              <a:rPr lang="en-US" sz="1600" dirty="0" smtClean="0"/>
              <a:t> (inverse schemes)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B.  Schmidt (contact handling)</a:t>
            </a:r>
          </a:p>
          <a:p>
            <a:pPr lvl="1">
              <a:lnSpc>
                <a:spcPct val="90000"/>
              </a:lnSpc>
            </a:pPr>
            <a:endParaRPr lang="en-US" sz="900" dirty="0" smtClean="0"/>
          </a:p>
          <a:p>
            <a:pPr>
              <a:lnSpc>
                <a:spcPct val="90000"/>
              </a:lnSpc>
            </a:pPr>
            <a:r>
              <a:rPr lang="en-US" sz="1900" dirty="0" smtClean="0"/>
              <a:t>Former Ph.D. students 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E. </a:t>
            </a:r>
            <a:r>
              <a:rPr lang="en-US" sz="1600" dirty="0" err="1" smtClean="0"/>
              <a:t>Zhelezina</a:t>
            </a:r>
            <a:r>
              <a:rPr lang="en-US" sz="1600" dirty="0" smtClean="0"/>
              <a:t> (first implementations)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M. Escobar (</a:t>
            </a:r>
            <a:r>
              <a:rPr lang="en-US" sz="1600" dirty="0" err="1" smtClean="0"/>
              <a:t>aeroacoustics</a:t>
            </a:r>
            <a:r>
              <a:rPr lang="en-US" sz="1600" dirty="0" smtClean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G. Link (fluid flow and coupling to mechanics) </a:t>
            </a:r>
          </a:p>
          <a:p>
            <a:pPr lvl="1">
              <a:lnSpc>
                <a:spcPct val="90000"/>
              </a:lnSpc>
            </a:pPr>
            <a:endParaRPr lang="en-US" sz="900" dirty="0" smtClean="0"/>
          </a:p>
          <a:p>
            <a:pPr>
              <a:lnSpc>
                <a:spcPct val="90000"/>
              </a:lnSpc>
            </a:pPr>
            <a:r>
              <a:rPr lang="en-US" sz="1900" dirty="0" smtClean="0"/>
              <a:t>Current Ph.D. students 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A. Hauck (revisions of class structure, p-FEM, </a:t>
            </a:r>
            <a:r>
              <a:rPr lang="en-US" sz="1600" dirty="0" err="1" smtClean="0"/>
              <a:t>gFEM</a:t>
            </a:r>
            <a:r>
              <a:rPr lang="en-US" sz="1600" dirty="0" smtClean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J. </a:t>
            </a:r>
            <a:r>
              <a:rPr lang="en-US" sz="1600" dirty="0" err="1" smtClean="0"/>
              <a:t>Grabinger</a:t>
            </a:r>
            <a:r>
              <a:rPr lang="en-US" sz="1600" dirty="0" smtClean="0"/>
              <a:t> (non-matching grids, </a:t>
            </a:r>
            <a:r>
              <a:rPr lang="en-US" sz="1600" dirty="0" err="1" smtClean="0"/>
              <a:t>aeroacoustics</a:t>
            </a:r>
            <a:r>
              <a:rPr lang="en-US" sz="1600" dirty="0" smtClean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S. </a:t>
            </a:r>
            <a:r>
              <a:rPr lang="en-US" sz="1600" dirty="0" err="1" smtClean="0"/>
              <a:t>Zörner</a:t>
            </a:r>
            <a:r>
              <a:rPr lang="en-US" sz="1600" dirty="0" smtClean="0"/>
              <a:t> (fluid-structure-acoustic)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A. Volk (</a:t>
            </a:r>
            <a:r>
              <a:rPr lang="en-US" sz="1600" dirty="0" err="1" smtClean="0"/>
              <a:t>magnetostriction</a:t>
            </a:r>
            <a:r>
              <a:rPr lang="en-US" sz="1600" dirty="0" smtClean="0"/>
              <a:t>)</a:t>
            </a:r>
          </a:p>
          <a:p>
            <a:pPr lvl="1">
              <a:lnSpc>
                <a:spcPct val="90000"/>
              </a:lnSpc>
            </a:pPr>
            <a:endParaRPr lang="en-US" sz="900" dirty="0" smtClean="0"/>
          </a:p>
          <a:p>
            <a:pPr>
              <a:lnSpc>
                <a:spcPct val="90000"/>
              </a:lnSpc>
            </a:pPr>
            <a:r>
              <a:rPr lang="en-US" sz="1900" dirty="0" smtClean="0"/>
              <a:t>Post Docs and others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A. Hüppe (</a:t>
            </a:r>
            <a:r>
              <a:rPr lang="en-US" sz="1600" dirty="0" err="1" smtClean="0"/>
              <a:t>aeroacoustics</a:t>
            </a:r>
            <a:r>
              <a:rPr lang="en-US" sz="1600" dirty="0" smtClean="0"/>
              <a:t>, spectral-FEM, mixed FEM, revisions of class structure)</a:t>
            </a:r>
          </a:p>
          <a:p>
            <a:pPr lvl="1">
              <a:lnSpc>
                <a:spcPct val="90000"/>
              </a:lnSpc>
            </a:pPr>
            <a:r>
              <a:rPr lang="de-AT" sz="1600" dirty="0" smtClean="0"/>
              <a:t>M. </a:t>
            </a:r>
            <a:r>
              <a:rPr lang="de-AT" sz="1600" dirty="0" err="1" smtClean="0"/>
              <a:t>Kaltenbacher</a:t>
            </a:r>
            <a:r>
              <a:rPr lang="de-AT" sz="1600" dirty="0" smtClean="0"/>
              <a:t> </a:t>
            </a:r>
            <a:r>
              <a:rPr lang="de-AT" sz="1600" dirty="0"/>
              <a:t>(</a:t>
            </a:r>
            <a:r>
              <a:rPr lang="de-AT" sz="1600" dirty="0" err="1"/>
              <a:t>nonlinear</a:t>
            </a:r>
            <a:r>
              <a:rPr lang="de-AT" sz="1600" dirty="0"/>
              <a:t> PDEs, </a:t>
            </a:r>
            <a:r>
              <a:rPr lang="de-AT" sz="1600" dirty="0" err="1"/>
              <a:t>moving</a:t>
            </a:r>
            <a:r>
              <a:rPr lang="de-AT" sz="1600" dirty="0"/>
              <a:t> </a:t>
            </a:r>
            <a:r>
              <a:rPr lang="de-AT" sz="1600" dirty="0" err="1"/>
              <a:t>mesh</a:t>
            </a:r>
            <a:r>
              <a:rPr lang="de-AT" sz="1600" dirty="0"/>
              <a:t>, material </a:t>
            </a:r>
            <a:r>
              <a:rPr lang="de-AT" sz="1600" dirty="0" err="1"/>
              <a:t>modeling</a:t>
            </a:r>
            <a:r>
              <a:rPr lang="de-AT" sz="1600" dirty="0"/>
              <a:t>, </a:t>
            </a:r>
            <a:r>
              <a:rPr lang="de-AT" sz="1600" dirty="0" err="1"/>
              <a:t>hysteresis</a:t>
            </a:r>
            <a:r>
              <a:rPr lang="de-AT" sz="1600" dirty="0"/>
              <a:t> </a:t>
            </a:r>
            <a:r>
              <a:rPr lang="de-AT" sz="1600" dirty="0" smtClean="0"/>
              <a:t>)</a:t>
            </a:r>
            <a:endParaRPr lang="en-US" sz="1600" dirty="0" smtClean="0"/>
          </a:p>
          <a:p>
            <a:pPr lvl="1">
              <a:lnSpc>
                <a:spcPct val="90000"/>
              </a:lnSpc>
            </a:pPr>
            <a:r>
              <a:rPr lang="en-US" sz="1600" dirty="0" smtClean="0"/>
              <a:t>S. </a:t>
            </a:r>
            <a:r>
              <a:rPr lang="en-US" sz="1600" dirty="0" err="1" smtClean="0"/>
              <a:t>Triebenbacher</a:t>
            </a:r>
            <a:r>
              <a:rPr lang="en-US" sz="1600" dirty="0" smtClean="0"/>
              <a:t> (non-matching grids, </a:t>
            </a:r>
            <a:r>
              <a:rPr lang="en-US" sz="1600" dirty="0" err="1" smtClean="0"/>
              <a:t>aeroacoustics</a:t>
            </a:r>
            <a:r>
              <a:rPr lang="en-US" sz="1600" dirty="0" smtClean="0"/>
              <a:t>, CFSDEPS, </a:t>
            </a:r>
            <a:r>
              <a:rPr lang="en-US" sz="1600" dirty="0" err="1" smtClean="0"/>
              <a:t>CMake</a:t>
            </a:r>
            <a:r>
              <a:rPr lang="en-US" dirty="0" smtClean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F</a:t>
            </a:r>
            <a:r>
              <a:rPr lang="en-US" sz="1600" dirty="0"/>
              <a:t>. </a:t>
            </a:r>
            <a:r>
              <a:rPr lang="en-US" sz="1600" dirty="0" err="1"/>
              <a:t>Wein</a:t>
            </a:r>
            <a:r>
              <a:rPr lang="en-US" sz="1600" dirty="0"/>
              <a:t> (optimization</a:t>
            </a:r>
            <a:r>
              <a:rPr lang="en-US" sz="1600" dirty="0" smtClean="0"/>
              <a:t>)</a:t>
            </a:r>
          </a:p>
          <a:p>
            <a:pPr lvl="1">
              <a:lnSpc>
                <a:spcPct val="90000"/>
              </a:lnSpc>
            </a:pPr>
            <a:endParaRPr lang="en-US" sz="900" dirty="0" smtClean="0"/>
          </a:p>
          <a:p>
            <a:pPr>
              <a:lnSpc>
                <a:spcPct val="90000"/>
              </a:lnSpc>
            </a:pPr>
            <a:r>
              <a:rPr lang="en-US" sz="1900" dirty="0" smtClean="0"/>
              <a:t>Refer to contributors section in developer’s manual</a:t>
            </a:r>
          </a:p>
          <a:p>
            <a:pPr lvl="1">
              <a:lnSpc>
                <a:spcPct val="90000"/>
              </a:lnSpc>
            </a:pPr>
            <a:endParaRPr lang="en-US" dirty="0" smtClean="0"/>
          </a:p>
          <a:p>
            <a:pPr lvl="1">
              <a:lnSpc>
                <a:spcPct val="90000"/>
              </a:lnSpc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84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simetris-logo-pr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765" y="5114963"/>
            <a:ext cx="1239717" cy="491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7907742" cy="346050"/>
          </a:xfrm>
        </p:spPr>
        <p:txBody>
          <a:bodyPr/>
          <a:lstStyle/>
          <a:p>
            <a:r>
              <a:rPr lang="en-US" smtClean="0"/>
              <a:t>CFS++ Capabilities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3"/>
            <a:ext cx="8640960" cy="5976066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Capabilities</a:t>
            </a:r>
          </a:p>
          <a:p>
            <a:pPr lvl="1"/>
            <a:r>
              <a:rPr lang="en-US" dirty="0" smtClean="0"/>
              <a:t>Single Field:</a:t>
            </a:r>
          </a:p>
          <a:p>
            <a:pPr lvl="2"/>
            <a:r>
              <a:rPr lang="en-US" sz="1600" dirty="0" smtClean="0"/>
              <a:t>Electromagnetics</a:t>
            </a:r>
          </a:p>
          <a:p>
            <a:pPr lvl="2"/>
            <a:r>
              <a:rPr lang="en-US" sz="1600" dirty="0" smtClean="0"/>
              <a:t>Mechanics</a:t>
            </a:r>
          </a:p>
          <a:p>
            <a:pPr lvl="2"/>
            <a:r>
              <a:rPr lang="en-US" sz="1600" dirty="0" smtClean="0"/>
              <a:t>Acoustics</a:t>
            </a:r>
          </a:p>
          <a:p>
            <a:pPr lvl="2"/>
            <a:r>
              <a:rPr lang="en-US" sz="1600" dirty="0" smtClean="0"/>
              <a:t>Flow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sz="1000" dirty="0" smtClean="0"/>
          </a:p>
          <a:p>
            <a:pPr lvl="1"/>
            <a:r>
              <a:rPr lang="en-US" dirty="0" smtClean="0"/>
              <a:t>FE Topics</a:t>
            </a:r>
          </a:p>
          <a:p>
            <a:pPr lvl="2"/>
            <a:r>
              <a:rPr lang="en-US" sz="1600" b="1" dirty="0" smtClean="0"/>
              <a:t>Finite Element of higher order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(</a:t>
            </a:r>
            <a:r>
              <a:rPr lang="en-US" sz="1600" dirty="0" err="1" smtClean="0"/>
              <a:t>pFEM</a:t>
            </a:r>
            <a:r>
              <a:rPr lang="en-US" sz="1600" dirty="0" smtClean="0"/>
              <a:t>, spectral FEM)</a:t>
            </a:r>
          </a:p>
          <a:p>
            <a:pPr lvl="2"/>
            <a:r>
              <a:rPr lang="en-US" sz="1600" b="1" dirty="0" smtClean="0"/>
              <a:t>Non-conforming grids</a:t>
            </a:r>
          </a:p>
          <a:p>
            <a:pPr lvl="2"/>
            <a:r>
              <a:rPr lang="en-US" sz="1600" dirty="0" smtClean="0"/>
              <a:t>Moving meshes</a:t>
            </a:r>
          </a:p>
          <a:p>
            <a:pPr lvl="2"/>
            <a:r>
              <a:rPr lang="en-US" sz="1600" b="1" dirty="0" smtClean="0"/>
              <a:t>Material models with hysteresis</a:t>
            </a:r>
          </a:p>
          <a:p>
            <a:pPr lvl="2"/>
            <a:r>
              <a:rPr lang="en-US" sz="1600" dirty="0" smtClean="0"/>
              <a:t>Micro-Macro Modeling (Homogenization)</a:t>
            </a:r>
          </a:p>
          <a:p>
            <a:pPr lvl="2"/>
            <a:r>
              <a:rPr lang="en-US" sz="1600" dirty="0" smtClean="0"/>
              <a:t>Fast solvers (AMG, </a:t>
            </a:r>
            <a:r>
              <a:rPr lang="en-US" sz="1600" dirty="0" err="1" smtClean="0"/>
              <a:t>Pardiso</a:t>
            </a:r>
            <a:r>
              <a:rPr lang="en-US" sz="1600" dirty="0" smtClean="0"/>
              <a:t>)</a:t>
            </a:r>
          </a:p>
          <a:p>
            <a:pPr lvl="2"/>
            <a:r>
              <a:rPr lang="en-US" sz="1600" b="1" dirty="0" smtClean="0"/>
              <a:t>Optimization (SIMP, topology, shape)</a:t>
            </a:r>
          </a:p>
          <a:p>
            <a:pPr lvl="2"/>
            <a:r>
              <a:rPr lang="en-US" sz="1600" b="1" dirty="0" smtClean="0"/>
              <a:t>Inverse schemes (material parameter determination)</a:t>
            </a:r>
            <a:endParaRPr lang="en-US" sz="1600" b="1" dirty="0"/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4113337" y="1117846"/>
            <a:ext cx="3881512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2pPr>
            <a:lvl3pPr marL="1143000" indent="-228600" eaLnBrk="0" hangingPunct="0"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3pPr>
            <a:lvl4pPr marL="1600200" indent="-228600" eaLnBrk="0" hangingPunct="0"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4pPr>
            <a:lvl5pPr marL="2057400" indent="-228600" eaLnBrk="0" hangingPunct="0"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9pPr>
          </a:lstStyle>
          <a:p>
            <a:pPr marL="285750" indent="-285750" eaLnBrk="1" hangingPunct="1"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i="0" dirty="0" smtClean="0">
                <a:latin typeface="+mn-lt"/>
              </a:rPr>
              <a:t>Multi-Field</a:t>
            </a:r>
          </a:p>
          <a:p>
            <a:pPr marL="742950" lvl="1" indent="-285750" eaLnBrk="1" hangingPunct="1">
              <a:buFont typeface="Arial" pitchFamily="34" charset="0"/>
              <a:buChar char="•"/>
            </a:pPr>
            <a:r>
              <a:rPr lang="en-US" sz="1600" i="0" dirty="0" smtClean="0">
                <a:latin typeface="+mn-lt"/>
              </a:rPr>
              <a:t> Piezoelectricity</a:t>
            </a:r>
          </a:p>
          <a:p>
            <a:pPr marL="742950" lvl="1" indent="-285750" eaLnBrk="1" hangingPunct="1">
              <a:buFont typeface="Arial" pitchFamily="34" charset="0"/>
              <a:buChar char="•"/>
            </a:pPr>
            <a:r>
              <a:rPr lang="en-US" sz="1600" i="0" dirty="0" smtClean="0">
                <a:latin typeface="+mn-lt"/>
              </a:rPr>
              <a:t> </a:t>
            </a:r>
            <a:r>
              <a:rPr lang="en-US" sz="1600" i="0" dirty="0">
                <a:latin typeface="+mn-lt"/>
              </a:rPr>
              <a:t>Electrostatics-Mechanics-Acoustics</a:t>
            </a:r>
          </a:p>
          <a:p>
            <a:pPr marL="742950" lvl="1" indent="-285750" eaLnBrk="1" hangingPunct="1">
              <a:buFont typeface="Arial" pitchFamily="34" charset="0"/>
              <a:buChar char="•"/>
            </a:pPr>
            <a:r>
              <a:rPr lang="en-US" sz="1600" i="0" dirty="0">
                <a:latin typeface="+mn-lt"/>
              </a:rPr>
              <a:t> Magnetic-Mechanics-Acoustics</a:t>
            </a:r>
          </a:p>
          <a:p>
            <a:pPr marL="742950" lvl="1" indent="-285750" eaLnBrk="1" hangingPunct="1">
              <a:buFont typeface="Arial" pitchFamily="34" charset="0"/>
              <a:buChar char="•"/>
            </a:pPr>
            <a:r>
              <a:rPr lang="en-US" sz="1600" i="0" dirty="0">
                <a:latin typeface="+mn-lt"/>
              </a:rPr>
              <a:t> Flow-Mechanics-Acoustics</a:t>
            </a:r>
          </a:p>
        </p:txBody>
      </p:sp>
      <p:pic>
        <p:nvPicPr>
          <p:cNvPr id="8" name="Picture 7" descr="cfs-logo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859" y="2800052"/>
            <a:ext cx="2649358" cy="732305"/>
          </a:xfrm>
          <a:prstGeom prst="rect">
            <a:avLst/>
          </a:prstGeom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5130788" y="3532357"/>
            <a:ext cx="3622145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2pPr>
            <a:lvl3pPr marL="1143000" indent="-228600" eaLnBrk="0" hangingPunct="0"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3pPr>
            <a:lvl4pPr marL="1600200" indent="-228600" eaLnBrk="0" hangingPunct="0"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4pPr>
            <a:lvl5pPr marL="2057400" indent="-228600" eaLnBrk="0" hangingPunct="0"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 Rounded MT Bold" pitchFamily="34" charset="0"/>
              </a:defRPr>
            </a:lvl9pPr>
          </a:lstStyle>
          <a:p>
            <a:pPr marL="285750" indent="-285750" eaLnBrk="1" hangingPunct="1"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i="0" dirty="0" smtClean="0">
                <a:latin typeface="+mn-lt"/>
              </a:rPr>
              <a:t>Commercial version NACS</a:t>
            </a:r>
          </a:p>
          <a:p>
            <a:pPr marL="742950" lvl="1" indent="-285750" eaLnBrk="1" hangingPunct="1">
              <a:buFont typeface="Arial" pitchFamily="34" charset="0"/>
              <a:buChar char="•"/>
            </a:pPr>
            <a:r>
              <a:rPr lang="en-US" sz="1600" i="0" dirty="0" smtClean="0">
                <a:latin typeface="+mn-lt"/>
              </a:rPr>
              <a:t>Highly optimized</a:t>
            </a:r>
          </a:p>
          <a:p>
            <a:pPr marL="742950" lvl="1" indent="-285750" eaLnBrk="1" hangingPunct="1">
              <a:buFont typeface="Arial" pitchFamily="34" charset="0"/>
              <a:buChar char="•"/>
            </a:pPr>
            <a:r>
              <a:rPr lang="en-US" sz="1600" i="0" dirty="0" smtClean="0">
                <a:latin typeface="+mn-lt"/>
              </a:rPr>
              <a:t>Professional support by </a:t>
            </a:r>
            <a:r>
              <a:rPr lang="en-US" sz="1600" i="0" dirty="0" err="1" smtClean="0">
                <a:latin typeface="+mn-lt"/>
              </a:rPr>
              <a:t>SiMetris</a:t>
            </a:r>
            <a:endParaRPr lang="en-US" sz="1600" i="0" dirty="0" smtClean="0">
              <a:latin typeface="+mn-lt"/>
            </a:endParaRPr>
          </a:p>
          <a:p>
            <a:pPr lvl="1" eaLnBrk="1" hangingPunct="1"/>
            <a:r>
              <a:rPr lang="en-US" sz="1600" i="0" dirty="0" smtClean="0">
                <a:latin typeface="+mn-lt"/>
              </a:rPr>
              <a:t>GmbH </a:t>
            </a:r>
            <a:r>
              <a:rPr lang="en-US" sz="1600" i="0" dirty="0" err="1" smtClean="0">
                <a:latin typeface="+mn-lt"/>
              </a:rPr>
              <a:t>Tennenlohe</a:t>
            </a:r>
            <a:r>
              <a:rPr lang="en-US" sz="1600" i="0" dirty="0" smtClean="0">
                <a:latin typeface="+mn-lt"/>
              </a:rPr>
              <a:t>, Germany</a:t>
            </a:r>
            <a:endParaRPr lang="en-US" sz="1600" i="0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024" y="4640353"/>
            <a:ext cx="202882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9074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494" y="2885539"/>
            <a:ext cx="3149037" cy="147227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7907742" cy="346050"/>
          </a:xfrm>
        </p:spPr>
        <p:txBody>
          <a:bodyPr/>
          <a:lstStyle/>
          <a:p>
            <a:r>
              <a:rPr lang="de-AT" dirty="0" smtClean="0"/>
              <a:t>CFS++ </a:t>
            </a:r>
            <a:r>
              <a:rPr lang="de-AT" dirty="0" err="1" smtClean="0"/>
              <a:t>Capabilities</a:t>
            </a:r>
            <a:endParaRPr lang="en-US" dirty="0"/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396875" y="741363"/>
            <a:ext cx="958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n-US"/>
              <a:t>CMUTs</a:t>
            </a:r>
          </a:p>
        </p:txBody>
      </p:sp>
      <p:pic>
        <p:nvPicPr>
          <p:cNvPr id="21" name="Picture 37" descr="power_transforme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850" y="4591050"/>
            <a:ext cx="2511425" cy="174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8" descr="speaker0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488" y="1201738"/>
            <a:ext cx="2338387" cy="1090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638" y="3144838"/>
            <a:ext cx="3227387" cy="130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5" name="Group 15"/>
          <p:cNvGrpSpPr>
            <a:grpSpLocks/>
          </p:cNvGrpSpPr>
          <p:nvPr/>
        </p:nvGrpSpPr>
        <p:grpSpPr bwMode="auto">
          <a:xfrm>
            <a:off x="1608138" y="4910138"/>
            <a:ext cx="1346200" cy="1412875"/>
            <a:chOff x="2874" y="945"/>
            <a:chExt cx="3265" cy="3078"/>
          </a:xfrm>
        </p:grpSpPr>
        <p:pic>
          <p:nvPicPr>
            <p:cNvPr id="26" name="Picture 16" descr="meshall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22" t="740" r="11792" b="740"/>
            <a:stretch>
              <a:fillRect/>
            </a:stretch>
          </p:blipFill>
          <p:spPr bwMode="auto">
            <a:xfrm>
              <a:off x="2874" y="1030"/>
              <a:ext cx="3239" cy="29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Rectangle 17"/>
            <p:cNvSpPr>
              <a:spLocks noChangeArrowheads="1"/>
            </p:cNvSpPr>
            <p:nvPr/>
          </p:nvSpPr>
          <p:spPr bwMode="auto">
            <a:xfrm>
              <a:off x="5649" y="945"/>
              <a:ext cx="483" cy="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" name="Rectangle 18"/>
            <p:cNvSpPr>
              <a:spLocks noChangeArrowheads="1"/>
            </p:cNvSpPr>
            <p:nvPr/>
          </p:nvSpPr>
          <p:spPr bwMode="auto">
            <a:xfrm>
              <a:off x="5811" y="1181"/>
              <a:ext cx="328" cy="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pic>
        <p:nvPicPr>
          <p:cNvPr id="29" name="Picture 19" descr="meshallGC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1" t="9262" r="28690" b="25420"/>
          <a:stretch>
            <a:fillRect/>
          </a:stretch>
        </p:blipFill>
        <p:spPr bwMode="auto">
          <a:xfrm>
            <a:off x="266700" y="4564063"/>
            <a:ext cx="1322388" cy="137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" name="Group 27"/>
          <p:cNvGrpSpPr>
            <a:grpSpLocks/>
          </p:cNvGrpSpPr>
          <p:nvPr/>
        </p:nvGrpSpPr>
        <p:grpSpPr bwMode="auto">
          <a:xfrm>
            <a:off x="2913063" y="1095375"/>
            <a:ext cx="1614487" cy="1676400"/>
            <a:chOff x="711" y="549"/>
            <a:chExt cx="3037" cy="3187"/>
          </a:xfrm>
        </p:grpSpPr>
        <p:pic>
          <p:nvPicPr>
            <p:cNvPr id="32" name="Picture 28" descr="arrayVF1acou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6" t="9238" r="38254" b="45291"/>
            <a:stretch>
              <a:fillRect/>
            </a:stretch>
          </p:blipFill>
          <p:spPr bwMode="auto">
            <a:xfrm>
              <a:off x="732" y="549"/>
              <a:ext cx="3008" cy="1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9" descr="arraySetup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791" r="8781"/>
            <a:stretch>
              <a:fillRect/>
            </a:stretch>
          </p:blipFill>
          <p:spPr bwMode="auto">
            <a:xfrm>
              <a:off x="711" y="2258"/>
              <a:ext cx="3037" cy="14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4" name="Picture 30" descr="cmutErg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" r="18202" b="7175"/>
          <a:stretch>
            <a:fillRect/>
          </a:stretch>
        </p:blipFill>
        <p:spPr bwMode="auto">
          <a:xfrm>
            <a:off x="261938" y="1100138"/>
            <a:ext cx="1833562" cy="144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 Box 31"/>
          <p:cNvSpPr txBox="1">
            <a:spLocks noChangeArrowheads="1"/>
          </p:cNvSpPr>
          <p:nvPr/>
        </p:nvSpPr>
        <p:spPr bwMode="auto">
          <a:xfrm>
            <a:off x="2540000" y="757238"/>
            <a:ext cx="2457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n-US"/>
              <a:t>Piezoelectric US-array</a:t>
            </a: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5673725" y="760413"/>
            <a:ext cx="3054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n-US"/>
              <a:t>Electrodynamic loudspeaker</a:t>
            </a:r>
          </a:p>
        </p:txBody>
      </p:sp>
      <p:sp>
        <p:nvSpPr>
          <p:cNvPr id="37" name="Text Box 34"/>
          <p:cNvSpPr txBox="1">
            <a:spLocks noChangeArrowheads="1"/>
          </p:cNvSpPr>
          <p:nvPr/>
        </p:nvSpPr>
        <p:spPr bwMode="auto">
          <a:xfrm>
            <a:off x="1385888" y="2776538"/>
            <a:ext cx="2076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n-US"/>
              <a:t>Piezoelectric stack</a:t>
            </a:r>
          </a:p>
        </p:txBody>
      </p:sp>
      <p:sp>
        <p:nvSpPr>
          <p:cNvPr id="38" name="Text Box 35"/>
          <p:cNvSpPr txBox="1">
            <a:spLocks noChangeArrowheads="1"/>
          </p:cNvSpPr>
          <p:nvPr/>
        </p:nvSpPr>
        <p:spPr bwMode="auto">
          <a:xfrm>
            <a:off x="4764088" y="2776538"/>
            <a:ext cx="2419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n-US"/>
              <a:t>Electromagnetic valve</a:t>
            </a:r>
          </a:p>
        </p:txBody>
      </p:sp>
      <p:sp>
        <p:nvSpPr>
          <p:cNvPr id="39" name="Text Box 36"/>
          <p:cNvSpPr txBox="1">
            <a:spLocks noChangeArrowheads="1"/>
          </p:cNvSpPr>
          <p:nvPr/>
        </p:nvSpPr>
        <p:spPr bwMode="auto">
          <a:xfrm>
            <a:off x="298450" y="4206875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n-US"/>
              <a:t>MRI-Scanner</a:t>
            </a:r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3582988" y="4560888"/>
            <a:ext cx="2228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n-US"/>
              <a:t>Flow-induced sound</a:t>
            </a:r>
          </a:p>
        </p:txBody>
      </p:sp>
      <p:sp>
        <p:nvSpPr>
          <p:cNvPr id="41" name="Text Box 38"/>
          <p:cNvSpPr txBox="1">
            <a:spLocks noChangeArrowheads="1"/>
          </p:cNvSpPr>
          <p:nvPr/>
        </p:nvSpPr>
        <p:spPr bwMode="auto">
          <a:xfrm>
            <a:off x="6704013" y="4300538"/>
            <a:ext cx="2038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n-US"/>
              <a:t>Transformer noise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7" t="15731" r="9921" b="18958"/>
          <a:stretch/>
        </p:blipFill>
        <p:spPr>
          <a:xfrm>
            <a:off x="3275522" y="4934383"/>
            <a:ext cx="2743200" cy="131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50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Literature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45796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M. </a:t>
            </a:r>
            <a:r>
              <a:rPr lang="en-US" dirty="0" err="1" smtClean="0"/>
              <a:t>Kaltenbacher</a:t>
            </a:r>
            <a:r>
              <a:rPr lang="en-US" dirty="0" smtClean="0"/>
              <a:t>: </a:t>
            </a:r>
            <a:r>
              <a:rPr lang="en-US" i="1" dirty="0" smtClean="0"/>
              <a:t>Numerical Simulation of Mechatronic Sensors and Actuators</a:t>
            </a:r>
            <a:r>
              <a:rPr lang="en-US" dirty="0" smtClean="0"/>
              <a:t>, 2nd Edition,  Springer 2007, 2</a:t>
            </a:r>
            <a:r>
              <a:rPr lang="en-US" baseline="30000" dirty="0" smtClean="0"/>
              <a:t>nd</a:t>
            </a:r>
            <a:r>
              <a:rPr lang="en-US" dirty="0" smtClean="0"/>
              <a:t> edition</a:t>
            </a:r>
          </a:p>
          <a:p>
            <a:endParaRPr lang="en-US" sz="1100" dirty="0" smtClean="0"/>
          </a:p>
          <a:p>
            <a:r>
              <a:rPr lang="en-US" dirty="0" smtClean="0"/>
              <a:t>M. </a:t>
            </a:r>
            <a:r>
              <a:rPr lang="en-US" dirty="0" err="1" smtClean="0"/>
              <a:t>Kaltenbacher</a:t>
            </a:r>
            <a:r>
              <a:rPr lang="en-US" dirty="0" smtClean="0"/>
              <a:t>: Advanced Simulation Tool for the </a:t>
            </a:r>
            <a:br>
              <a:rPr lang="en-US" dirty="0" smtClean="0"/>
            </a:br>
            <a:r>
              <a:rPr lang="en-US" dirty="0" smtClean="0"/>
              <a:t>Design of Sensors and Actuator. Proceeding of </a:t>
            </a:r>
            <a:br>
              <a:rPr lang="en-US" dirty="0" smtClean="0"/>
            </a:br>
            <a:r>
              <a:rPr lang="en-US" dirty="0" err="1" smtClean="0"/>
              <a:t>Eurosensors</a:t>
            </a:r>
            <a:r>
              <a:rPr lang="en-US" dirty="0" smtClean="0"/>
              <a:t> XXIV 2010</a:t>
            </a:r>
          </a:p>
          <a:p>
            <a:endParaRPr lang="en-US" sz="1100" dirty="0" smtClean="0"/>
          </a:p>
          <a:p>
            <a:r>
              <a:rPr lang="en-US" dirty="0" smtClean="0"/>
              <a:t>Just search for scientific articles</a:t>
            </a:r>
          </a:p>
          <a:p>
            <a:pPr lvl="1"/>
            <a:r>
              <a:rPr lang="en-US" sz="1700" dirty="0" smtClean="0"/>
              <a:t>Andreas Hauck</a:t>
            </a:r>
          </a:p>
          <a:p>
            <a:pPr lvl="1"/>
            <a:r>
              <a:rPr lang="en-US" sz="1700" dirty="0" smtClean="0"/>
              <a:t>Andreas </a:t>
            </a:r>
            <a:r>
              <a:rPr lang="en-US" sz="1700" dirty="0" err="1" smtClean="0"/>
              <a:t>Hüppe</a:t>
            </a:r>
            <a:endParaRPr lang="en-US" sz="1700" dirty="0" smtClean="0"/>
          </a:p>
          <a:p>
            <a:pPr lvl="1"/>
            <a:r>
              <a:rPr lang="en-US" sz="1700" dirty="0" smtClean="0"/>
              <a:t>Jens </a:t>
            </a:r>
            <a:r>
              <a:rPr lang="en-US" sz="1700" dirty="0" err="1" smtClean="0"/>
              <a:t>Grabinger</a:t>
            </a:r>
            <a:endParaRPr lang="en-US" sz="1700" dirty="0" smtClean="0"/>
          </a:p>
          <a:p>
            <a:pPr lvl="1"/>
            <a:r>
              <a:rPr lang="en-US" sz="1700" dirty="0" smtClean="0"/>
              <a:t>Tom </a:t>
            </a:r>
            <a:r>
              <a:rPr lang="en-US" sz="1700" dirty="0" err="1" smtClean="0"/>
              <a:t>Lahmer</a:t>
            </a:r>
            <a:endParaRPr lang="en-US" sz="1700" dirty="0" smtClean="0"/>
          </a:p>
          <a:p>
            <a:pPr lvl="1"/>
            <a:r>
              <a:rPr lang="en-US" sz="1700" dirty="0" smtClean="0"/>
              <a:t>Gerhard Link</a:t>
            </a:r>
          </a:p>
          <a:p>
            <a:pPr lvl="1"/>
            <a:r>
              <a:rPr lang="en-US" sz="1700" dirty="0" smtClean="0"/>
              <a:t>Manfred </a:t>
            </a:r>
            <a:r>
              <a:rPr lang="en-US" sz="1700" dirty="0" err="1" smtClean="0"/>
              <a:t>Kaltenbacher</a:t>
            </a:r>
            <a:endParaRPr lang="en-US" sz="1700" dirty="0" smtClean="0"/>
          </a:p>
          <a:p>
            <a:pPr lvl="1"/>
            <a:r>
              <a:rPr lang="en-US" sz="1700" dirty="0" smtClean="0"/>
              <a:t>Simon </a:t>
            </a:r>
            <a:r>
              <a:rPr lang="en-US" sz="1700" dirty="0" err="1" smtClean="0"/>
              <a:t>Triebenbacher</a:t>
            </a:r>
            <a:endParaRPr lang="en-US" sz="1700" dirty="0" smtClean="0"/>
          </a:p>
          <a:p>
            <a:pPr lvl="1"/>
            <a:r>
              <a:rPr lang="en-US" sz="1700" dirty="0" err="1" smtClean="0"/>
              <a:t>Adiran</a:t>
            </a:r>
            <a:r>
              <a:rPr lang="en-US" sz="1700" dirty="0" smtClean="0"/>
              <a:t> Volk</a:t>
            </a:r>
          </a:p>
          <a:p>
            <a:pPr lvl="1"/>
            <a:r>
              <a:rPr lang="en-US" sz="1700" dirty="0" smtClean="0"/>
              <a:t>Fabian </a:t>
            </a:r>
            <a:r>
              <a:rPr lang="en-US" sz="1700" dirty="0" err="1" smtClean="0"/>
              <a:t>Wein</a:t>
            </a:r>
            <a:endParaRPr lang="en-US" sz="1700" dirty="0" smtClean="0"/>
          </a:p>
          <a:p>
            <a:pPr lvl="1"/>
            <a:r>
              <a:rPr lang="en-US" sz="1700" dirty="0" smtClean="0"/>
              <a:t>Stefan </a:t>
            </a:r>
            <a:r>
              <a:rPr lang="en-US" sz="1700" dirty="0" err="1" smtClean="0"/>
              <a:t>Zörner</a:t>
            </a:r>
            <a:endParaRPr lang="en-US" sz="1700" dirty="0" smtClean="0"/>
          </a:p>
          <a:p>
            <a:pPr lvl="1"/>
            <a:r>
              <a:rPr lang="en-US" sz="1700" dirty="0" smtClean="0"/>
              <a:t>…………..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536" y="1296790"/>
            <a:ext cx="2998251" cy="418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7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Copyright	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</a:p>
          <a:p>
            <a:pPr lvl="1"/>
            <a:r>
              <a:rPr lang="en-US" dirty="0" smtClean="0"/>
              <a:t>No license file exists!</a:t>
            </a:r>
          </a:p>
          <a:p>
            <a:pPr lvl="1"/>
            <a:r>
              <a:rPr lang="en-US" dirty="0" smtClean="0"/>
              <a:t>CFS++ is considered open source as it has been developed, and is still developed by projects funded by public research agencies!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Gentleman’s agreement</a:t>
            </a:r>
          </a:p>
          <a:p>
            <a:pPr lvl="1"/>
            <a:r>
              <a:rPr lang="en-US" dirty="0" smtClean="0"/>
              <a:t>CFS++ shall not be publicly available</a:t>
            </a:r>
          </a:p>
          <a:p>
            <a:pPr lvl="1"/>
            <a:r>
              <a:rPr lang="en-US" dirty="0" smtClean="0"/>
              <a:t>Manfred </a:t>
            </a:r>
            <a:r>
              <a:rPr lang="en-US" dirty="0" err="1" smtClean="0"/>
              <a:t>Kaltenbacher</a:t>
            </a:r>
            <a:r>
              <a:rPr lang="en-US" dirty="0" smtClean="0"/>
              <a:t> is informed prior to distribution</a:t>
            </a:r>
          </a:p>
          <a:p>
            <a:pPr lvl="1"/>
            <a:r>
              <a:rPr lang="en-US" dirty="0" smtClean="0"/>
              <a:t>Development server (SVN, </a:t>
            </a:r>
            <a:r>
              <a:rPr lang="en-US" dirty="0" err="1" smtClean="0"/>
              <a:t>Trac</a:t>
            </a:r>
            <a:r>
              <a:rPr lang="en-US" dirty="0" smtClean="0"/>
              <a:t>, etc.) in Erlangen</a:t>
            </a:r>
          </a:p>
          <a:p>
            <a:pPr lvl="1"/>
            <a:r>
              <a:rPr lang="en-US" dirty="0" smtClean="0"/>
              <a:t>Development approach</a:t>
            </a:r>
          </a:p>
          <a:p>
            <a:pPr lvl="2"/>
            <a:r>
              <a:rPr lang="en-US" dirty="0" smtClean="0"/>
              <a:t>Everybody works on own branches</a:t>
            </a:r>
          </a:p>
          <a:p>
            <a:pPr lvl="2"/>
            <a:r>
              <a:rPr lang="en-US" dirty="0" smtClean="0"/>
              <a:t>Test cases prevent side effects</a:t>
            </a:r>
          </a:p>
          <a:p>
            <a:pPr lvl="2"/>
            <a:r>
              <a:rPr lang="en-US" dirty="0" smtClean="0"/>
              <a:t>Not everything ends on the trunk</a:t>
            </a:r>
          </a:p>
          <a:p>
            <a:pPr lvl="2"/>
            <a:endParaRPr lang="en-US" dirty="0" smtClean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7" name="Gerade Verbindung mit Pfeil 6"/>
          <p:cNvCxnSpPr/>
          <p:nvPr/>
        </p:nvCxnSpPr>
        <p:spPr>
          <a:xfrm flipV="1">
            <a:off x="7267575" y="2428875"/>
            <a:ext cx="0" cy="371066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/>
        </p:nvSpPr>
        <p:spPr>
          <a:xfrm>
            <a:off x="7181850" y="5968094"/>
            <a:ext cx="171450" cy="171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/>
          <p:cNvSpPr/>
          <p:nvPr/>
        </p:nvSpPr>
        <p:spPr>
          <a:xfrm>
            <a:off x="7181850" y="5335634"/>
            <a:ext cx="171450" cy="171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/>
          <p:cNvSpPr/>
          <p:nvPr/>
        </p:nvSpPr>
        <p:spPr>
          <a:xfrm>
            <a:off x="7181850" y="4703174"/>
            <a:ext cx="171450" cy="171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/>
          <p:cNvSpPr/>
          <p:nvPr/>
        </p:nvSpPr>
        <p:spPr>
          <a:xfrm>
            <a:off x="7181850" y="4070714"/>
            <a:ext cx="171450" cy="171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Ellipse 11"/>
          <p:cNvSpPr/>
          <p:nvPr/>
        </p:nvSpPr>
        <p:spPr>
          <a:xfrm>
            <a:off x="7181850" y="3438254"/>
            <a:ext cx="171450" cy="171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/>
          <p:cNvSpPr/>
          <p:nvPr/>
        </p:nvSpPr>
        <p:spPr>
          <a:xfrm>
            <a:off x="7181850" y="2805794"/>
            <a:ext cx="171450" cy="171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5" name="Gerade Verbindung mit Pfeil 14"/>
          <p:cNvCxnSpPr>
            <a:stCxn id="9" idx="6"/>
            <a:endCxn id="17" idx="2"/>
          </p:cNvCxnSpPr>
          <p:nvPr/>
        </p:nvCxnSpPr>
        <p:spPr>
          <a:xfrm flipV="1">
            <a:off x="7353300" y="5123908"/>
            <a:ext cx="590303" cy="297451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lipse 16"/>
          <p:cNvSpPr/>
          <p:nvPr/>
        </p:nvSpPr>
        <p:spPr>
          <a:xfrm>
            <a:off x="7943603" y="5038183"/>
            <a:ext cx="171450" cy="171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" name="Gerade Verbindung mit Pfeil 17"/>
          <p:cNvCxnSpPr>
            <a:stCxn id="17" idx="0"/>
            <a:endCxn id="20" idx="4"/>
          </p:cNvCxnSpPr>
          <p:nvPr/>
        </p:nvCxnSpPr>
        <p:spPr>
          <a:xfrm flipV="1">
            <a:off x="8029328" y="4533629"/>
            <a:ext cx="0" cy="50455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e 19"/>
          <p:cNvSpPr/>
          <p:nvPr/>
        </p:nvSpPr>
        <p:spPr>
          <a:xfrm>
            <a:off x="7943603" y="4362179"/>
            <a:ext cx="171450" cy="171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2" name="Gerade Verbindung mit Pfeil 21"/>
          <p:cNvCxnSpPr>
            <a:stCxn id="20" idx="2"/>
            <a:endCxn id="11" idx="6"/>
          </p:cNvCxnSpPr>
          <p:nvPr/>
        </p:nvCxnSpPr>
        <p:spPr>
          <a:xfrm flipH="1" flipV="1">
            <a:off x="7353300" y="4156439"/>
            <a:ext cx="590303" cy="291465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/>
          <p:cNvCxnSpPr>
            <a:stCxn id="10" idx="2"/>
            <a:endCxn id="26" idx="3"/>
          </p:cNvCxnSpPr>
          <p:nvPr/>
        </p:nvCxnSpPr>
        <p:spPr>
          <a:xfrm flipH="1" flipV="1">
            <a:off x="6565945" y="4440211"/>
            <a:ext cx="615905" cy="348688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lipse 25"/>
          <p:cNvSpPr/>
          <p:nvPr/>
        </p:nvSpPr>
        <p:spPr>
          <a:xfrm flipH="1">
            <a:off x="6419603" y="4293869"/>
            <a:ext cx="171450" cy="171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7" name="Gerade Verbindung mit Pfeil 26"/>
          <p:cNvCxnSpPr>
            <a:stCxn id="26" idx="0"/>
            <a:endCxn id="28" idx="4"/>
          </p:cNvCxnSpPr>
          <p:nvPr/>
        </p:nvCxnSpPr>
        <p:spPr>
          <a:xfrm flipV="1">
            <a:off x="6505328" y="3951240"/>
            <a:ext cx="0" cy="34262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lipse 27"/>
          <p:cNvSpPr/>
          <p:nvPr/>
        </p:nvSpPr>
        <p:spPr>
          <a:xfrm flipH="1">
            <a:off x="6419603" y="3779790"/>
            <a:ext cx="171450" cy="171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9" name="Gerade Verbindung mit Pfeil 28"/>
          <p:cNvCxnSpPr>
            <a:stCxn id="53" idx="1"/>
            <a:endCxn id="13" idx="2"/>
          </p:cNvCxnSpPr>
          <p:nvPr/>
        </p:nvCxnSpPr>
        <p:spPr>
          <a:xfrm flipV="1">
            <a:off x="6565945" y="2891519"/>
            <a:ext cx="615905" cy="338581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feld 30"/>
          <p:cNvSpPr txBox="1"/>
          <p:nvPr/>
        </p:nvSpPr>
        <p:spPr>
          <a:xfrm>
            <a:off x="7391153" y="5897728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t</a:t>
            </a:r>
            <a:r>
              <a:rPr lang="de-DE" dirty="0" err="1" smtClean="0"/>
              <a:t>runk</a:t>
            </a:r>
            <a:endParaRPr lang="de-DE" dirty="0"/>
          </a:p>
        </p:txBody>
      </p:sp>
      <p:sp>
        <p:nvSpPr>
          <p:cNvPr id="32" name="Textfeld 31"/>
          <p:cNvSpPr txBox="1"/>
          <p:nvPr/>
        </p:nvSpPr>
        <p:spPr>
          <a:xfrm>
            <a:off x="8105528" y="4614555"/>
            <a:ext cx="75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/>
              <a:t>task</a:t>
            </a:r>
            <a:r>
              <a:rPr lang="de-DE" dirty="0" smtClean="0"/>
              <a:t> 1</a:t>
            </a:r>
            <a:endParaRPr lang="de-DE" dirty="0"/>
          </a:p>
        </p:txBody>
      </p:sp>
      <p:sp>
        <p:nvSpPr>
          <p:cNvPr id="33" name="Textfeld 32"/>
          <p:cNvSpPr txBox="1"/>
          <p:nvPr/>
        </p:nvSpPr>
        <p:spPr>
          <a:xfrm>
            <a:off x="5686325" y="3376442"/>
            <a:ext cx="733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/>
              <a:t>task</a:t>
            </a:r>
            <a:r>
              <a:rPr lang="de-DE" dirty="0" smtClean="0"/>
              <a:t> 2</a:t>
            </a:r>
            <a:endParaRPr lang="de-DE" dirty="0"/>
          </a:p>
        </p:txBody>
      </p:sp>
      <p:sp>
        <p:nvSpPr>
          <p:cNvPr id="34" name="Textfeld 33"/>
          <p:cNvSpPr txBox="1"/>
          <p:nvPr/>
        </p:nvSpPr>
        <p:spPr>
          <a:xfrm>
            <a:off x="7523255" y="5312367"/>
            <a:ext cx="833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solidFill>
                  <a:schemeClr val="tx2">
                    <a:lumMod val="75000"/>
                  </a:schemeClr>
                </a:solidFill>
              </a:rPr>
              <a:t>branch</a:t>
            </a:r>
            <a:endParaRPr lang="de-DE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5" name="Textfeld 34"/>
          <p:cNvSpPr txBox="1"/>
          <p:nvPr/>
        </p:nvSpPr>
        <p:spPr>
          <a:xfrm>
            <a:off x="6148972" y="4644517"/>
            <a:ext cx="833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solidFill>
                  <a:schemeClr val="tx2">
                    <a:lumMod val="75000"/>
                  </a:schemeClr>
                </a:solidFill>
              </a:rPr>
              <a:t>branch</a:t>
            </a:r>
            <a:endParaRPr lang="de-DE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6" name="Textfeld 35"/>
          <p:cNvSpPr txBox="1"/>
          <p:nvPr/>
        </p:nvSpPr>
        <p:spPr>
          <a:xfrm>
            <a:off x="6199086" y="2621128"/>
            <a:ext cx="783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solidFill>
                  <a:schemeClr val="tx2">
                    <a:lumMod val="75000"/>
                  </a:schemeClr>
                </a:solidFill>
              </a:rPr>
              <a:t>merge</a:t>
            </a:r>
            <a:endParaRPr lang="de-DE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7" name="Textfeld 36"/>
          <p:cNvSpPr txBox="1"/>
          <p:nvPr/>
        </p:nvSpPr>
        <p:spPr>
          <a:xfrm>
            <a:off x="7573268" y="3905081"/>
            <a:ext cx="783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solidFill>
                  <a:schemeClr val="tx2">
                    <a:lumMod val="75000"/>
                  </a:schemeClr>
                </a:solidFill>
              </a:rPr>
              <a:t>merge</a:t>
            </a:r>
            <a:endParaRPr lang="de-DE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8" name="Textfeld 37"/>
          <p:cNvSpPr txBox="1"/>
          <p:nvPr/>
        </p:nvSpPr>
        <p:spPr>
          <a:xfrm>
            <a:off x="7350964" y="235267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time</a:t>
            </a:r>
            <a:endParaRPr lang="de-DE" dirty="0"/>
          </a:p>
        </p:txBody>
      </p:sp>
      <p:cxnSp>
        <p:nvCxnSpPr>
          <p:cNvPr id="52" name="Gerade Verbindung mit Pfeil 51"/>
          <p:cNvCxnSpPr>
            <a:stCxn id="28" idx="0"/>
            <a:endCxn id="53" idx="4"/>
          </p:cNvCxnSpPr>
          <p:nvPr/>
        </p:nvCxnSpPr>
        <p:spPr>
          <a:xfrm flipV="1">
            <a:off x="6505328" y="3376442"/>
            <a:ext cx="0" cy="40334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lipse 52"/>
          <p:cNvSpPr/>
          <p:nvPr/>
        </p:nvSpPr>
        <p:spPr>
          <a:xfrm flipH="1">
            <a:off x="6419603" y="3204992"/>
            <a:ext cx="171450" cy="17145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/>
          <p:cNvSpPr txBox="1"/>
          <p:nvPr/>
        </p:nvSpPr>
        <p:spPr>
          <a:xfrm>
            <a:off x="6138690" y="5881357"/>
            <a:ext cx="1160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revision</a:t>
            </a:r>
            <a:r>
              <a:rPr lang="de-DE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 1</a:t>
            </a:r>
            <a:endParaRPr lang="de-DE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5" name="Textfeld 64"/>
          <p:cNvSpPr txBox="1"/>
          <p:nvPr/>
        </p:nvSpPr>
        <p:spPr>
          <a:xfrm>
            <a:off x="6724403" y="5236693"/>
            <a:ext cx="469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r. 2</a:t>
            </a:r>
            <a:endParaRPr lang="de-DE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6" name="Textfeld 65"/>
          <p:cNvSpPr txBox="1"/>
          <p:nvPr/>
        </p:nvSpPr>
        <p:spPr>
          <a:xfrm>
            <a:off x="8112755" y="4924240"/>
            <a:ext cx="469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r. 3</a:t>
            </a:r>
            <a:endParaRPr lang="de-DE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8" name="Textfeld 67"/>
          <p:cNvSpPr txBox="1"/>
          <p:nvPr/>
        </p:nvSpPr>
        <p:spPr>
          <a:xfrm>
            <a:off x="7313613" y="4601240"/>
            <a:ext cx="469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r. 4</a:t>
            </a:r>
            <a:endParaRPr lang="de-DE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9" name="Textfeld 68"/>
          <p:cNvSpPr txBox="1"/>
          <p:nvPr/>
        </p:nvSpPr>
        <p:spPr>
          <a:xfrm>
            <a:off x="5975178" y="4194928"/>
            <a:ext cx="469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r. 5</a:t>
            </a:r>
            <a:endParaRPr lang="de-DE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0" name="Textfeld 69"/>
          <p:cNvSpPr txBox="1"/>
          <p:nvPr/>
        </p:nvSpPr>
        <p:spPr>
          <a:xfrm>
            <a:off x="8099616" y="4242164"/>
            <a:ext cx="469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r. 6</a:t>
            </a:r>
            <a:endParaRPr lang="de-DE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1" name="Textfeld 70"/>
          <p:cNvSpPr txBox="1"/>
          <p:nvPr/>
        </p:nvSpPr>
        <p:spPr>
          <a:xfrm>
            <a:off x="6756445" y="3971773"/>
            <a:ext cx="469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r. 7</a:t>
            </a:r>
            <a:endParaRPr lang="de-DE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2" name="Textfeld 71"/>
          <p:cNvSpPr txBox="1"/>
          <p:nvPr/>
        </p:nvSpPr>
        <p:spPr>
          <a:xfrm>
            <a:off x="6591656" y="3720432"/>
            <a:ext cx="469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r. 8</a:t>
            </a:r>
            <a:endParaRPr lang="de-DE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3" name="Textfeld 72"/>
          <p:cNvSpPr txBox="1"/>
          <p:nvPr/>
        </p:nvSpPr>
        <p:spPr>
          <a:xfrm>
            <a:off x="7385385" y="3348838"/>
            <a:ext cx="469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r. 9</a:t>
            </a:r>
            <a:endParaRPr lang="de-DE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4" name="Textfeld 73"/>
          <p:cNvSpPr txBox="1"/>
          <p:nvPr/>
        </p:nvSpPr>
        <p:spPr>
          <a:xfrm>
            <a:off x="6563081" y="3115576"/>
            <a:ext cx="58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r. 10</a:t>
            </a:r>
            <a:endParaRPr lang="de-DE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5" name="Textfeld 74"/>
          <p:cNvSpPr txBox="1"/>
          <p:nvPr/>
        </p:nvSpPr>
        <p:spPr>
          <a:xfrm>
            <a:off x="7343775" y="2716698"/>
            <a:ext cx="58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r. 11</a:t>
            </a:r>
            <a:endParaRPr lang="de-DE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76" name="Gerade Verbindung mit Pfeil 75"/>
          <p:cNvCxnSpPr>
            <a:stCxn id="28" idx="2"/>
            <a:endCxn id="12" idx="2"/>
          </p:cNvCxnSpPr>
          <p:nvPr/>
        </p:nvCxnSpPr>
        <p:spPr>
          <a:xfrm flipV="1">
            <a:off x="6591053" y="3523979"/>
            <a:ext cx="590797" cy="341536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9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7" grpId="0" animBg="1"/>
      <p:bldP spid="20" grpId="0" animBg="1"/>
      <p:bldP spid="26" grpId="0" animBg="1"/>
      <p:bldP spid="28" grpId="0" animBg="1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53" grpId="0" animBg="1"/>
      <p:bldP spid="64" grpId="0"/>
      <p:bldP spid="65" grpId="0"/>
      <p:bldP spid="66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CFS++ - Schema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Model:</a:t>
            </a:r>
            <a:r>
              <a:rPr lang="en-US" dirty="0" smtClean="0"/>
              <a:t> mesh data</a:t>
            </a:r>
          </a:p>
          <a:p>
            <a:r>
              <a:rPr lang="en-US" b="1" dirty="0" smtClean="0"/>
              <a:t>Problem:</a:t>
            </a:r>
            <a:r>
              <a:rPr lang="en-US" dirty="0" smtClean="0"/>
              <a:t> XML file defining problem and physical properties</a:t>
            </a:r>
          </a:p>
          <a:p>
            <a:r>
              <a:rPr lang="en-US" b="1" dirty="0" smtClean="0"/>
              <a:t>CFS++: </a:t>
            </a:r>
            <a:r>
              <a:rPr lang="en-US" dirty="0" smtClean="0"/>
              <a:t>command line based FEM solver/ optimizer</a:t>
            </a:r>
          </a:p>
          <a:p>
            <a:r>
              <a:rPr lang="en-US" b="1" dirty="0" err="1" smtClean="0"/>
              <a:t>Postprocessing</a:t>
            </a:r>
            <a:r>
              <a:rPr lang="en-US" dirty="0" smtClean="0"/>
              <a:t>: visualization and calculations</a:t>
            </a:r>
          </a:p>
          <a:p>
            <a:r>
              <a:rPr lang="en-US" b="1" dirty="0" smtClean="0"/>
              <a:t>Text:</a:t>
            </a:r>
            <a:r>
              <a:rPr lang="en-US" dirty="0" smtClean="0"/>
              <a:t> detailed information in ASCII, CSV or XML format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Geschweifte Klammer links 5"/>
          <p:cNvSpPr/>
          <p:nvPr/>
        </p:nvSpPr>
        <p:spPr>
          <a:xfrm rot="16200000">
            <a:off x="1371599" y="3817419"/>
            <a:ext cx="421575" cy="2440379"/>
          </a:xfrm>
          <a:prstGeom prst="leftBrac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schweifte Klammer links 6"/>
          <p:cNvSpPr/>
          <p:nvPr/>
        </p:nvSpPr>
        <p:spPr>
          <a:xfrm rot="16200000">
            <a:off x="7396348" y="3750126"/>
            <a:ext cx="459180" cy="2537360"/>
          </a:xfrm>
          <a:prstGeom prst="leftBrac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/>
          <p:cNvSpPr txBox="1"/>
          <p:nvPr/>
        </p:nvSpPr>
        <p:spPr>
          <a:xfrm>
            <a:off x="758495" y="5282043"/>
            <a:ext cx="16678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Preprocessing</a:t>
            </a:r>
          </a:p>
          <a:p>
            <a:pPr algn="ctr"/>
            <a:r>
              <a:rPr lang="en-US" sz="1400" dirty="0" smtClean="0"/>
              <a:t>(e.g. ANSYS, </a:t>
            </a:r>
            <a:r>
              <a:rPr lang="en-US" sz="1400" dirty="0" err="1" smtClean="0"/>
              <a:t>Gmsh</a:t>
            </a:r>
            <a:r>
              <a:rPr lang="en-US" sz="1400" dirty="0" smtClean="0"/>
              <a:t>, </a:t>
            </a:r>
          </a:p>
          <a:p>
            <a:pPr algn="ctr"/>
            <a:r>
              <a:rPr lang="en-US" sz="1400" dirty="0" err="1" smtClean="0"/>
              <a:t>GiD</a:t>
            </a:r>
            <a:r>
              <a:rPr lang="en-US" sz="1400" dirty="0" smtClean="0"/>
              <a:t>, COMSOL, etc.)</a:t>
            </a:r>
            <a:endParaRPr lang="en-US" sz="1400" dirty="0"/>
          </a:p>
        </p:txBody>
      </p:sp>
      <p:sp>
        <p:nvSpPr>
          <p:cNvPr id="9" name="Textfeld 8"/>
          <p:cNvSpPr txBox="1"/>
          <p:nvPr/>
        </p:nvSpPr>
        <p:spPr>
          <a:xfrm>
            <a:off x="6745053" y="5282043"/>
            <a:ext cx="17711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err="1" smtClean="0"/>
              <a:t>Postprocessing</a:t>
            </a:r>
            <a:endParaRPr lang="en-US" sz="2000" b="1" dirty="0" smtClean="0"/>
          </a:p>
          <a:p>
            <a:pPr algn="ctr"/>
            <a:r>
              <a:rPr lang="en-US" sz="1400" dirty="0" smtClean="0"/>
              <a:t>(e.g. </a:t>
            </a:r>
            <a:r>
              <a:rPr lang="en-US" sz="1400" dirty="0" err="1" smtClean="0"/>
              <a:t>ParaView</a:t>
            </a:r>
            <a:r>
              <a:rPr lang="en-US" sz="1400" dirty="0" smtClean="0"/>
              <a:t>, </a:t>
            </a:r>
            <a:r>
              <a:rPr lang="en-US" sz="1400" dirty="0" err="1" smtClean="0"/>
              <a:t>GiD</a:t>
            </a:r>
            <a:r>
              <a:rPr lang="en-US" sz="1400" dirty="0" smtClean="0"/>
              <a:t>,</a:t>
            </a:r>
          </a:p>
          <a:p>
            <a:pPr algn="ctr"/>
            <a:r>
              <a:rPr lang="en-US" sz="1400" dirty="0" err="1" smtClean="0"/>
              <a:t>Matlab</a:t>
            </a:r>
            <a:r>
              <a:rPr lang="en-US" sz="1400" dirty="0" smtClean="0"/>
              <a:t>, Python, etc.)</a:t>
            </a:r>
            <a:endParaRPr lang="en-US" sz="1400" dirty="0"/>
          </a:p>
        </p:txBody>
      </p:sp>
      <p:sp>
        <p:nvSpPr>
          <p:cNvPr id="10" name="Abgerundetes Rechteck 9"/>
          <p:cNvSpPr/>
          <p:nvPr/>
        </p:nvSpPr>
        <p:spPr>
          <a:xfrm>
            <a:off x="514350" y="3057525"/>
            <a:ext cx="1115211" cy="581025"/>
          </a:xfrm>
          <a:prstGeom prst="roundRect">
            <a:avLst/>
          </a:prstGeom>
          <a:ln w="254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 smtClean="0"/>
              <a:t>Model</a:t>
            </a:r>
            <a:endParaRPr lang="de-DE" sz="2000" b="1" dirty="0"/>
          </a:p>
        </p:txBody>
      </p:sp>
      <p:sp>
        <p:nvSpPr>
          <p:cNvPr id="11" name="Abgerundetes Rechteck 10"/>
          <p:cNvSpPr/>
          <p:nvPr/>
        </p:nvSpPr>
        <p:spPr>
          <a:xfrm>
            <a:off x="285751" y="3935163"/>
            <a:ext cx="1296636" cy="581025"/>
          </a:xfrm>
          <a:prstGeom prst="roundRect">
            <a:avLst/>
          </a:prstGeom>
          <a:ln w="254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 smtClean="0"/>
              <a:t>Problem</a:t>
            </a:r>
            <a:endParaRPr lang="de-DE" sz="2000" b="1" dirty="0"/>
          </a:p>
        </p:txBody>
      </p:sp>
      <p:sp>
        <p:nvSpPr>
          <p:cNvPr id="12" name="Abgerundetes Rechteck 11"/>
          <p:cNvSpPr/>
          <p:nvPr/>
        </p:nvSpPr>
        <p:spPr>
          <a:xfrm>
            <a:off x="6826333" y="3935163"/>
            <a:ext cx="799605" cy="581025"/>
          </a:xfrm>
          <a:prstGeom prst="roundRect">
            <a:avLst/>
          </a:prstGeom>
          <a:ln w="254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 smtClean="0"/>
              <a:t>Text</a:t>
            </a:r>
            <a:endParaRPr lang="de-DE" sz="2000" b="1" dirty="0"/>
          </a:p>
        </p:txBody>
      </p:sp>
      <p:sp>
        <p:nvSpPr>
          <p:cNvPr id="13" name="Abgerundetes Rechteck 12"/>
          <p:cNvSpPr/>
          <p:nvPr/>
        </p:nvSpPr>
        <p:spPr>
          <a:xfrm>
            <a:off x="6842042" y="3057523"/>
            <a:ext cx="2155743" cy="581025"/>
          </a:xfrm>
          <a:prstGeom prst="roundRect">
            <a:avLst/>
          </a:prstGeom>
          <a:ln w="2540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 err="1" smtClean="0"/>
              <a:t>Postprocessing</a:t>
            </a:r>
            <a:endParaRPr lang="de-DE" sz="2000" b="1" dirty="0"/>
          </a:p>
        </p:txBody>
      </p:sp>
      <p:sp>
        <p:nvSpPr>
          <p:cNvPr id="14" name="Abgerundetes Rechteck 13"/>
          <p:cNvSpPr/>
          <p:nvPr/>
        </p:nvSpPr>
        <p:spPr>
          <a:xfrm>
            <a:off x="3275364" y="3057525"/>
            <a:ext cx="1887186" cy="1458663"/>
          </a:xfrm>
          <a:prstGeom prst="roundRect">
            <a:avLst/>
          </a:prstGeom>
          <a:ln w="254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3200" b="1" dirty="0" smtClean="0"/>
              <a:t>CFS++</a:t>
            </a:r>
            <a:endParaRPr lang="de-DE" sz="3200" b="1" dirty="0"/>
          </a:p>
        </p:txBody>
      </p:sp>
      <p:sp>
        <p:nvSpPr>
          <p:cNvPr id="15" name="Pfeil nach rechts 14"/>
          <p:cNvSpPr/>
          <p:nvPr/>
        </p:nvSpPr>
        <p:spPr>
          <a:xfrm>
            <a:off x="1972938" y="3129925"/>
            <a:ext cx="1056012" cy="441575"/>
          </a:xfrm>
          <a:prstGeom prst="rightArrow">
            <a:avLst>
              <a:gd name="adj1" fmla="val 41372"/>
              <a:gd name="adj2" fmla="val 6509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Pfeil nach rechts 15"/>
          <p:cNvSpPr/>
          <p:nvPr/>
        </p:nvSpPr>
        <p:spPr>
          <a:xfrm>
            <a:off x="1972938" y="4004887"/>
            <a:ext cx="1056012" cy="441575"/>
          </a:xfrm>
          <a:prstGeom prst="rightArrow">
            <a:avLst>
              <a:gd name="adj1" fmla="val 41372"/>
              <a:gd name="adj2" fmla="val 6509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Pfeil nach rechts 16"/>
          <p:cNvSpPr/>
          <p:nvPr/>
        </p:nvSpPr>
        <p:spPr>
          <a:xfrm>
            <a:off x="5535288" y="4000123"/>
            <a:ext cx="1056012" cy="441575"/>
          </a:xfrm>
          <a:prstGeom prst="rightArrow">
            <a:avLst>
              <a:gd name="adj1" fmla="val 41372"/>
              <a:gd name="adj2" fmla="val 6509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Pfeil nach rechts 17"/>
          <p:cNvSpPr/>
          <p:nvPr/>
        </p:nvSpPr>
        <p:spPr>
          <a:xfrm>
            <a:off x="5535288" y="3127249"/>
            <a:ext cx="1056012" cy="441575"/>
          </a:xfrm>
          <a:prstGeom prst="rightArrow">
            <a:avLst>
              <a:gd name="adj1" fmla="val 41372"/>
              <a:gd name="adj2" fmla="val 6509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94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CFS++: General Approach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CFS++ (Coupled Field Simulation):</a:t>
            </a:r>
          </a:p>
          <a:p>
            <a:pPr lvl="1"/>
            <a:r>
              <a:rPr lang="en-US" dirty="0"/>
              <a:t>Models: Based on partial differential equations (PDEs)</a:t>
            </a:r>
          </a:p>
          <a:p>
            <a:pPr lvl="1"/>
            <a:r>
              <a:rPr lang="en-US" dirty="0"/>
              <a:t>Solution of PDEs: Finite-Element-Method</a:t>
            </a:r>
          </a:p>
          <a:p>
            <a:pPr lvl="1"/>
            <a:r>
              <a:rPr lang="en-US" dirty="0"/>
              <a:t>Example: Structure for </a:t>
            </a:r>
            <a:r>
              <a:rPr lang="en-US" dirty="0" smtClean="0"/>
              <a:t>piezoelectric-acoustic </a:t>
            </a:r>
            <a:r>
              <a:rPr lang="en-US" dirty="0"/>
              <a:t>coupled PDEs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196850" y="2357438"/>
            <a:ext cx="8896350" cy="3983037"/>
            <a:chOff x="124" y="1485"/>
            <a:chExt cx="5604" cy="2509"/>
          </a:xfrm>
        </p:grpSpPr>
        <p:pic>
          <p:nvPicPr>
            <p:cNvPr id="6" name="Picture 5" descr="coupled-syste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576"/>
            <a:stretch>
              <a:fillRect/>
            </a:stretch>
          </p:blipFill>
          <p:spPr bwMode="auto">
            <a:xfrm>
              <a:off x="124" y="1485"/>
              <a:ext cx="5604" cy="2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" descr="coupled-syste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15" t="86528" r="6165"/>
            <a:stretch>
              <a:fillRect/>
            </a:stretch>
          </p:blipFill>
          <p:spPr bwMode="auto">
            <a:xfrm>
              <a:off x="4508" y="3652"/>
              <a:ext cx="1220" cy="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2241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CFS++: General Approach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CFS++ (Coupled Field Simulation):</a:t>
            </a:r>
          </a:p>
          <a:p>
            <a:pPr lvl="1"/>
            <a:r>
              <a:rPr lang="en-US" dirty="0"/>
              <a:t>Models: Based on partial differential equations (PDEs)</a:t>
            </a:r>
          </a:p>
          <a:p>
            <a:pPr lvl="1"/>
            <a:r>
              <a:rPr lang="en-US" dirty="0"/>
              <a:t>Solution of PDEs: Finite-Element-Method</a:t>
            </a:r>
          </a:p>
          <a:p>
            <a:pPr lvl="1"/>
            <a:r>
              <a:rPr lang="en-US" dirty="0"/>
              <a:t>Example: Structure for </a:t>
            </a:r>
            <a:r>
              <a:rPr lang="en-US" dirty="0" smtClean="0"/>
              <a:t>piezoelectric-acoustic </a:t>
            </a:r>
            <a:r>
              <a:rPr lang="en-US" dirty="0"/>
              <a:t>coupled PDEs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Picture 8" descr="coupled-syst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05" t="12276" b="15106"/>
          <a:stretch>
            <a:fillRect/>
          </a:stretch>
        </p:blipFill>
        <p:spPr bwMode="auto">
          <a:xfrm>
            <a:off x="1863725" y="2384425"/>
            <a:ext cx="4468813" cy="383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69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CFS++: General Approach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CFS++ (Coupled Field Simulation):</a:t>
            </a:r>
          </a:p>
          <a:p>
            <a:pPr lvl="1"/>
            <a:r>
              <a:rPr lang="en-US" dirty="0" smtClean="0"/>
              <a:t>Coupling: Electrostatics-Mechanics-Acoustics (MEMS)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5" name="Group 75"/>
          <p:cNvGrpSpPr>
            <a:grpSpLocks/>
          </p:cNvGrpSpPr>
          <p:nvPr/>
        </p:nvGrpSpPr>
        <p:grpSpPr bwMode="auto">
          <a:xfrm>
            <a:off x="247650" y="1601829"/>
            <a:ext cx="8896350" cy="4357687"/>
            <a:chOff x="108" y="1211"/>
            <a:chExt cx="5604" cy="2745"/>
          </a:xfrm>
        </p:grpSpPr>
        <p:grpSp>
          <p:nvGrpSpPr>
            <p:cNvPr id="6" name="Group 42"/>
            <p:cNvGrpSpPr>
              <a:grpSpLocks/>
            </p:cNvGrpSpPr>
            <p:nvPr/>
          </p:nvGrpSpPr>
          <p:grpSpPr bwMode="auto">
            <a:xfrm>
              <a:off x="108" y="1211"/>
              <a:ext cx="5604" cy="2745"/>
              <a:chOff x="116" y="670"/>
              <a:chExt cx="5604" cy="2934"/>
            </a:xfrm>
          </p:grpSpPr>
          <p:grpSp>
            <p:nvGrpSpPr>
              <p:cNvPr id="8" name="Group 43"/>
              <p:cNvGrpSpPr>
                <a:grpSpLocks/>
              </p:cNvGrpSpPr>
              <p:nvPr/>
            </p:nvGrpSpPr>
            <p:grpSpPr bwMode="auto">
              <a:xfrm>
                <a:off x="116" y="1053"/>
                <a:ext cx="5604" cy="2509"/>
                <a:chOff x="124" y="1485"/>
                <a:chExt cx="5604" cy="2509"/>
              </a:xfrm>
            </p:grpSpPr>
            <p:pic>
              <p:nvPicPr>
                <p:cNvPr id="37" name="Picture 44" descr="coupled-system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24576"/>
                <a:stretch>
                  <a:fillRect/>
                </a:stretch>
              </p:blipFill>
              <p:spPr bwMode="auto">
                <a:xfrm>
                  <a:off x="124" y="1485"/>
                  <a:ext cx="5604" cy="250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8" name="Picture 45" descr="coupled-system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7415" t="86528" r="6165"/>
                <a:stretch>
                  <a:fillRect/>
                </a:stretch>
              </p:blipFill>
              <p:spPr bwMode="auto">
                <a:xfrm>
                  <a:off x="4508" y="3652"/>
                  <a:ext cx="1220" cy="33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9" name="Rectangle 46"/>
              <p:cNvSpPr>
                <a:spLocks noChangeArrowheads="1"/>
              </p:cNvSpPr>
              <p:nvPr/>
            </p:nvSpPr>
            <p:spPr bwMode="auto">
              <a:xfrm>
                <a:off x="627" y="871"/>
                <a:ext cx="2864" cy="7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pic>
            <p:nvPicPr>
              <p:cNvPr id="10" name="Picture 47" descr="coupled-system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085" r="64050" b="76405"/>
              <a:stretch>
                <a:fillRect/>
              </a:stretch>
            </p:blipFill>
            <p:spPr bwMode="auto">
              <a:xfrm>
                <a:off x="1518" y="1056"/>
                <a:ext cx="1996" cy="5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Rectangle 48"/>
              <p:cNvSpPr>
                <a:spLocks noChangeArrowheads="1"/>
              </p:cNvSpPr>
              <p:nvPr/>
            </p:nvSpPr>
            <p:spPr bwMode="auto">
              <a:xfrm>
                <a:off x="587" y="1607"/>
                <a:ext cx="1220" cy="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2" name="Group 49"/>
              <p:cNvGrpSpPr>
                <a:grpSpLocks/>
              </p:cNvGrpSpPr>
              <p:nvPr/>
            </p:nvGrpSpPr>
            <p:grpSpPr bwMode="auto">
              <a:xfrm>
                <a:off x="980" y="670"/>
                <a:ext cx="1162" cy="509"/>
                <a:chOff x="980" y="670"/>
                <a:chExt cx="1162" cy="509"/>
              </a:xfrm>
            </p:grpSpPr>
            <p:pic>
              <p:nvPicPr>
                <p:cNvPr id="34" name="Picture 50" descr="coupled-system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0311" r="64050" b="79713"/>
                <a:stretch>
                  <a:fillRect/>
                </a:stretch>
              </p:blipFill>
              <p:spPr bwMode="auto">
                <a:xfrm>
                  <a:off x="980" y="670"/>
                  <a:ext cx="1162" cy="50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5" name="Rectangle 51"/>
                <p:cNvSpPr>
                  <a:spLocks noChangeArrowheads="1"/>
                </p:cNvSpPr>
                <p:nvPr/>
              </p:nvSpPr>
              <p:spPr bwMode="auto">
                <a:xfrm>
                  <a:off x="1113" y="707"/>
                  <a:ext cx="278" cy="1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1156" y="679"/>
                  <a:ext cx="279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400" dirty="0" err="1">
                      <a:latin typeface="Arial" pitchFamily="34" charset="0"/>
                      <a:cs typeface="Arial" pitchFamily="34" charset="0"/>
                    </a:rPr>
                    <a:t>Iter</a:t>
                  </a:r>
                  <a:endParaRPr lang="en-US" sz="1400" dirty="0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13" name="Group 53"/>
              <p:cNvGrpSpPr>
                <a:grpSpLocks/>
              </p:cNvGrpSpPr>
              <p:nvPr/>
            </p:nvGrpSpPr>
            <p:grpSpPr bwMode="auto">
              <a:xfrm>
                <a:off x="329" y="1857"/>
                <a:ext cx="738" cy="375"/>
                <a:chOff x="88" y="1258"/>
                <a:chExt cx="738" cy="375"/>
              </a:xfrm>
            </p:grpSpPr>
            <p:sp>
              <p:nvSpPr>
                <p:cNvPr id="30" name="Rectangle 54"/>
                <p:cNvSpPr>
                  <a:spLocks noChangeArrowheads="1"/>
                </p:cNvSpPr>
                <p:nvPr/>
              </p:nvSpPr>
              <p:spPr bwMode="auto">
                <a:xfrm>
                  <a:off x="88" y="1258"/>
                  <a:ext cx="728" cy="341"/>
                </a:xfrm>
                <a:prstGeom prst="rect">
                  <a:avLst/>
                </a:prstGeom>
                <a:solidFill>
                  <a:srgbClr val="FF00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55"/>
                <p:cNvSpPr>
                  <a:spLocks noChangeShapeType="1"/>
                </p:cNvSpPr>
                <p:nvPr/>
              </p:nvSpPr>
              <p:spPr bwMode="auto">
                <a:xfrm>
                  <a:off x="99" y="1440"/>
                  <a:ext cx="72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120" y="1258"/>
                  <a:ext cx="607" cy="2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400" dirty="0" err="1"/>
                    <a:t>ElecMech</a:t>
                  </a:r>
                  <a:endParaRPr lang="en-US" sz="1400" dirty="0"/>
                </a:p>
              </p:txBody>
            </p:sp>
            <p:sp>
              <p:nvSpPr>
                <p:cNvPr id="33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98" y="1427"/>
                  <a:ext cx="686" cy="2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400"/>
                    <a:t>-Linearform</a:t>
                  </a:r>
                </a:p>
              </p:txBody>
            </p:sp>
          </p:grpSp>
          <p:sp>
            <p:nvSpPr>
              <p:cNvPr id="14" name="Rectangle 58"/>
              <p:cNvSpPr>
                <a:spLocks noChangeArrowheads="1"/>
              </p:cNvSpPr>
              <p:nvPr/>
            </p:nvSpPr>
            <p:spPr bwMode="auto">
              <a:xfrm>
                <a:off x="455" y="2380"/>
                <a:ext cx="613" cy="205"/>
              </a:xfrm>
              <a:prstGeom prst="rect">
                <a:avLst/>
              </a:prstGeom>
              <a:solidFill>
                <a:srgbClr val="FF00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Text Box 59"/>
              <p:cNvSpPr txBox="1">
                <a:spLocks noChangeArrowheads="1"/>
              </p:cNvSpPr>
              <p:nvPr/>
            </p:nvSpPr>
            <p:spPr bwMode="auto">
              <a:xfrm>
                <a:off x="449" y="2381"/>
                <a:ext cx="619" cy="2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ElecForce</a:t>
                </a:r>
              </a:p>
            </p:txBody>
          </p:sp>
          <p:pic>
            <p:nvPicPr>
              <p:cNvPr id="16" name="Picture 60" descr="coupled-system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886" t="76445" r="55989"/>
              <a:stretch>
                <a:fillRect/>
              </a:stretch>
            </p:blipFill>
            <p:spPr bwMode="auto">
              <a:xfrm>
                <a:off x="276" y="2960"/>
                <a:ext cx="1421" cy="59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Rectangle 61"/>
              <p:cNvSpPr>
                <a:spLocks noChangeArrowheads="1"/>
              </p:cNvSpPr>
              <p:nvPr/>
            </p:nvSpPr>
            <p:spPr bwMode="auto">
              <a:xfrm>
                <a:off x="516" y="3180"/>
                <a:ext cx="615" cy="1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62"/>
              <p:cNvSpPr txBox="1">
                <a:spLocks noChangeArrowheads="1"/>
              </p:cNvSpPr>
              <p:nvPr/>
            </p:nvSpPr>
            <p:spPr bwMode="auto">
              <a:xfrm>
                <a:off x="494" y="3151"/>
                <a:ext cx="686" cy="2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LinearForm</a:t>
                </a:r>
              </a:p>
            </p:txBody>
          </p:sp>
          <p:sp>
            <p:nvSpPr>
              <p:cNvPr id="19" name="Rectangle 63"/>
              <p:cNvSpPr>
                <a:spLocks noChangeArrowheads="1"/>
              </p:cNvSpPr>
              <p:nvPr/>
            </p:nvSpPr>
            <p:spPr bwMode="auto">
              <a:xfrm>
                <a:off x="318" y="3363"/>
                <a:ext cx="819" cy="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Text Box 64"/>
              <p:cNvSpPr txBox="1">
                <a:spLocks noChangeArrowheads="1"/>
              </p:cNvSpPr>
              <p:nvPr/>
            </p:nvSpPr>
            <p:spPr bwMode="auto">
              <a:xfrm>
                <a:off x="284" y="3333"/>
                <a:ext cx="1055" cy="1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200"/>
                  <a:t>+CalcElementVector()</a:t>
                </a:r>
              </a:p>
            </p:txBody>
          </p:sp>
          <p:sp>
            <p:nvSpPr>
              <p:cNvPr id="21" name="Line 65"/>
              <p:cNvSpPr>
                <a:spLocks noChangeShapeType="1"/>
              </p:cNvSpPr>
              <p:nvPr/>
            </p:nvSpPr>
            <p:spPr bwMode="auto">
              <a:xfrm>
                <a:off x="1695" y="3249"/>
                <a:ext cx="3" cy="3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Line 66"/>
              <p:cNvSpPr>
                <a:spLocks noChangeShapeType="1"/>
              </p:cNvSpPr>
              <p:nvPr/>
            </p:nvSpPr>
            <p:spPr bwMode="auto">
              <a:xfrm>
                <a:off x="3372" y="3261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Line 67"/>
              <p:cNvSpPr>
                <a:spLocks noChangeShapeType="1"/>
              </p:cNvSpPr>
              <p:nvPr/>
            </p:nvSpPr>
            <p:spPr bwMode="auto">
              <a:xfrm flipV="1">
                <a:off x="1692" y="3598"/>
                <a:ext cx="1677" cy="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Line 68"/>
              <p:cNvSpPr>
                <a:spLocks noChangeShapeType="1"/>
              </p:cNvSpPr>
              <p:nvPr/>
            </p:nvSpPr>
            <p:spPr bwMode="auto">
              <a:xfrm flipH="1">
                <a:off x="3352" y="3268"/>
                <a:ext cx="6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Line 69"/>
              <p:cNvSpPr>
                <a:spLocks noChangeShapeType="1"/>
              </p:cNvSpPr>
              <p:nvPr/>
            </p:nvSpPr>
            <p:spPr bwMode="auto">
              <a:xfrm>
                <a:off x="672" y="1080"/>
                <a:ext cx="15" cy="6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Line 70"/>
              <p:cNvSpPr>
                <a:spLocks noChangeShapeType="1"/>
              </p:cNvSpPr>
              <p:nvPr/>
            </p:nvSpPr>
            <p:spPr bwMode="auto">
              <a:xfrm flipV="1">
                <a:off x="676" y="1080"/>
                <a:ext cx="413" cy="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Line 71"/>
              <p:cNvSpPr>
                <a:spLocks noChangeShapeType="1"/>
              </p:cNvSpPr>
              <p:nvPr/>
            </p:nvSpPr>
            <p:spPr bwMode="auto">
              <a:xfrm flipV="1">
                <a:off x="2116" y="963"/>
                <a:ext cx="1401" cy="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72"/>
              <p:cNvSpPr>
                <a:spLocks noChangeShapeType="1"/>
              </p:cNvSpPr>
              <p:nvPr/>
            </p:nvSpPr>
            <p:spPr bwMode="auto">
              <a:xfrm>
                <a:off x="3503" y="967"/>
                <a:ext cx="8" cy="3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Rectangle 74"/>
            <p:cNvSpPr>
              <a:spLocks noChangeArrowheads="1"/>
            </p:cNvSpPr>
            <p:nvPr/>
          </p:nvSpPr>
          <p:spPr bwMode="auto">
            <a:xfrm>
              <a:off x="1084" y="1243"/>
              <a:ext cx="926" cy="42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458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CFS++: General Approach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CFS++ (Coupled Field Simulation):</a:t>
            </a:r>
          </a:p>
          <a:p>
            <a:pPr lvl="1"/>
            <a:r>
              <a:rPr lang="en-US" smtClean="0"/>
              <a:t>Coupling: Electrostatics-Mechanics-Acoustics (MEMS)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39" name="Group 76"/>
          <p:cNvGrpSpPr>
            <a:grpSpLocks/>
          </p:cNvGrpSpPr>
          <p:nvPr/>
        </p:nvGrpSpPr>
        <p:grpSpPr bwMode="auto">
          <a:xfrm>
            <a:off x="1214438" y="1598242"/>
            <a:ext cx="5780128" cy="4339420"/>
            <a:chOff x="1167" y="751"/>
            <a:chExt cx="2815" cy="2415"/>
          </a:xfrm>
        </p:grpSpPr>
        <p:pic>
          <p:nvPicPr>
            <p:cNvPr id="40" name="Picture 77" descr="coupled-syste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505" t="12276" b="15106"/>
            <a:stretch>
              <a:fillRect/>
            </a:stretch>
          </p:blipFill>
          <p:spPr bwMode="auto">
            <a:xfrm>
              <a:off x="1167" y="751"/>
              <a:ext cx="2815" cy="2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78" descr="coupled-syste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59" t="55119" r="9833" b="17061"/>
            <a:stretch>
              <a:fillRect/>
            </a:stretch>
          </p:blipFill>
          <p:spPr bwMode="auto">
            <a:xfrm>
              <a:off x="2405" y="798"/>
              <a:ext cx="449" cy="9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79" descr="coupled-syste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210" t="43613" b="45868"/>
            <a:stretch>
              <a:fillRect/>
            </a:stretch>
          </p:blipFill>
          <p:spPr bwMode="auto">
            <a:xfrm>
              <a:off x="1237" y="1790"/>
              <a:ext cx="1170" cy="3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5473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CFS++: General Approach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CFS++ (Coupled Field Simulation):</a:t>
            </a:r>
          </a:p>
          <a:p>
            <a:pPr lvl="1"/>
            <a:r>
              <a:rPr lang="en-US" smtClean="0"/>
              <a:t>Coupling: Electrostatics-Mechanics-Acoustics (MEMS)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9" name="Picture 2" descr="elecmechn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02" y="1495687"/>
            <a:ext cx="6549572" cy="479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075" y="4892675"/>
            <a:ext cx="22352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Line 6"/>
          <p:cNvSpPr>
            <a:spLocks noChangeShapeType="1"/>
          </p:cNvSpPr>
          <p:nvPr/>
        </p:nvSpPr>
        <p:spPr bwMode="auto">
          <a:xfrm flipV="1">
            <a:off x="8334375" y="5486400"/>
            <a:ext cx="41275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2" name="Picture 7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0338" y="5956300"/>
            <a:ext cx="80486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354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CFS++: General Approach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3"/>
            <a:ext cx="8640960" cy="55173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Pre-processing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Supported pre-processors: </a:t>
            </a:r>
            <a:r>
              <a:rPr lang="en-US" dirty="0" smtClean="0"/>
              <a:t>ANSYS (Workbench), </a:t>
            </a:r>
            <a:r>
              <a:rPr lang="en-US" dirty="0" err="1"/>
              <a:t>GiD</a:t>
            </a:r>
            <a:r>
              <a:rPr lang="en-US" dirty="0"/>
              <a:t>, </a:t>
            </a:r>
            <a:r>
              <a:rPr lang="en-US" dirty="0" err="1" smtClean="0"/>
              <a:t>Gmsh</a:t>
            </a:r>
            <a:r>
              <a:rPr lang="en-US" dirty="0" smtClean="0"/>
              <a:t>, COMSOL, etc…</a:t>
            </a: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Physical problem </a:t>
            </a:r>
            <a:r>
              <a:rPr lang="en-US" dirty="0" smtClean="0"/>
              <a:t>description in XML format: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de-AT" sz="2800" dirty="0" smtClean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dirty="0"/>
              <a:t>Post-processing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Supported post-processors: </a:t>
            </a:r>
            <a:r>
              <a:rPr lang="en-US" dirty="0" err="1" smtClean="0"/>
              <a:t>ParaView</a:t>
            </a:r>
            <a:r>
              <a:rPr lang="en-US" dirty="0" smtClean="0"/>
              <a:t>, </a:t>
            </a:r>
            <a:r>
              <a:rPr lang="en-US" dirty="0" err="1"/>
              <a:t>GiD</a:t>
            </a:r>
            <a:r>
              <a:rPr lang="en-US" dirty="0"/>
              <a:t>, </a:t>
            </a:r>
            <a:r>
              <a:rPr lang="en-US" dirty="0" err="1" smtClean="0"/>
              <a:t>Gmsh</a:t>
            </a:r>
            <a:r>
              <a:rPr lang="en-US" dirty="0"/>
              <a:t>, </a:t>
            </a:r>
            <a:r>
              <a:rPr lang="en-US" dirty="0" smtClean="0"/>
              <a:t>GMV, </a:t>
            </a:r>
            <a:r>
              <a:rPr lang="en-US" dirty="0" err="1" smtClean="0"/>
              <a:t>EnSight</a:t>
            </a:r>
            <a:r>
              <a:rPr lang="en-US" dirty="0" smtClean="0"/>
              <a:t>, </a:t>
            </a:r>
            <a:r>
              <a:rPr lang="en-US" dirty="0" err="1" smtClean="0"/>
              <a:t>Tecplot</a:t>
            </a:r>
            <a:r>
              <a:rPr lang="en-US" dirty="0"/>
              <a:t>, ANSYS </a:t>
            </a:r>
            <a:r>
              <a:rPr lang="en-US" dirty="0" smtClean="0"/>
              <a:t>,…</a:t>
            </a:r>
            <a:endParaRPr lang="en-US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060450" y="1762125"/>
            <a:ext cx="7169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/>
              <a:t>Coordinates and mesh topology of all 3D (volume), 2D (surface) </a:t>
            </a:r>
            <a:br>
              <a:rPr lang="en-US"/>
            </a:br>
            <a:r>
              <a:rPr lang="en-US"/>
              <a:t>and 1D (interface) elements</a:t>
            </a:r>
          </a:p>
        </p:txBody>
      </p:sp>
      <p:sp>
        <p:nvSpPr>
          <p:cNvPr id="6" name="AutoShape 8"/>
          <p:cNvSpPr>
            <a:spLocks noChangeArrowheads="1"/>
          </p:cNvSpPr>
          <p:nvPr/>
        </p:nvSpPr>
        <p:spPr bwMode="auto">
          <a:xfrm>
            <a:off x="1127125" y="1614488"/>
            <a:ext cx="369888" cy="449262"/>
          </a:xfrm>
          <a:prstGeom prst="curvedRightArrow">
            <a:avLst>
              <a:gd name="adj1" fmla="val 24292"/>
              <a:gd name="adj2" fmla="val 48584"/>
              <a:gd name="adj3" fmla="val 33333"/>
            </a:avLst>
          </a:prstGeom>
          <a:solidFill>
            <a:srgbClr val="48A62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267322"/>
              </p:ext>
            </p:extLst>
          </p:nvPr>
        </p:nvGraphicFramePr>
        <p:xfrm>
          <a:off x="709299" y="3033712"/>
          <a:ext cx="7939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700"/>
                <a:gridCol w="3969700"/>
              </a:tblGrid>
              <a:tr h="2147887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couplingList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direct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piezoDirect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"solid"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piezoDirect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  <a:cs typeface="Courier New" pitchFamily="49" charset="0"/>
                        </a:rPr>
                        <a:t>  …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…</a:t>
                      </a:r>
                    </a:p>
                    <a:p>
                      <a:r>
                        <a:rPr lang="de-CH" sz="1600" b="0" i="0" u="none" strike="noStrike" baseline="0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acouMechDirect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surfRegionList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surfRegion</a:t>
                      </a:r>
                      <a:endParaRPr lang="de-CH" sz="1600" b="1" i="0" u="none" strike="noStrike" dirty="0" smtClean="0">
                        <a:solidFill>
                          <a:srgbClr val="DAA520"/>
                        </a:solidFill>
                        <a:effectLst/>
                        <a:latin typeface="Courier New"/>
                      </a:endParaRP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    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interface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surfRegionList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acouMechDirect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direct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couplingList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78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764703"/>
            <a:ext cx="8640960" cy="5541093"/>
          </a:xfrm>
        </p:spPr>
        <p:txBody>
          <a:bodyPr>
            <a:normAutofit/>
          </a:bodyPr>
          <a:lstStyle/>
          <a:p>
            <a:r>
              <a:rPr lang="en-US" dirty="0" smtClean="0"/>
              <a:t>Problem setup</a:t>
            </a:r>
          </a:p>
          <a:p>
            <a:pPr lvl="1"/>
            <a:r>
              <a:rPr lang="en-US" dirty="0" smtClean="0"/>
              <a:t>Cantilever with pressure load</a:t>
            </a:r>
            <a:br>
              <a:rPr lang="en-US" dirty="0" smtClean="0"/>
            </a:b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sz="2400" dirty="0" smtClean="0"/>
          </a:p>
          <a:p>
            <a:r>
              <a:rPr lang="en-US" dirty="0" smtClean="0"/>
              <a:t>Goal</a:t>
            </a:r>
          </a:p>
          <a:p>
            <a:pPr lvl="1"/>
            <a:r>
              <a:rPr lang="en-US" dirty="0" smtClean="0"/>
              <a:t>Perform </a:t>
            </a:r>
          </a:p>
          <a:p>
            <a:pPr lvl="2"/>
            <a:r>
              <a:rPr lang="en-US" dirty="0" smtClean="0"/>
              <a:t>Static analysis</a:t>
            </a:r>
          </a:p>
          <a:p>
            <a:pPr lvl="2"/>
            <a:r>
              <a:rPr lang="en-US" dirty="0" smtClean="0"/>
              <a:t>Transient analysis</a:t>
            </a:r>
          </a:p>
          <a:p>
            <a:pPr lvl="2"/>
            <a:r>
              <a:rPr lang="en-US" dirty="0" smtClean="0"/>
              <a:t>Harmonic analysis</a:t>
            </a:r>
          </a:p>
          <a:p>
            <a:pPr lvl="2"/>
            <a:r>
              <a:rPr lang="en-US" dirty="0" err="1" smtClean="0"/>
              <a:t>Eigenfrequency</a:t>
            </a:r>
            <a:r>
              <a:rPr lang="en-US" dirty="0" smtClean="0"/>
              <a:t> analysis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D37D5-2D62-4019-B603-311C6B5CF006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1" t="29111" r="8442" b="30877"/>
          <a:stretch/>
        </p:blipFill>
        <p:spPr>
          <a:xfrm>
            <a:off x="866897" y="1543792"/>
            <a:ext cx="7552707" cy="2018806"/>
          </a:xfrm>
          <a:prstGeom prst="rect">
            <a:avLst/>
          </a:prstGeom>
        </p:spPr>
      </p:pic>
      <p:cxnSp>
        <p:nvCxnSpPr>
          <p:cNvPr id="7" name="Gerade Verbindung mit Pfeil 6"/>
          <p:cNvCxnSpPr/>
          <p:nvPr/>
        </p:nvCxnSpPr>
        <p:spPr>
          <a:xfrm flipH="1" flipV="1">
            <a:off x="1163782" y="1911927"/>
            <a:ext cx="213756" cy="112815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/>
          <p:cNvCxnSpPr/>
          <p:nvPr/>
        </p:nvCxnSpPr>
        <p:spPr>
          <a:xfrm flipH="1">
            <a:off x="4190011" y="2018805"/>
            <a:ext cx="1142010" cy="413657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/>
          <p:cNvSpPr txBox="1"/>
          <p:nvPr/>
        </p:nvSpPr>
        <p:spPr>
          <a:xfrm>
            <a:off x="688769" y="2992581"/>
            <a:ext cx="1644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Fully supported</a:t>
            </a:r>
            <a:endParaRPr lang="en-US"/>
          </a:p>
        </p:txBody>
      </p:sp>
      <p:sp>
        <p:nvSpPr>
          <p:cNvPr id="11" name="Textfeld 10"/>
          <p:cNvSpPr txBox="1"/>
          <p:nvPr/>
        </p:nvSpPr>
        <p:spPr>
          <a:xfrm>
            <a:off x="4475019" y="1672441"/>
            <a:ext cx="2535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Pressure load (100N/m</a:t>
            </a:r>
            <a:r>
              <a:rPr lang="en-US" sz="2200" baseline="30000" smtClean="0"/>
              <a:t>2</a:t>
            </a:r>
            <a:r>
              <a:rPr lang="en-US" smtClean="0"/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7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1: Mechanics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Preprocessor: ANSYS Classic using prep7 commands</a:t>
            </a:r>
          </a:p>
          <a:p>
            <a:pPr lvl="1"/>
            <a:r>
              <a:rPr lang="en-US" dirty="0" smtClean="0"/>
              <a:t>Initialization part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2400" dirty="0" smtClean="0"/>
          </a:p>
          <a:p>
            <a:pPr lvl="1"/>
            <a:r>
              <a:rPr lang="en-US" dirty="0" smtClean="0"/>
              <a:t>Define constants and generate geometry</a:t>
            </a:r>
          </a:p>
          <a:p>
            <a:pPr lvl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134748"/>
              </p:ext>
            </p:extLst>
          </p:nvPr>
        </p:nvGraphicFramePr>
        <p:xfrm>
          <a:off x="1093861" y="1496303"/>
          <a:ext cx="7520299" cy="1913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1913470">
                <a:tc>
                  <a:txBody>
                    <a:bodyPr/>
                    <a:lstStyle/>
                    <a:p>
                      <a:r>
                        <a:rPr lang="de-CH" sz="1600" b="1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fini</a:t>
                      </a:r>
                      <a:endParaRPr lang="de-CH" sz="1600" b="1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/uis</a:t>
                      </a:r>
                      <a:r>
                        <a:rPr lang="de-CH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,msgpop,3 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!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disable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warning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popups</a:t>
                      </a:r>
                      <a:endParaRPr lang="de-CH" sz="1600" b="1" i="1" u="none" strike="noStrike" dirty="0" smtClean="0">
                        <a:solidFill>
                          <a:srgbClr val="5F9EA0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/</a:t>
                      </a:r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clear</a:t>
                      </a:r>
                      <a:endParaRPr lang="de-CH" sz="1600" b="1" i="0" u="none" strike="noStrike" dirty="0" smtClean="0">
                        <a:solidFill>
                          <a:srgbClr val="00BFFF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/filname</a:t>
                      </a:r>
                      <a:r>
                        <a:rPr lang="de-CH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,cantilever,1 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!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important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: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define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name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of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the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model</a:t>
                      </a:r>
                      <a:endParaRPr lang="de-CH" sz="1600" b="1" i="1" u="none" strike="noStrike" dirty="0" smtClean="0">
                        <a:solidFill>
                          <a:srgbClr val="5F9EA0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/prep7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/uis</a:t>
                      </a:r>
                      <a:r>
                        <a:rPr lang="de-CH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,msgpop,2 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!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enable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warning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popups</a:t>
                      </a:r>
                      <a:endParaRPr lang="de-CH" sz="1600" b="1" i="1" u="none" strike="noStrike" dirty="0" smtClean="0">
                        <a:solidFill>
                          <a:srgbClr val="5F9EA0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init</a:t>
                      </a:r>
                      <a:r>
                        <a:rPr lang="de-CH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!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initialize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macros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for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mesh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-interface </a:t>
                      </a:r>
                      <a:r>
                        <a:rPr lang="de-CH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to</a:t>
                      </a:r>
                      <a:r>
                        <a:rPr lang="de-CH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CFS++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262266"/>
              </p:ext>
            </p:extLst>
          </p:nvPr>
        </p:nvGraphicFramePr>
        <p:xfrm>
          <a:off x="1104051" y="4151083"/>
          <a:ext cx="7510110" cy="1882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0110"/>
              </a:tblGrid>
              <a:tr h="1882248">
                <a:tc>
                  <a:txBody>
                    <a:bodyPr/>
                    <a:lstStyle/>
                    <a:p>
                      <a:r>
                        <a:rPr lang="it-IT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! </a:t>
                      </a:r>
                      <a:r>
                        <a:rPr lang="it-IT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define</a:t>
                      </a:r>
                      <a:r>
                        <a:rPr lang="it-IT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it-IT" sz="1600" b="1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constants</a:t>
                      </a:r>
                      <a:endParaRPr lang="it-IT" sz="1600" b="1" i="1" u="none" strike="noStrike" dirty="0" smtClean="0">
                        <a:solidFill>
                          <a:srgbClr val="5F9EA0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it-IT" sz="1600" b="1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eps</a:t>
                      </a:r>
                      <a:r>
                        <a:rPr lang="it-IT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=1e-7</a:t>
                      </a:r>
                    </a:p>
                    <a:p>
                      <a:r>
                        <a:rPr lang="it-IT" sz="1600" b="1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  <a:r>
                        <a:rPr lang="it-IT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=400e-6</a:t>
                      </a:r>
                    </a:p>
                    <a:p>
                      <a:r>
                        <a:rPr lang="it-IT" sz="1600" b="1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</a:t>
                      </a:r>
                      <a:r>
                        <a:rPr lang="it-IT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=2e-6</a:t>
                      </a:r>
                    </a:p>
                    <a:p>
                      <a:r>
                        <a:rPr lang="it-IT" sz="1600" b="1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bc</a:t>
                      </a:r>
                      <a:r>
                        <a:rPr lang="it-IT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=45e-6</a:t>
                      </a:r>
                    </a:p>
                    <a:p>
                      <a:r>
                        <a:rPr lang="it-IT" sz="1600" b="1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! generate the cantilever</a:t>
                      </a:r>
                    </a:p>
                    <a:p>
                      <a:r>
                        <a:rPr lang="it-IT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block</a:t>
                      </a:r>
                      <a:r>
                        <a:rPr lang="it-IT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,0,L,0,bc,0,b </a:t>
                      </a:r>
                      <a:endParaRPr lang="en-US" sz="16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926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Preprocessor: </a:t>
            </a:r>
            <a:r>
              <a:rPr lang="en-US" dirty="0"/>
              <a:t>ANSYS Classic using prep7 commands</a:t>
            </a:r>
            <a:endParaRPr lang="en-US" dirty="0" smtClean="0"/>
          </a:p>
          <a:p>
            <a:pPr lvl="1"/>
            <a:r>
              <a:rPr lang="en-US" dirty="0" smtClean="0"/>
              <a:t>Perform volume meshing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Perform surface mesh for pressure load and mechanical fixing</a:t>
            </a:r>
          </a:p>
          <a:p>
            <a:pPr lvl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644871"/>
              </p:ext>
            </p:extLst>
          </p:nvPr>
        </p:nvGraphicFramePr>
        <p:xfrm>
          <a:off x="1093861" y="1496303"/>
          <a:ext cx="7520299" cy="1178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1178531">
                <a:tc>
                  <a:txBody>
                    <a:bodyPr/>
                    <a:lstStyle/>
                    <a:p>
                      <a:r>
                        <a:rPr lang="en-US" sz="1600" b="1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setelems</a:t>
                      </a:r>
                      <a:r>
                        <a:rPr lang="en-US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</a:t>
                      </a:r>
                      <a:r>
                        <a:rPr lang="en-US" sz="1600" b="1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'brick'</a:t>
                      </a:r>
                    </a:p>
                    <a:p>
                      <a:r>
                        <a:rPr lang="en-US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esize</a:t>
                      </a:r>
                      <a:r>
                        <a:rPr lang="en-US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,5e-6</a:t>
                      </a:r>
                    </a:p>
                    <a:p>
                      <a:r>
                        <a:rPr lang="en-US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vsel</a:t>
                      </a:r>
                      <a:r>
                        <a:rPr lang="en-US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,s,,,1</a:t>
                      </a:r>
                    </a:p>
                    <a:p>
                      <a:r>
                        <a:rPr lang="en-US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vmesh</a:t>
                      </a:r>
                      <a:r>
                        <a:rPr lang="en-US" sz="1600" b="1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,all</a:t>
                      </a:r>
                      <a:r>
                        <a:rPr lang="en-US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926164"/>
              </p:ext>
            </p:extLst>
          </p:nvPr>
        </p:nvGraphicFramePr>
        <p:xfrm>
          <a:off x="1092433" y="3357903"/>
          <a:ext cx="7520299" cy="242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2427600">
                <a:tc>
                  <a:txBody>
                    <a:bodyPr/>
                    <a:lstStyle/>
                    <a:p>
                      <a:r>
                        <a:rPr lang="de-CH" sz="1600" b="1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setelems</a:t>
                      </a:r>
                      <a:r>
                        <a:rPr lang="de-CH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</a:t>
                      </a:r>
                      <a:r>
                        <a:rPr lang="de-CH" sz="1600" b="1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'</a:t>
                      </a:r>
                      <a:r>
                        <a:rPr lang="de-CH" sz="1600" b="1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quadr</a:t>
                      </a:r>
                      <a:r>
                        <a:rPr lang="en-US" sz="1600" b="1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'</a:t>
                      </a:r>
                      <a:endParaRPr lang="de-CH" sz="1600" b="1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allsel</a:t>
                      </a:r>
                      <a:endParaRPr lang="de-CH" sz="1600" b="1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asel</a:t>
                      </a:r>
                      <a:r>
                        <a:rPr lang="de-CH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,s,,,2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amesh</a:t>
                      </a:r>
                      <a:r>
                        <a:rPr lang="de-CH" sz="1600" b="1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,all</a:t>
                      </a:r>
                      <a:endParaRPr lang="de-CH" sz="1600" b="1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allsel</a:t>
                      </a:r>
                      <a:endParaRPr lang="de-CH" sz="1600" b="1" i="0" u="none" strike="noStrike" dirty="0" smtClean="0">
                        <a:solidFill>
                          <a:srgbClr val="00BFFF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asel</a:t>
                      </a:r>
                      <a:r>
                        <a:rPr lang="de-CH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,s,loc,x,-</a:t>
                      </a:r>
                      <a:r>
                        <a:rPr lang="de-CH" sz="1600" b="1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eps,eps</a:t>
                      </a:r>
                      <a:endParaRPr lang="de-CH" sz="1600" b="1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asel</a:t>
                      </a:r>
                      <a:r>
                        <a:rPr lang="de-CH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,r,loc,y,-</a:t>
                      </a:r>
                      <a:r>
                        <a:rPr lang="de-CH" sz="1600" b="1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eps,bc+eps</a:t>
                      </a:r>
                      <a:endParaRPr lang="de-CH" sz="1600" b="1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asel</a:t>
                      </a:r>
                      <a:r>
                        <a:rPr lang="de-CH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,r,loc,z,-</a:t>
                      </a:r>
                      <a:r>
                        <a:rPr lang="de-CH" sz="1600" b="1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eps,eps+b</a:t>
                      </a:r>
                      <a:endParaRPr lang="de-CH" sz="1600" b="1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amesh</a:t>
                      </a:r>
                      <a:r>
                        <a:rPr lang="de-CH" sz="1600" b="1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,all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DejaVu Sans Mono"/>
                        </a:rPr>
                        <a:t>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04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Preprocessor: ANSYS Classic using prep7 commands</a:t>
            </a:r>
          </a:p>
          <a:p>
            <a:pPr lvl="1"/>
            <a:r>
              <a:rPr lang="en-US" dirty="0" smtClean="0"/>
              <a:t>Display of mesh</a:t>
            </a:r>
          </a:p>
          <a:p>
            <a:pPr lvl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895" y="1496290"/>
            <a:ext cx="6852062" cy="478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03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Preprocessor: </a:t>
            </a:r>
            <a:r>
              <a:rPr lang="en-US" dirty="0"/>
              <a:t>ANSYS Classic using prep7 commands</a:t>
            </a:r>
            <a:endParaRPr lang="en-US" dirty="0" smtClean="0"/>
          </a:p>
          <a:p>
            <a:pPr lvl="1"/>
            <a:r>
              <a:rPr lang="en-US" dirty="0" smtClean="0"/>
              <a:t>Write mesh file for CFS++: Write volume elements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1000" dirty="0" smtClean="0"/>
          </a:p>
          <a:p>
            <a:pPr lvl="1"/>
            <a:r>
              <a:rPr lang="en-US" dirty="0" smtClean="0"/>
              <a:t>Write mesh file for CFS++: Write surface elements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541196"/>
              </p:ext>
            </p:extLst>
          </p:nvPr>
        </p:nvGraphicFramePr>
        <p:xfrm>
          <a:off x="1093861" y="1496303"/>
          <a:ext cx="7520299" cy="1178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1178531">
                <a:tc>
                  <a:txBody>
                    <a:bodyPr/>
                    <a:lstStyle/>
                    <a:p>
                      <a:r>
                        <a:rPr lang="en-US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allsel</a:t>
                      </a:r>
                      <a:r>
                        <a:rPr lang="en-US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,all</a:t>
                      </a:r>
                      <a:endParaRPr lang="en-US" sz="1600" b="0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/>
                      </a:endParaRPr>
                    </a:p>
                    <a:p>
                      <a:r>
                        <a:rPr lang="en-US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vsel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,s,,,1</a:t>
                      </a:r>
                    </a:p>
                    <a:p>
                      <a:r>
                        <a:rPr lang="en-US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eslv</a:t>
                      </a:r>
                      <a:endParaRPr lang="en-US" sz="1600" b="1" i="0" u="none" strike="noStrike" dirty="0" smtClean="0">
                        <a:solidFill>
                          <a:srgbClr val="00BFFF"/>
                        </a:solidFill>
                        <a:effectLst/>
                        <a:latin typeface="Courier New"/>
                      </a:endParaRPr>
                    </a:p>
                    <a:p>
                      <a:r>
                        <a:rPr lang="en-US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welems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'cantilever'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1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164576"/>
              </p:ext>
            </p:extLst>
          </p:nvPr>
        </p:nvGraphicFramePr>
        <p:xfrm>
          <a:off x="1092433" y="3024528"/>
          <a:ext cx="752029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2427600">
                <a:tc>
                  <a:txBody>
                    <a:bodyPr/>
                    <a:lstStyle/>
                    <a:p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!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write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surface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elements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for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pressure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load</a:t>
                      </a:r>
                      <a:endParaRPr lang="de-CH" sz="1600" b="0" i="1" u="none" strike="noStrike" dirty="0" smtClean="0">
                        <a:solidFill>
                          <a:srgbClr val="5F9EA0"/>
                        </a:solidFill>
                        <a:effectLst/>
                        <a:latin typeface="Courier New"/>
                      </a:endParaRP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allsel</a:t>
                      </a:r>
                      <a:endParaRPr lang="de-CH" sz="1600" b="1" i="0" u="none" strike="noStrike" dirty="0" smtClean="0">
                        <a:solidFill>
                          <a:srgbClr val="00BFFF"/>
                        </a:solidFill>
                        <a:effectLst/>
                        <a:latin typeface="Courier New"/>
                      </a:endParaRP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,s,,,2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esla</a:t>
                      </a:r>
                      <a:endParaRPr lang="de-CH" sz="1600" b="0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/>
                      </a:endParaRP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welems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'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excite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'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!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write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surface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elements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for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mechanical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fixing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allsel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,s,loc,x,-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eps,eps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,r,loc,y,-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eps,bc+eps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,r,loc,z,-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eps,eps+b+b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esla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welems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'fix-all'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99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mesh file for CFS++</a:t>
            </a:r>
          </a:p>
          <a:p>
            <a:pPr lvl="1"/>
            <a:r>
              <a:rPr lang="en-US" dirty="0" smtClean="0"/>
              <a:t>Write mesh file for CFS++: Write coordinates of nodes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1000" dirty="0" smtClean="0"/>
          </a:p>
          <a:p>
            <a:pPr lvl="1"/>
            <a:r>
              <a:rPr lang="en-US" dirty="0" smtClean="0"/>
              <a:t>Write mesh file for CFS++: Write the whole HDF5 file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Result</a:t>
            </a:r>
          </a:p>
          <a:p>
            <a:pPr lvl="2"/>
            <a:r>
              <a:rPr lang="en-US" dirty="0" smtClean="0"/>
              <a:t>Within this directory you should now find the file </a:t>
            </a:r>
            <a:r>
              <a:rPr lang="en-US" b="1" dirty="0" smtClean="0"/>
              <a:t>cantilever.h5</a:t>
            </a:r>
            <a:r>
              <a:rPr lang="en-US" dirty="0" smtClean="0"/>
              <a:t>! 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Problems:</a:t>
            </a:r>
          </a:p>
          <a:p>
            <a:pPr lvl="1"/>
            <a:r>
              <a:rPr lang="en-US" dirty="0" smtClean="0"/>
              <a:t>If there are inconsistencies, then you will get the error „MKHDF5: Please check the contents of </a:t>
            </a:r>
            <a:r>
              <a:rPr lang="en-US" dirty="0" err="1" smtClean="0"/>
              <a:t>cantilever_cplreader.out</a:t>
            </a:r>
            <a:r>
              <a:rPr lang="en-US" dirty="0" smtClean="0"/>
              <a:t>”. 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461072"/>
              </p:ext>
            </p:extLst>
          </p:nvPr>
        </p:nvGraphicFramePr>
        <p:xfrm>
          <a:off x="1093861" y="1496303"/>
          <a:ext cx="7520299" cy="913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913521">
                <a:tc>
                  <a:txBody>
                    <a:bodyPr/>
                    <a:lstStyle/>
                    <a:p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!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write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all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nodes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allsel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wnodes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492751"/>
              </p:ext>
            </p:extLst>
          </p:nvPr>
        </p:nvGraphicFramePr>
        <p:xfrm>
          <a:off x="1092433" y="3062629"/>
          <a:ext cx="75202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518772">
                <a:tc>
                  <a:txBody>
                    <a:bodyPr/>
                    <a:lstStyle/>
                    <a:p>
                      <a:r>
                        <a:rPr lang="en-US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! write mesh file in HDF5 format 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mkhdf5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76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225" y="1263975"/>
            <a:ext cx="6562725" cy="489912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Look at contents of mesh file</a:t>
            </a:r>
            <a:r>
              <a:rPr lang="en-US" b="1" dirty="0" smtClean="0"/>
              <a:t> </a:t>
            </a:r>
            <a:r>
              <a:rPr lang="en-US" dirty="0" smtClean="0"/>
              <a:t>using </a:t>
            </a:r>
            <a:r>
              <a:rPr lang="en-US" dirty="0" err="1" smtClean="0"/>
              <a:t>HDFView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www.hdfgroup.org/HDF5</a:t>
            </a:r>
            <a:r>
              <a:rPr lang="en-US" dirty="0" smtClean="0"/>
              <a:t>)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22</a:t>
            </a:fld>
            <a:endParaRPr lang="en-US" dirty="0"/>
          </a:p>
        </p:txBody>
      </p:sp>
      <p:cxnSp>
        <p:nvCxnSpPr>
          <p:cNvPr id="8" name="Gerade Verbindung mit Pfeil 7"/>
          <p:cNvCxnSpPr/>
          <p:nvPr/>
        </p:nvCxnSpPr>
        <p:spPr>
          <a:xfrm>
            <a:off x="1657350" y="1782790"/>
            <a:ext cx="530256" cy="342900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/>
          <p:nvPr/>
        </p:nvCxnSpPr>
        <p:spPr>
          <a:xfrm>
            <a:off x="1904139" y="2676525"/>
            <a:ext cx="600936" cy="92264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/>
          <p:cNvSpPr txBox="1"/>
          <p:nvPr/>
        </p:nvSpPr>
        <p:spPr>
          <a:xfrm>
            <a:off x="124293" y="1321125"/>
            <a:ext cx="17798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 smtClean="0"/>
              <a:t>Hierarchical</a:t>
            </a:r>
            <a:endParaRPr lang="de-DE" dirty="0" smtClean="0"/>
          </a:p>
          <a:p>
            <a:pPr algn="ctr"/>
            <a:r>
              <a:rPr lang="de-DE" dirty="0" err="1"/>
              <a:t>s</a:t>
            </a:r>
            <a:r>
              <a:rPr lang="de-DE" dirty="0" err="1" smtClean="0"/>
              <a:t>tructure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endParaRPr lang="de-DE" dirty="0" smtClean="0"/>
          </a:p>
          <a:p>
            <a:pPr algn="ctr"/>
            <a:r>
              <a:rPr lang="de-DE" dirty="0" err="1" smtClean="0"/>
              <a:t>mesh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results</a:t>
            </a:r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-1038" y="2302063"/>
            <a:ext cx="21448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Datasets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element</a:t>
            </a:r>
            <a:endParaRPr lang="de-DE" dirty="0" smtClean="0"/>
          </a:p>
          <a:p>
            <a:pPr algn="ctr"/>
            <a:r>
              <a:rPr lang="de-DE" dirty="0" err="1" smtClean="0"/>
              <a:t>connectivities</a:t>
            </a:r>
            <a:endParaRPr lang="de-DE" dirty="0" smtClean="0"/>
          </a:p>
          <a:p>
            <a:pPr algn="ctr"/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types</a:t>
            </a:r>
            <a:endParaRPr lang="de-DE" dirty="0"/>
          </a:p>
        </p:txBody>
      </p:sp>
      <p:sp>
        <p:nvSpPr>
          <p:cNvPr id="21" name="Textfeld 20"/>
          <p:cNvSpPr txBox="1"/>
          <p:nvPr/>
        </p:nvSpPr>
        <p:spPr>
          <a:xfrm>
            <a:off x="202997" y="3292663"/>
            <a:ext cx="1755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Dataset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node</a:t>
            </a:r>
            <a:endParaRPr lang="de-DE" dirty="0" smtClean="0"/>
          </a:p>
          <a:p>
            <a:pPr algn="ctr"/>
            <a:r>
              <a:rPr lang="de-DE" dirty="0" err="1" smtClean="0"/>
              <a:t>coordinates</a:t>
            </a:r>
            <a:endParaRPr lang="de-DE" dirty="0"/>
          </a:p>
        </p:txBody>
      </p:sp>
      <p:cxnSp>
        <p:nvCxnSpPr>
          <p:cNvPr id="24" name="Gerade Verbindung mit Pfeil 23"/>
          <p:cNvCxnSpPr/>
          <p:nvPr/>
        </p:nvCxnSpPr>
        <p:spPr>
          <a:xfrm flipV="1">
            <a:off x="1904139" y="3292663"/>
            <a:ext cx="600936" cy="126812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/>
          <p:cNvSpPr txBox="1"/>
          <p:nvPr/>
        </p:nvSpPr>
        <p:spPr>
          <a:xfrm>
            <a:off x="66817" y="3997513"/>
            <a:ext cx="20853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Datasets </a:t>
            </a:r>
            <a:r>
              <a:rPr lang="de-DE" dirty="0" err="1" smtClean="0"/>
              <a:t>for</a:t>
            </a:r>
            <a:endParaRPr lang="de-DE" dirty="0" smtClean="0"/>
          </a:p>
          <a:p>
            <a:pPr algn="ctr"/>
            <a:r>
              <a:rPr lang="de-DE" dirty="0" err="1" smtClean="0"/>
              <a:t>specifying</a:t>
            </a:r>
            <a:r>
              <a:rPr lang="de-DE" dirty="0" smtClean="0"/>
              <a:t> </a:t>
            </a:r>
            <a:r>
              <a:rPr lang="de-DE" dirty="0" err="1" smtClean="0"/>
              <a:t>which</a:t>
            </a:r>
            <a:endParaRPr lang="de-DE" dirty="0" smtClean="0"/>
          </a:p>
          <a:p>
            <a:pPr algn="ctr"/>
            <a:r>
              <a:rPr lang="de-DE" dirty="0" err="1" smtClean="0"/>
              <a:t>elements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nodes</a:t>
            </a:r>
            <a:endParaRPr lang="de-DE" dirty="0" smtClean="0"/>
          </a:p>
          <a:p>
            <a:pPr algn="ctr"/>
            <a:r>
              <a:rPr lang="de-DE" dirty="0" err="1" smtClean="0"/>
              <a:t>belong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which</a:t>
            </a:r>
            <a:endParaRPr lang="de-DE" dirty="0" smtClean="0"/>
          </a:p>
          <a:p>
            <a:pPr algn="ctr"/>
            <a:r>
              <a:rPr lang="de-DE" dirty="0" err="1" smtClean="0"/>
              <a:t>region</a:t>
            </a:r>
            <a:endParaRPr lang="de-DE" dirty="0"/>
          </a:p>
        </p:txBody>
      </p:sp>
      <p:cxnSp>
        <p:nvCxnSpPr>
          <p:cNvPr id="28" name="Gerade Verbindung mit Pfeil 27"/>
          <p:cNvCxnSpPr/>
          <p:nvPr/>
        </p:nvCxnSpPr>
        <p:spPr>
          <a:xfrm flipV="1">
            <a:off x="1743075" y="3692118"/>
            <a:ext cx="762000" cy="498883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03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Setup the XML file for describing the physics and simulation parameter</a:t>
            </a:r>
          </a:p>
          <a:p>
            <a:pPr lvl="1"/>
            <a:r>
              <a:rPr lang="en-US" dirty="0" smtClean="0"/>
              <a:t>Use </a:t>
            </a:r>
            <a:r>
              <a:rPr lang="en-US" dirty="0"/>
              <a:t>&lt;</a:t>
            </a:r>
            <a:r>
              <a:rPr lang="en-US" dirty="0" err="1" smtClean="0"/>
              <a:t>oXygen</a:t>
            </a:r>
            <a:r>
              <a:rPr lang="en-US" dirty="0" smtClean="0"/>
              <a:t>/&gt; XML editor (see </a:t>
            </a:r>
            <a:r>
              <a:rPr lang="en-US" dirty="0" smtClean="0">
                <a:hlinkClick r:id="rId2"/>
              </a:rPr>
              <a:t>http://www.oxygenxml.com/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Associate W3C XML schema for CFS++ simulations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03" y="1828801"/>
            <a:ext cx="7030193" cy="4428941"/>
          </a:xfrm>
          <a:prstGeom prst="rect">
            <a:avLst/>
          </a:prstGeom>
        </p:spPr>
      </p:pic>
      <p:cxnSp>
        <p:nvCxnSpPr>
          <p:cNvPr id="9" name="Gerade Verbindung mit Pfeil 8"/>
          <p:cNvCxnSpPr/>
          <p:nvPr/>
        </p:nvCxnSpPr>
        <p:spPr>
          <a:xfrm>
            <a:off x="5396523" y="1757432"/>
            <a:ext cx="832827" cy="543808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/>
          <p:cNvCxnSpPr/>
          <p:nvPr/>
        </p:nvCxnSpPr>
        <p:spPr>
          <a:xfrm>
            <a:off x="5396523" y="1757432"/>
            <a:ext cx="569937" cy="1107688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1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Setup the </a:t>
            </a:r>
            <a:r>
              <a:rPr lang="en-US" dirty="0"/>
              <a:t>XML file </a:t>
            </a:r>
            <a:r>
              <a:rPr lang="en-US" dirty="0" smtClean="0"/>
              <a:t>for describing the physics and simulation parameter</a:t>
            </a:r>
          </a:p>
          <a:p>
            <a:pPr lvl="1"/>
            <a:r>
              <a:rPr lang="en-US" dirty="0" smtClean="0"/>
              <a:t>Hint: search for a similar problem in the CFS++ - TESTSUIT</a:t>
            </a:r>
          </a:p>
          <a:p>
            <a:pPr lvl="1"/>
            <a:r>
              <a:rPr lang="en-US" dirty="0" smtClean="0"/>
              <a:t>Header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File section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826668"/>
              </p:ext>
            </p:extLst>
          </p:nvPr>
        </p:nvGraphicFramePr>
        <p:xfrm>
          <a:off x="1093861" y="1820153"/>
          <a:ext cx="7520299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913521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cfsSimulation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F08080"/>
                          </a:solidFill>
                          <a:effectLst/>
                          <a:latin typeface="Courier New"/>
                        </a:rPr>
                        <a:t>xmlns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: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xsi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"http://www.w3.org/2001/XMLSchema-instance"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F08080"/>
                          </a:solidFill>
                          <a:effectLst/>
                          <a:latin typeface="Courier New"/>
                        </a:rPr>
                        <a:t>xsi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: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schemaLocation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"http://www.cfs++.org ../CFS/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share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/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xml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/CFS-Simulation/Schemas/CFS_FileFormats.xsd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F08080"/>
                          </a:solidFill>
                          <a:effectLst/>
                          <a:latin typeface="Courier New"/>
                        </a:rPr>
                        <a:t>xmlns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"http://www.cfs++.org"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922696"/>
              </p:ext>
            </p:extLst>
          </p:nvPr>
        </p:nvGraphicFramePr>
        <p:xfrm>
          <a:off x="1092433" y="3472204"/>
          <a:ext cx="7520299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5187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fileFormats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input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hdf5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fileName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"cantilever.h5"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 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input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output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text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 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hdf5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 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output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materialData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file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"mat.xml"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fileFormats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86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820499"/>
              </p:ext>
            </p:extLst>
          </p:nvPr>
        </p:nvGraphicFramePr>
        <p:xfrm>
          <a:off x="1093861" y="1591553"/>
          <a:ext cx="7520299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913521">
                <a:tc>
                  <a:txBody>
                    <a:bodyPr/>
                    <a:lstStyle/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domain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geometryType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"3d"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material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"Steel"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"cantilever"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surfRegionList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surfRegion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"excite"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surfRegion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"fix-all"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surfRegionList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nodeList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nodes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"record"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&lt;!– Find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the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mesh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node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next</a:t>
                      </a:r>
                      <a:r>
                        <a:rPr lang="de-CH" sz="1600" b="0" i="1" u="none" strike="noStrike" baseline="0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baseline="0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to</a:t>
                      </a:r>
                      <a:r>
                        <a:rPr lang="de-CH" sz="1600" b="0" i="1" u="none" strike="noStrike" baseline="0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baseline="0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coordinate</a:t>
                      </a:r>
                      <a:r>
                        <a:rPr lang="de-CH" sz="1600" b="0" i="1" u="none" strike="noStrike" baseline="0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baseline="0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and</a:t>
                      </a:r>
                      <a:endParaRPr lang="de-CH" sz="1600" b="0" i="1" u="none" strike="noStrike" baseline="0" dirty="0" smtClean="0">
                        <a:solidFill>
                          <a:srgbClr val="5F9EA0"/>
                        </a:solidFill>
                        <a:effectLst/>
                        <a:latin typeface="Courier New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b="0" i="1" u="none" strike="noStrike" baseline="0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           </a:t>
                      </a:r>
                      <a:r>
                        <a:rPr lang="de-CH" sz="1600" b="0" i="1" u="none" strike="noStrike" baseline="0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assign</a:t>
                      </a:r>
                      <a:r>
                        <a:rPr lang="de-CH" sz="1600" b="0" i="1" u="none" strike="noStrike" baseline="0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baseline="0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the</a:t>
                      </a:r>
                      <a:r>
                        <a:rPr lang="de-CH" sz="1600" b="0" i="1" u="none" strike="noStrike" baseline="0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baseline="0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1" u="none" strike="noStrike" baseline="0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1" u="none" strike="noStrike" baseline="0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record</a:t>
                      </a:r>
                      <a:r>
                        <a:rPr lang="en-US" sz="1600" b="0" i="0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1" u="none" strike="noStrike" baseline="0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baseline="0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to</a:t>
                      </a:r>
                      <a:r>
                        <a:rPr lang="de-CH" sz="1600" b="0" i="1" u="none" strike="noStrike" baseline="0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baseline="0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it</a:t>
                      </a:r>
                      <a:r>
                        <a:rPr lang="de-CH" sz="1600" b="0" i="1" u="none" strike="noStrike" baseline="0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--&gt;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coord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x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"400e-6"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y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"0"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z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"0"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&lt;/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nodes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nodeList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&lt;/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domain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Setup the </a:t>
            </a:r>
            <a:r>
              <a:rPr lang="en-US" dirty="0"/>
              <a:t>XML file </a:t>
            </a:r>
            <a:r>
              <a:rPr lang="en-US" dirty="0" smtClean="0"/>
              <a:t>for describing the physics and simulation parameter</a:t>
            </a:r>
          </a:p>
          <a:p>
            <a:pPr lvl="1"/>
            <a:r>
              <a:rPr lang="en-US" dirty="0" smtClean="0"/>
              <a:t>Define computational domain with volume-regions, surface-regions, ..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25</a:t>
            </a:fld>
            <a:endParaRPr lang="en-US" dirty="0"/>
          </a:p>
        </p:txBody>
      </p:sp>
      <p:cxnSp>
        <p:nvCxnSpPr>
          <p:cNvPr id="8" name="Gerade Verbindung mit Pfeil 7"/>
          <p:cNvCxnSpPr/>
          <p:nvPr/>
        </p:nvCxnSpPr>
        <p:spPr>
          <a:xfrm flipH="1" flipV="1">
            <a:off x="4955060" y="4829175"/>
            <a:ext cx="160637" cy="312990"/>
          </a:xfrm>
          <a:prstGeom prst="straightConnector1">
            <a:avLst/>
          </a:prstGeom>
          <a:ln w="15875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/>
          <p:cNvSpPr txBox="1"/>
          <p:nvPr/>
        </p:nvSpPr>
        <p:spPr>
          <a:xfrm>
            <a:off x="3806830" y="5142165"/>
            <a:ext cx="3686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Define a new node for data recording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15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Setup the </a:t>
            </a:r>
            <a:r>
              <a:rPr lang="en-US" dirty="0"/>
              <a:t>XML file </a:t>
            </a:r>
            <a:r>
              <a:rPr lang="en-US" dirty="0" smtClean="0"/>
              <a:t>for describing the physics and simulation parameter</a:t>
            </a:r>
          </a:p>
          <a:p>
            <a:pPr lvl="1"/>
            <a:r>
              <a:rPr lang="en-US" dirty="0" smtClean="0"/>
              <a:t>Start the sequence and define the analysis type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Define the partial differential equation (PDE) and the region it is defined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677556"/>
              </p:ext>
            </p:extLst>
          </p:nvPr>
        </p:nvGraphicFramePr>
        <p:xfrm>
          <a:off x="1093861" y="1562978"/>
          <a:ext cx="7520299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913521">
                <a:tc>
                  <a:txBody>
                    <a:bodyPr/>
                    <a:lstStyle/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sequenceStep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analysis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static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analysis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204512"/>
              </p:ext>
            </p:extLst>
          </p:nvPr>
        </p:nvGraphicFramePr>
        <p:xfrm>
          <a:off x="1092433" y="3576979"/>
          <a:ext cx="7520299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5187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pdeList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mechanic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subType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"3d"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cantilever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156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645954"/>
            <a:ext cx="8640960" cy="5256584"/>
          </a:xfrm>
        </p:spPr>
        <p:txBody>
          <a:bodyPr>
            <a:normAutofit/>
          </a:bodyPr>
          <a:lstStyle/>
          <a:p>
            <a:r>
              <a:rPr lang="en-US" dirty="0" smtClean="0"/>
              <a:t>Setup the </a:t>
            </a:r>
            <a:r>
              <a:rPr lang="en-US" dirty="0"/>
              <a:t>XML file </a:t>
            </a:r>
            <a:r>
              <a:rPr lang="en-US" dirty="0" smtClean="0"/>
              <a:t>for describing the physics and simulation parameter</a:t>
            </a:r>
          </a:p>
          <a:p>
            <a:pPr lvl="1"/>
            <a:r>
              <a:rPr lang="en-US" dirty="0" smtClean="0"/>
              <a:t>Define boundary conditions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Define store results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32586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580753"/>
              </p:ext>
            </p:extLst>
          </p:nvPr>
        </p:nvGraphicFramePr>
        <p:xfrm>
          <a:off x="1093861" y="1401053"/>
          <a:ext cx="7520299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913521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bcsAndLoads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pressure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excite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value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"100"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fix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"fix-all"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comp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dof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"x"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comp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dof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"y"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comp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dof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"z"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&lt;/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fix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bcsAndLoads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el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383287"/>
              </p:ext>
            </p:extLst>
          </p:nvPr>
        </p:nvGraphicFramePr>
        <p:xfrm>
          <a:off x="1092433" y="4024654"/>
          <a:ext cx="7520299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5187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storeResults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nodeResult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type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mechDisplacement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allRegions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nodeList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nodes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record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nodeList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nodeResult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storeResults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010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Setup the </a:t>
            </a:r>
            <a:r>
              <a:rPr lang="en-US" dirty="0"/>
              <a:t>XML file </a:t>
            </a:r>
            <a:r>
              <a:rPr lang="en-US" dirty="0" smtClean="0"/>
              <a:t>for describing the physics and simulation parameter</a:t>
            </a:r>
          </a:p>
          <a:p>
            <a:pPr lvl="1"/>
            <a:r>
              <a:rPr lang="en-US" dirty="0" smtClean="0"/>
              <a:t>Close PDE part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500" dirty="0" smtClean="0"/>
          </a:p>
          <a:p>
            <a:pPr lvl="1"/>
            <a:r>
              <a:rPr lang="en-US" dirty="0" smtClean="0"/>
              <a:t>Define solver (not necessary)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400" dirty="0" smtClean="0"/>
          </a:p>
          <a:p>
            <a:pPr lvl="1"/>
            <a:r>
              <a:rPr lang="en-US" dirty="0" smtClean="0"/>
              <a:t>Close the sequence and the whole xml-definition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747846"/>
              </p:ext>
            </p:extLst>
          </p:nvPr>
        </p:nvGraphicFramePr>
        <p:xfrm>
          <a:off x="1093861" y="1467728"/>
          <a:ext cx="7520299" cy="703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mechanic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pdeList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271414"/>
              </p:ext>
            </p:extLst>
          </p:nvPr>
        </p:nvGraphicFramePr>
        <p:xfrm>
          <a:off x="1092433" y="2586379"/>
          <a:ext cx="7520299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5187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linearSystems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system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solverList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pardiso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solverList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system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linearSystems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el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500510"/>
              </p:ext>
            </p:extLst>
          </p:nvPr>
        </p:nvGraphicFramePr>
        <p:xfrm>
          <a:off x="1092433" y="5310529"/>
          <a:ext cx="75202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5187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sequenceStep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cfsSimulation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492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Setup the </a:t>
            </a:r>
            <a:r>
              <a:rPr lang="en-US" dirty="0"/>
              <a:t>XML file </a:t>
            </a:r>
            <a:r>
              <a:rPr lang="en-US" dirty="0" smtClean="0"/>
              <a:t>for the material parameters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662225"/>
              </p:ext>
            </p:extLst>
          </p:nvPr>
        </p:nvGraphicFramePr>
        <p:xfrm>
          <a:off x="1093861" y="1258178"/>
          <a:ext cx="7520299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&lt;?</a:t>
                      </a:r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xml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version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"1.0"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?&gt;</a:t>
                      </a:r>
                    </a:p>
                    <a:p>
                      <a:endParaRPr lang="de-CH" sz="1600" b="0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/>
                      </a:endParaRP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cfsMaterialDataBase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F08080"/>
                          </a:solidFill>
                          <a:effectLst/>
                          <a:latin typeface="Courier New"/>
                        </a:rPr>
                        <a:t>xmlns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"http://www.cfs++.org"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material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"Steel"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mechanical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density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7.8E03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density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elasticity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isotropic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real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elasticityModulus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210E09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elasticityModulus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poissonNumber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0.3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poissonNumber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&lt;/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real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isotropic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elasticity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mechanical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&lt;/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material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cfsMaterialDataBase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21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Perform the simulation with CFS++</a:t>
            </a:r>
          </a:p>
          <a:p>
            <a:pPr lvl="1"/>
            <a:r>
              <a:rPr lang="en-US" smtClean="0"/>
              <a:t>Just „cfs“ you get the follwoing help (provided that the executable is in the path)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029" y="1509204"/>
            <a:ext cx="7410203" cy="478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Perform the simulation with CFS++</a:t>
            </a:r>
          </a:p>
          <a:p>
            <a:pPr lvl="1"/>
            <a:r>
              <a:rPr lang="en-US" dirty="0" smtClean="0"/>
              <a:t>Type in „</a:t>
            </a:r>
            <a:r>
              <a:rPr lang="en-US" dirty="0" err="1" smtClean="0"/>
              <a:t>cfs</a:t>
            </a:r>
            <a:r>
              <a:rPr lang="en-US" dirty="0" smtClean="0"/>
              <a:t> </a:t>
            </a:r>
            <a:r>
              <a:rPr lang="en-US" dirty="0" err="1" smtClean="0"/>
              <a:t>cantileverStatic</a:t>
            </a:r>
            <a:r>
              <a:rPr lang="en-US" dirty="0" smtClean="0"/>
              <a:t>“ and you obtain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Generated output files</a:t>
            </a:r>
          </a:p>
          <a:p>
            <a:pPr lvl="2"/>
            <a:r>
              <a:rPr lang="en-US" dirty="0" smtClean="0"/>
              <a:t>In results_hdf5: cantileverStatic.h5: contains the simulation result</a:t>
            </a:r>
          </a:p>
          <a:p>
            <a:pPr lvl="2"/>
            <a:r>
              <a:rPr lang="en-US" dirty="0" smtClean="0"/>
              <a:t>In history: cantileverStatic-ms1-mechDisplacement-node-91-record.hist</a:t>
            </a:r>
          </a:p>
          <a:p>
            <a:pPr lvl="2"/>
            <a:r>
              <a:rPr lang="en-US" dirty="0" smtClean="0"/>
              <a:t>In current directory: cantileverStatic.info.xml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41"/>
          <a:stretch/>
        </p:blipFill>
        <p:spPr>
          <a:xfrm>
            <a:off x="1056905" y="1512362"/>
            <a:ext cx="7968342" cy="271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0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Perform </a:t>
            </a:r>
            <a:r>
              <a:rPr lang="en-US" dirty="0" err="1" smtClean="0"/>
              <a:t>postprocessing</a:t>
            </a:r>
            <a:r>
              <a:rPr lang="en-US" dirty="0" smtClean="0"/>
              <a:t> with </a:t>
            </a:r>
            <a:r>
              <a:rPr lang="en-US" dirty="0" err="1" smtClean="0"/>
              <a:t>ParaView</a:t>
            </a:r>
            <a:r>
              <a:rPr lang="en-US" dirty="0" smtClean="0"/>
              <a:t> (</a:t>
            </a:r>
            <a:r>
              <a:rPr lang="en-US" dirty="0" smtClean="0">
                <a:hlinkClick r:id="rId2"/>
              </a:rPr>
              <a:t>http://www.paraview.org/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Start „</a:t>
            </a:r>
            <a:r>
              <a:rPr lang="en-US" dirty="0" err="1" smtClean="0"/>
              <a:t>paraview</a:t>
            </a:r>
            <a:r>
              <a:rPr lang="en-US" dirty="0" smtClean="0"/>
              <a:t>“ and display the result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705" y="1520142"/>
            <a:ext cx="6698255" cy="462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7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el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038451"/>
              </p:ext>
            </p:extLst>
          </p:nvPr>
        </p:nvGraphicFramePr>
        <p:xfrm>
          <a:off x="1092433" y="4272304"/>
          <a:ext cx="7520299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518772">
                <a:tc>
                  <a:txBody>
                    <a:bodyPr/>
                    <a:lstStyle/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bcsAndLoads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pressure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"excite“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                   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value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"100*sin(2*pi*1*t)"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/&gt;</a:t>
                      </a:r>
                      <a:endParaRPr lang="de-CH" sz="1600" b="0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Perform a transient analysis</a:t>
            </a:r>
          </a:p>
          <a:p>
            <a:pPr lvl="1"/>
            <a:r>
              <a:rPr lang="en-US" dirty="0" smtClean="0"/>
              <a:t>Change analysis part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400" dirty="0" smtClean="0"/>
          </a:p>
          <a:p>
            <a:pPr lvl="1"/>
            <a:r>
              <a:rPr lang="en-US" dirty="0" smtClean="0"/>
              <a:t>Change in „</a:t>
            </a:r>
            <a:r>
              <a:rPr lang="en-US" dirty="0" err="1" smtClean="0"/>
              <a:t>bcsAndLoads</a:t>
            </a:r>
            <a:r>
              <a:rPr lang="en-US" dirty="0" smtClean="0"/>
              <a:t>“ for pressure excitation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33</a:t>
            </a:fld>
            <a:endParaRPr lang="en-US" dirty="0"/>
          </a:p>
        </p:txBody>
      </p:sp>
      <p:cxnSp>
        <p:nvCxnSpPr>
          <p:cNvPr id="9" name="Gerade Verbindung mit Pfeil 8"/>
          <p:cNvCxnSpPr>
            <a:stCxn id="10" idx="1"/>
          </p:cNvCxnSpPr>
          <p:nvPr/>
        </p:nvCxnSpPr>
        <p:spPr>
          <a:xfrm flipH="1">
            <a:off x="6115050" y="4549966"/>
            <a:ext cx="336522" cy="239617"/>
          </a:xfrm>
          <a:prstGeom prst="straightConnector1">
            <a:avLst/>
          </a:prstGeom>
          <a:ln w="15875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/>
          <p:cNvSpPr txBox="1"/>
          <p:nvPr/>
        </p:nvSpPr>
        <p:spPr>
          <a:xfrm>
            <a:off x="6451572" y="4365300"/>
            <a:ext cx="1816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Frequency of 1Hz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652550"/>
              </p:ext>
            </p:extLst>
          </p:nvPr>
        </p:nvGraphicFramePr>
        <p:xfrm>
          <a:off x="1093861" y="1467728"/>
          <a:ext cx="7520299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sequenceStep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analysis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transient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numSteps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40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numSteps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deltaT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0.05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deltaT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&lt;/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transient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analysis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457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Perform a harmonic analysis</a:t>
            </a:r>
          </a:p>
          <a:p>
            <a:pPr lvl="1"/>
            <a:r>
              <a:rPr lang="en-US" dirty="0" smtClean="0"/>
              <a:t>Change analysis type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Change pressure load towards amplitude and phase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818540"/>
              </p:ext>
            </p:extLst>
          </p:nvPr>
        </p:nvGraphicFramePr>
        <p:xfrm>
          <a:off x="1092433" y="4853329"/>
          <a:ext cx="7520299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518772">
                <a:tc>
                  <a:txBody>
                    <a:bodyPr/>
                    <a:lstStyle/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bcsAndLoads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pressure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"excite“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                   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value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"100"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phase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"0.0"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/&gt;</a:t>
                      </a:r>
                      <a:endParaRPr lang="de-CH" sz="1600" b="0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613812"/>
              </p:ext>
            </p:extLst>
          </p:nvPr>
        </p:nvGraphicFramePr>
        <p:xfrm>
          <a:off x="1093861" y="1467728"/>
          <a:ext cx="75202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sequenceStep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analysis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harmonic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numFreq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10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numFreq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startFreq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10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startFreq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stopFreq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1e4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stopFreq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baseline="0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sampling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&gt;linear&lt;/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sampling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harmonic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analysis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19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645954"/>
            <a:ext cx="8640960" cy="5256584"/>
          </a:xfrm>
        </p:spPr>
        <p:txBody>
          <a:bodyPr>
            <a:normAutofit/>
          </a:bodyPr>
          <a:lstStyle/>
          <a:p>
            <a:r>
              <a:rPr lang="en-US" dirty="0" smtClean="0"/>
              <a:t>Perform an </a:t>
            </a:r>
            <a:r>
              <a:rPr lang="en-US" dirty="0" err="1" smtClean="0"/>
              <a:t>eigenfrequency</a:t>
            </a:r>
            <a:r>
              <a:rPr lang="en-US" dirty="0" smtClean="0"/>
              <a:t> analysis</a:t>
            </a:r>
          </a:p>
          <a:p>
            <a:pPr lvl="1"/>
            <a:r>
              <a:rPr lang="en-US" dirty="0" smtClean="0"/>
              <a:t>Change analysis type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1400" dirty="0" smtClean="0"/>
          </a:p>
          <a:p>
            <a:pPr lvl="1"/>
            <a:r>
              <a:rPr lang="en-US" dirty="0" smtClean="0"/>
              <a:t>No load is needed (not </a:t>
            </a:r>
            <a:r>
              <a:rPr lang="en-US" dirty="0" err="1" smtClean="0"/>
              <a:t>necessarly</a:t>
            </a:r>
            <a:r>
              <a:rPr lang="en-US" dirty="0" smtClean="0"/>
              <a:t> be changed)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32586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19205"/>
              </p:ext>
            </p:extLst>
          </p:nvPr>
        </p:nvGraphicFramePr>
        <p:xfrm>
          <a:off x="1093861" y="4287128"/>
          <a:ext cx="7520299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913521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bcsAndLoads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fix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"fix-all"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comp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dof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"x"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comp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dof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"y"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comp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dof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"z"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&lt;/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fix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bcsAndLoads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422936"/>
              </p:ext>
            </p:extLst>
          </p:nvPr>
        </p:nvGraphicFramePr>
        <p:xfrm>
          <a:off x="1093861" y="1353428"/>
          <a:ext cx="75202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sequenceStep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analysis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eigenFrequency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isQuadratic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no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isQuadratic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numModes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5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numModes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freqShift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0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freqShift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baseline="0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writeModes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yes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writeModes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eigenFrequency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analysis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958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1: Mechanics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Perform the simulation with CFS++</a:t>
            </a:r>
          </a:p>
          <a:p>
            <a:pPr lvl="1"/>
            <a:r>
              <a:rPr lang="en-US" dirty="0" smtClean="0"/>
              <a:t>Type in „</a:t>
            </a:r>
            <a:r>
              <a:rPr lang="en-US" dirty="0" err="1" smtClean="0"/>
              <a:t>cfs</a:t>
            </a:r>
            <a:r>
              <a:rPr lang="en-US" dirty="0" smtClean="0"/>
              <a:t> </a:t>
            </a:r>
            <a:r>
              <a:rPr lang="en-US" dirty="0" err="1" smtClean="0"/>
              <a:t>cantileverEigenfrequency</a:t>
            </a:r>
            <a:r>
              <a:rPr lang="en-US" dirty="0" smtClean="0"/>
              <a:t>“ and you obtain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57" y="1460664"/>
            <a:ext cx="6646074" cy="485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4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2: Acoustics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Problem setup: wave propagation with sound barrier (point source excitation)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7" t="23376" r="13509" b="31256"/>
          <a:stretch/>
        </p:blipFill>
        <p:spPr>
          <a:xfrm>
            <a:off x="1782479" y="1075228"/>
            <a:ext cx="5605155" cy="517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7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2: Acoustics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Preprocessor: </a:t>
            </a:r>
            <a:r>
              <a:rPr lang="en-US" dirty="0" err="1" smtClean="0"/>
              <a:t>Gmsh</a:t>
            </a:r>
            <a:r>
              <a:rPr lang="en-US" dirty="0" smtClean="0"/>
              <a:t> (</a:t>
            </a:r>
            <a:r>
              <a:rPr lang="en-US" dirty="0" smtClean="0">
                <a:hlinkClick r:id="rId2"/>
              </a:rPr>
              <a:t>http://geuz.org/gmsh</a:t>
            </a:r>
            <a:r>
              <a:rPr lang="en-US" dirty="0" smtClean="0"/>
              <a:t>)</a:t>
            </a:r>
          </a:p>
          <a:p>
            <a:pPr lvl="1"/>
            <a:endParaRPr lang="en-US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095" y="1226538"/>
            <a:ext cx="6214505" cy="496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71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2: Acoustics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Define constants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1000" dirty="0" smtClean="0"/>
          </a:p>
          <a:p>
            <a:r>
              <a:rPr lang="en-US" dirty="0" smtClean="0"/>
              <a:t>Bottom up modeling approach for structured mesh: </a:t>
            </a:r>
          </a:p>
          <a:p>
            <a:pPr lvl="1"/>
            <a:r>
              <a:rPr lang="en-US" dirty="0"/>
              <a:t>Points → </a:t>
            </a:r>
            <a:r>
              <a:rPr lang="en-US" dirty="0" smtClean="0"/>
              <a:t>lines </a:t>
            </a:r>
            <a:r>
              <a:rPr lang="en-US" dirty="0"/>
              <a:t>→ </a:t>
            </a:r>
            <a:r>
              <a:rPr lang="en-US" dirty="0" smtClean="0"/>
              <a:t>surfaces </a:t>
            </a:r>
            <a:r>
              <a:rPr lang="en-US" dirty="0"/>
              <a:t>→ </a:t>
            </a:r>
            <a:r>
              <a:rPr lang="en-US" dirty="0" smtClean="0"/>
              <a:t>volumes </a:t>
            </a:r>
            <a:r>
              <a:rPr lang="en-US" dirty="0"/>
              <a:t>→ </a:t>
            </a:r>
            <a:r>
              <a:rPr lang="en-US" dirty="0" smtClean="0"/>
              <a:t>mesh</a:t>
            </a:r>
          </a:p>
          <a:p>
            <a:pPr lvl="1"/>
            <a:endParaRPr lang="en-US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607192"/>
              </p:ext>
            </p:extLst>
          </p:nvPr>
        </p:nvGraphicFramePr>
        <p:xfrm>
          <a:off x="796402" y="1188173"/>
          <a:ext cx="7520299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overall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= 10;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pmlW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= 1;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plateW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= 0.1;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plateH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= 3.5;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platePosX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= 2;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platePosY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= 2.25;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elemSize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= 0.1; 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329072"/>
              </p:ext>
            </p:extLst>
          </p:nvPr>
        </p:nvGraphicFramePr>
        <p:xfrm>
          <a:off x="794566" y="3863459"/>
          <a:ext cx="75202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//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define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basepoint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for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plate</a:t>
                      </a:r>
                      <a:endParaRPr lang="de-CH" sz="1600" b="0" i="1" u="none" strike="noStrike" dirty="0" smtClean="0">
                        <a:solidFill>
                          <a:srgbClr val="5F9EA0"/>
                        </a:solidFill>
                        <a:effectLst/>
                        <a:latin typeface="Courier New"/>
                      </a:endParaRP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basePoint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= -overall/2+pmlW+platePosY;</a:t>
                      </a:r>
                    </a:p>
                    <a:p>
                      <a:endParaRPr lang="de-CH" sz="1600" b="0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/>
                      </a:endParaRP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Point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(1) = {-overall/2, -overall/2 , 0, 1.0};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Point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(2) = {-overall/2, -overall/2+pmlW , 0, 1.0};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Point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(3) = {-overall/2,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basePoint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, 0, 1.0};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Point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(4) = {-overall/2,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basePoint+plateH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, 0, 1.0};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Point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(5) = {-overall/2,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overall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/2-pmlW , 0, 1.0};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Point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(6) = {-overall/2,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overall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/2 , 0, 1.0};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8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2: Acoustics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Define lines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Current state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2400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1000" dirty="0" smtClean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" t="1260" b="1291"/>
          <a:stretch/>
        </p:blipFill>
        <p:spPr>
          <a:xfrm>
            <a:off x="785247" y="3017003"/>
            <a:ext cx="5128667" cy="3239146"/>
          </a:xfrm>
          <a:prstGeom prst="rect">
            <a:avLst/>
          </a:prstGeom>
        </p:spPr>
      </p:pic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157692"/>
              </p:ext>
            </p:extLst>
          </p:nvPr>
        </p:nvGraphicFramePr>
        <p:xfrm>
          <a:off x="796402" y="1243258"/>
          <a:ext cx="7520299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en-US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Line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(1) = {1, 2};</a:t>
                      </a:r>
                    </a:p>
                    <a:p>
                      <a:r>
                        <a:rPr lang="en-US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Line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(2) = {2, 3};</a:t>
                      </a:r>
                    </a:p>
                    <a:p>
                      <a:r>
                        <a:rPr lang="en-US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Line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(3) = {3, 4};</a:t>
                      </a:r>
                    </a:p>
                    <a:p>
                      <a:r>
                        <a:rPr lang="en-US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Line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(4) = {4, 5};</a:t>
                      </a:r>
                    </a:p>
                    <a:p>
                      <a:r>
                        <a:rPr lang="en-US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Line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(5) = {5, 6};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30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2: Acoustics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Extrusion leads to </a:t>
            </a:r>
            <a:r>
              <a:rPr lang="en-US" dirty="0" err="1" smtClean="0"/>
              <a:t>mis</a:t>
            </a:r>
            <a:r>
              <a:rPr lang="en-US" dirty="0" smtClean="0"/>
              <a:t>-oriented elements but CFS++ will correct this later 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Get rid of  multiple entities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1000" dirty="0" smtClean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430" y="3095740"/>
            <a:ext cx="3480149" cy="3067554"/>
          </a:xfrm>
          <a:prstGeom prst="rect">
            <a:avLst/>
          </a:prstGeom>
        </p:spPr>
      </p:pic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669665"/>
              </p:ext>
            </p:extLst>
          </p:nvPr>
        </p:nvGraphicFramePr>
        <p:xfrm>
          <a:off x="796402" y="1144105"/>
          <a:ext cx="7520299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Extrude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{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pmlW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 0, 0 }{ </a:t>
                      </a:r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Line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{1,2,3,4,5}; }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Extrude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{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platePosX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 0, 0 }{ </a:t>
                      </a:r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Line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{6,10,14,18,22}; }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Extrude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{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plateW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 0, 0 }{ </a:t>
                      </a:r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Line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{26,30,34,38,42}; }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Extrude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{ overall-2*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pmlW-platePosX-plateW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 0, 0 }{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</a:t>
                      </a:r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Line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{46,50,54,58,62};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}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Extrude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{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pmlW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 0, 0 }{ </a:t>
                      </a:r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Line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{66,70,74,78,82}; }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330940"/>
              </p:ext>
            </p:extLst>
          </p:nvPr>
        </p:nvGraphicFramePr>
        <p:xfrm>
          <a:off x="728466" y="3730357"/>
          <a:ext cx="3986754" cy="703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6754"/>
              </a:tblGrid>
              <a:tr h="703972">
                <a:tc>
                  <a:txBody>
                    <a:bodyPr/>
                    <a:lstStyle/>
                    <a:p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//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combine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double </a:t>
                      </a:r>
                      <a:r>
                        <a:rPr lang="de-CH" sz="1600" b="0" i="1" u="none" strike="noStrike" dirty="0" err="1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entities</a:t>
                      </a:r>
                      <a:r>
                        <a:rPr lang="de-CH" sz="1600" b="0" i="1" u="none" strike="noStrike" dirty="0" smtClean="0">
                          <a:solidFill>
                            <a:srgbClr val="5F9EA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Coherence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30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2: Acoustics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Generate regions to address later in CFS++</a:t>
            </a:r>
          </a:p>
          <a:p>
            <a:endParaRPr lang="en-US" sz="8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1000" dirty="0" smtClean="0"/>
          </a:p>
          <a:p>
            <a:r>
              <a:rPr lang="en-US" dirty="0" smtClean="0"/>
              <a:t>Structured meshing and recombine triangles to quadrilaterals</a:t>
            </a:r>
          </a:p>
          <a:p>
            <a:endParaRPr lang="en-US" dirty="0" smtClean="0"/>
          </a:p>
          <a:p>
            <a:endParaRPr lang="en-US" sz="32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1000" dirty="0" smtClean="0"/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427739"/>
              </p:ext>
            </p:extLst>
          </p:nvPr>
        </p:nvGraphicFramePr>
        <p:xfrm>
          <a:off x="796402" y="1188173"/>
          <a:ext cx="7520299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Physical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Surface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(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prop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) = {33,53,73,38,77,41,61,81,37};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Physical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Surface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(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plate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) = {57};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Physical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Surface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(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pml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) =</a:t>
                      </a:r>
                      <a:r>
                        <a:rPr lang="de-CH" sz="1600" b="0" i="0" u="none" strike="noStrike" baseline="0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{</a:t>
                      </a:r>
                    </a:p>
                    <a:p>
                      <a:r>
                        <a:rPr lang="de-CH" sz="1600" b="0" i="0" u="none" strike="noStrike" baseline="0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9,29,49,69,89,93,97,101,105,85,65,45,25,21,17,13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};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416900"/>
              </p:ext>
            </p:extLst>
          </p:nvPr>
        </p:nvGraphicFramePr>
        <p:xfrm>
          <a:off x="794566" y="2949060"/>
          <a:ext cx="7520299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Transfinite </a:t>
                      </a:r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Surface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'*';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Recombine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Surface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'*';</a:t>
                      </a:r>
                    </a:p>
                    <a:p>
                      <a:endParaRPr lang="de-CH" sz="1600" b="0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/>
                      </a:endParaRP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Transfinite </a:t>
                      </a:r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Line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{7,8,12,16,20,24,87,88,92,96,100,104} = ((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pmlW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)/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elemSize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)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Using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Progression 1;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Transfinite </a:t>
                      </a:r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Line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{27,28,32,36,40,44} = ((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platePosX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)/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elemSize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)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Using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Progression 1;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Transfinite </a:t>
                      </a:r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Line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{47,48,52,56,60,64} = ((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plateW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)/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elemSize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)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Using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Progression 1;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Transfinite </a:t>
                      </a:r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Line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{67,68,72,76,80,84} = ((overall-2*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pmlW-platePosX-plateW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)/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elemSize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)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Using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Progression 1;</a:t>
                      </a:r>
                    </a:p>
                    <a:p>
                      <a:endParaRPr lang="de-CH" sz="1600" b="0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/>
                      </a:endParaRP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23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2: Acoustics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Perform meshing with 2</a:t>
            </a:r>
            <a:r>
              <a:rPr lang="en-US" baseline="30000" dirty="0" smtClean="0"/>
              <a:t>nd</a:t>
            </a:r>
            <a:r>
              <a:rPr lang="en-US" dirty="0" smtClean="0"/>
              <a:t> order elements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Color by physical entities</a:t>
            </a:r>
          </a:p>
          <a:p>
            <a:pPr lvl="1"/>
            <a:r>
              <a:rPr lang="en-US" sz="1600" dirty="0" smtClean="0"/>
              <a:t>Tools </a:t>
            </a:r>
            <a:r>
              <a:rPr lang="en-US" sz="1600" dirty="0"/>
              <a:t>→ </a:t>
            </a:r>
            <a:r>
              <a:rPr lang="en-US" sz="1600" dirty="0" smtClean="0"/>
              <a:t>Options </a:t>
            </a:r>
            <a:r>
              <a:rPr lang="en-US" sz="1600" dirty="0"/>
              <a:t>→</a:t>
            </a:r>
            <a:r>
              <a:rPr lang="en-US" sz="1600" dirty="0" smtClean="0"/>
              <a:t> Mesh</a:t>
            </a:r>
            <a:endParaRPr lang="en-US" sz="1600" dirty="0"/>
          </a:p>
          <a:p>
            <a:pPr lvl="2"/>
            <a:r>
              <a:rPr lang="en-US" sz="1600" dirty="0" smtClean="0"/>
              <a:t>Visibility → Surface faces</a:t>
            </a:r>
          </a:p>
          <a:p>
            <a:pPr lvl="2"/>
            <a:r>
              <a:rPr lang="en-US" sz="1600" dirty="0" smtClean="0"/>
              <a:t>Color → Coloring mode </a:t>
            </a:r>
          </a:p>
          <a:p>
            <a:pPr marL="914400" lvl="2" indent="0">
              <a:buNone/>
            </a:pPr>
            <a:r>
              <a:rPr lang="en-US" sz="1600" dirty="0" smtClean="0"/>
              <a:t>→ By physical group</a:t>
            </a:r>
          </a:p>
          <a:p>
            <a:pPr marL="914400" lvl="2" indent="0">
              <a:buNone/>
            </a:pPr>
            <a:endParaRPr lang="en-US" sz="800" dirty="0"/>
          </a:p>
          <a:p>
            <a:r>
              <a:rPr lang="en-US" dirty="0" smtClean="0"/>
              <a:t>Save the mesh file</a:t>
            </a:r>
          </a:p>
          <a:p>
            <a:pPr lvl="1"/>
            <a:r>
              <a:rPr lang="en-US" dirty="0" smtClean="0"/>
              <a:t>From GUI:</a:t>
            </a:r>
          </a:p>
          <a:p>
            <a:pPr lvl="2"/>
            <a:r>
              <a:rPr lang="en-US" sz="1600" dirty="0" smtClean="0"/>
              <a:t> File → Save Mesh</a:t>
            </a:r>
          </a:p>
          <a:p>
            <a:pPr lvl="2"/>
            <a:r>
              <a:rPr lang="en-US" sz="1600" dirty="0" smtClean="0"/>
              <a:t> Modules </a:t>
            </a:r>
            <a:r>
              <a:rPr lang="en-US" sz="1600" dirty="0"/>
              <a:t>→ </a:t>
            </a:r>
            <a:r>
              <a:rPr lang="en-US" sz="1600" dirty="0" smtClean="0"/>
              <a:t>Mesh </a:t>
            </a:r>
            <a:r>
              <a:rPr lang="en-US" sz="1600" dirty="0"/>
              <a:t>→ </a:t>
            </a:r>
            <a:r>
              <a:rPr lang="en-US" sz="1600" dirty="0" smtClean="0"/>
              <a:t>Save</a:t>
            </a:r>
          </a:p>
          <a:p>
            <a:pPr lvl="2"/>
            <a:endParaRPr lang="en-US" sz="800" dirty="0" smtClean="0"/>
          </a:p>
          <a:p>
            <a:pPr lvl="1"/>
            <a:r>
              <a:rPr lang="en-US" dirty="0" smtClean="0"/>
              <a:t>From command line: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1000" dirty="0" smtClean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816707"/>
              </p:ext>
            </p:extLst>
          </p:nvPr>
        </p:nvGraphicFramePr>
        <p:xfrm>
          <a:off x="760486" y="5677778"/>
          <a:ext cx="5316464" cy="399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6464"/>
              </a:tblGrid>
              <a:tr h="399172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$ </a:t>
                      </a:r>
                      <a:r>
                        <a:rPr lang="en-US" sz="1600" dirty="0" err="1" smtClean="0">
                          <a:latin typeface="Courier New" pitchFamily="49" charset="0"/>
                          <a:cs typeface="Courier New" pitchFamily="49" charset="0"/>
                        </a:rPr>
                        <a:t>gmsh</a:t>
                      </a:r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 -2 -bin -n -</a:t>
                      </a:r>
                      <a:r>
                        <a:rPr lang="en-US" sz="1600" dirty="0" err="1" smtClean="0">
                          <a:latin typeface="Courier New" pitchFamily="49" charset="0"/>
                          <a:cs typeface="Courier New" pitchFamily="49" charset="0"/>
                        </a:rPr>
                        <a:t>nopopup</a:t>
                      </a:r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dirty="0" err="1" smtClean="0">
                          <a:latin typeface="Courier New" pitchFamily="49" charset="0"/>
                          <a:cs typeface="Courier New" pitchFamily="49" charset="0"/>
                        </a:rPr>
                        <a:t>plateMesh.geo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510437"/>
              </p:ext>
            </p:extLst>
          </p:nvPr>
        </p:nvGraphicFramePr>
        <p:xfrm>
          <a:off x="674761" y="1134353"/>
          <a:ext cx="7520299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en-US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Mesh.ElementOrder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= 2;</a:t>
                      </a:r>
                    </a:p>
                    <a:p>
                      <a:r>
                        <a:rPr lang="en-US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Mesh.SecondOrderIncomplete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= 1;</a:t>
                      </a:r>
                    </a:p>
                    <a:p>
                      <a:r>
                        <a:rPr lang="en-US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Mesh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2;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461" y="1685924"/>
            <a:ext cx="4894764" cy="3915913"/>
          </a:xfrm>
          <a:prstGeom prst="rect">
            <a:avLst/>
          </a:prstGeom>
        </p:spPr>
      </p:pic>
      <p:sp>
        <p:nvSpPr>
          <p:cNvPr id="11" name="Textfeld 10"/>
          <p:cNvSpPr txBox="1"/>
          <p:nvPr/>
        </p:nvSpPr>
        <p:spPr>
          <a:xfrm>
            <a:off x="7072574" y="4236998"/>
            <a:ext cx="58772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 smtClean="0"/>
              <a:t>prop</a:t>
            </a:r>
            <a:endParaRPr lang="en-US" sz="1600" b="1" dirty="0"/>
          </a:p>
        </p:txBody>
      </p:sp>
      <p:sp>
        <p:nvSpPr>
          <p:cNvPr id="12" name="Textfeld 11"/>
          <p:cNvSpPr txBox="1"/>
          <p:nvPr/>
        </p:nvSpPr>
        <p:spPr>
          <a:xfrm>
            <a:off x="6591083" y="3459214"/>
            <a:ext cx="61465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 smtClean="0"/>
              <a:t>plate</a:t>
            </a:r>
            <a:endParaRPr lang="en-US" sz="1600" b="1" dirty="0"/>
          </a:p>
        </p:txBody>
      </p:sp>
      <p:sp>
        <p:nvSpPr>
          <p:cNvPr id="13" name="Textfeld 12"/>
          <p:cNvSpPr txBox="1"/>
          <p:nvPr/>
        </p:nvSpPr>
        <p:spPr>
          <a:xfrm>
            <a:off x="7961017" y="2064839"/>
            <a:ext cx="511679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 err="1" smtClean="0"/>
              <a:t>pml</a:t>
            </a:r>
            <a:endParaRPr lang="en-US" sz="1600" b="1" dirty="0"/>
          </a:p>
        </p:txBody>
      </p:sp>
      <p:cxnSp>
        <p:nvCxnSpPr>
          <p:cNvPr id="14" name="Gerade Verbindung mit Pfeil 13"/>
          <p:cNvCxnSpPr>
            <a:stCxn id="12" idx="1"/>
          </p:cNvCxnSpPr>
          <p:nvPr/>
        </p:nvCxnSpPr>
        <p:spPr>
          <a:xfrm flipH="1">
            <a:off x="6210843" y="3628491"/>
            <a:ext cx="380240" cy="1538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58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2: Acoustics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Setup the XML file for describing the physics and simulation parameter</a:t>
            </a:r>
            <a:br>
              <a:rPr lang="en-US" dirty="0" smtClean="0"/>
            </a:br>
            <a:r>
              <a:rPr lang="en-US" dirty="0" smtClean="0"/>
              <a:t>(just will discuss differences to previous example)</a:t>
            </a:r>
          </a:p>
          <a:p>
            <a:pPr lvl="1"/>
            <a:r>
              <a:rPr lang="en-US" dirty="0" smtClean="0"/>
              <a:t>Hint: search for a similar problem in the CFS++ - TESTSUIT</a:t>
            </a:r>
          </a:p>
          <a:p>
            <a:pPr lvl="1"/>
            <a:r>
              <a:rPr lang="en-US" dirty="0" smtClean="0"/>
              <a:t>Domain with regions 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44</a:t>
            </a:fld>
            <a:endParaRPr lang="en-US" dirty="0"/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941717"/>
              </p:ext>
            </p:extLst>
          </p:nvPr>
        </p:nvGraphicFramePr>
        <p:xfrm>
          <a:off x="1093861" y="2239253"/>
          <a:ext cx="752029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913521">
                <a:tc>
                  <a:txBody>
                    <a:bodyPr/>
                    <a:lstStyle/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domain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geometryType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"plane"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material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"air"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"prop"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material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"air"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"plate"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material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"air"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en-US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pml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nodeList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nodes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"excite"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coord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x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"0.0"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y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"0.0"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z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"0.0"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&lt;/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nodes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nodeList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&lt;/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domain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" name="Gerade Verbindung mit Pfeil 7"/>
          <p:cNvCxnSpPr/>
          <p:nvPr/>
        </p:nvCxnSpPr>
        <p:spPr>
          <a:xfrm flipH="1" flipV="1">
            <a:off x="4800600" y="4448176"/>
            <a:ext cx="1338942" cy="290212"/>
          </a:xfrm>
          <a:prstGeom prst="straightConnector1">
            <a:avLst/>
          </a:prstGeom>
          <a:ln w="15875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/>
          <p:cNvSpPr txBox="1"/>
          <p:nvPr/>
        </p:nvSpPr>
        <p:spPr>
          <a:xfrm>
            <a:off x="6139542" y="4276723"/>
            <a:ext cx="25067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Define excitation node.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One could also define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 Physical Point in </a:t>
            </a:r>
            <a:r>
              <a:rPr lang="en-US" dirty="0" err="1" smtClean="0">
                <a:solidFill>
                  <a:schemeClr val="bg1"/>
                </a:solidFill>
              </a:rPr>
              <a:t>Gmsh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3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2: Acoustics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657829"/>
            <a:ext cx="8640960" cy="5256584"/>
          </a:xfrm>
        </p:spPr>
        <p:txBody>
          <a:bodyPr>
            <a:normAutofit/>
          </a:bodyPr>
          <a:lstStyle/>
          <a:p>
            <a:r>
              <a:rPr lang="en-US" dirty="0" smtClean="0"/>
              <a:t>Setup the xml-File for describing the physics and simulation parameter</a:t>
            </a:r>
          </a:p>
          <a:p>
            <a:pPr lvl="1"/>
            <a:r>
              <a:rPr lang="en-US" dirty="0" smtClean="0"/>
              <a:t>Start the sequence and define analysis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1200" dirty="0" smtClean="0"/>
          </a:p>
          <a:p>
            <a:pPr lvl="1"/>
            <a:r>
              <a:rPr lang="en-US" dirty="0" smtClean="0"/>
              <a:t>Define PDE for acoustics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337739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45</a:t>
            </a:fld>
            <a:endParaRPr lang="en-US" dirty="0"/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005338"/>
              </p:ext>
            </p:extLst>
          </p:nvPr>
        </p:nvGraphicFramePr>
        <p:xfrm>
          <a:off x="1092433" y="4605679"/>
          <a:ext cx="752029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518772">
                <a:tc>
                  <a:txBody>
                    <a:bodyPr/>
                    <a:lstStyle/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pdeList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acoustic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"prop"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  <a:endParaRPr lang="en-US" sz="1600" b="0" i="0" u="none" strike="noStrike" dirty="0" smtClean="0">
                        <a:solidFill>
                          <a:srgbClr val="DEB887"/>
                        </a:solidFill>
                        <a:effectLst/>
                        <a:latin typeface="Courier New"/>
                      </a:endParaRP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en-US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en-US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pml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 </a:t>
                      </a:r>
                      <a:r>
                        <a:rPr lang="en-US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dampingId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en-US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myPml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&lt;/</a:t>
                      </a:r>
                      <a:r>
                        <a:rPr lang="en-US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756725"/>
              </p:ext>
            </p:extLst>
          </p:nvPr>
        </p:nvGraphicFramePr>
        <p:xfrm>
          <a:off x="1093861" y="1420103"/>
          <a:ext cx="75202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sequenceStep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analysis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harmonic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numFreq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10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numFreq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startFreq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0.1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startFreq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stopFreq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2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stopFreq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baseline="0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sampling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&gt;linear&lt;/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sampling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harmonic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analysis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95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2: Acoustics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657829"/>
            <a:ext cx="8640960" cy="5256584"/>
          </a:xfrm>
        </p:spPr>
        <p:txBody>
          <a:bodyPr>
            <a:normAutofit/>
          </a:bodyPr>
          <a:lstStyle/>
          <a:p>
            <a:r>
              <a:rPr lang="en-US" dirty="0" smtClean="0"/>
              <a:t>Setup the xml-File for describing the physics and simulation parameter</a:t>
            </a:r>
          </a:p>
          <a:p>
            <a:pPr lvl="1"/>
            <a:r>
              <a:rPr lang="en-US" dirty="0" smtClean="0"/>
              <a:t>Define the PML (Perfectly Matched Layer) used for free field radiation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1000" dirty="0" smtClean="0"/>
          </a:p>
          <a:p>
            <a:pPr lvl="1"/>
            <a:r>
              <a:rPr lang="en-US" dirty="0" smtClean="0"/>
              <a:t>Define excitation and output results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684033"/>
              </p:ext>
            </p:extLst>
          </p:nvPr>
        </p:nvGraphicFramePr>
        <p:xfrm>
          <a:off x="1092433" y="3586504"/>
          <a:ext cx="75202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518772">
                <a:tc>
                  <a:txBody>
                    <a:bodyPr/>
                    <a:lstStyle/>
                    <a:p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bcsAndLoads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pressure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value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"1"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excite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bcsAndLoads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endParaRPr lang="de-CH" sz="1600" b="0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/>
                      </a:endParaRP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storeResults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nodeResult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type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acouPressure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allRegions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nodeResult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storeResults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endParaRPr lang="en-US" sz="1600" b="0" i="0" u="none" strike="noStrike" dirty="0" smtClean="0">
                        <a:solidFill>
                          <a:srgbClr val="EEEEEE"/>
                        </a:solidFill>
                        <a:effectLst/>
                        <a:latin typeface="Courier New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478504"/>
              </p:ext>
            </p:extLst>
          </p:nvPr>
        </p:nvGraphicFramePr>
        <p:xfrm>
          <a:off x="1093861" y="1401053"/>
          <a:ext cx="752029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dampingList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pml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id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myPml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type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inverseDist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&lt;/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type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baseline="0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dampFactor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&gt;1.0&lt;/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dampFactor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pml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dampingList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79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2: Acoustics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657829"/>
            <a:ext cx="8640960" cy="5256584"/>
          </a:xfrm>
        </p:spPr>
        <p:txBody>
          <a:bodyPr>
            <a:normAutofit/>
          </a:bodyPr>
          <a:lstStyle/>
          <a:p>
            <a:r>
              <a:rPr lang="en-US" dirty="0" smtClean="0"/>
              <a:t>Material file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Speed of sound</a:t>
            </a:r>
          </a:p>
        </p:txBody>
      </p:sp>
      <p:pic>
        <p:nvPicPr>
          <p:cNvPr id="4" name="Grafik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109" y="4091358"/>
            <a:ext cx="2732233" cy="537668"/>
          </a:xfrm>
          <a:prstGeom prst="rect">
            <a:avLst/>
          </a:prstGeom>
        </p:spPr>
      </p:pic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193297"/>
              </p:ext>
            </p:extLst>
          </p:nvPr>
        </p:nvGraphicFramePr>
        <p:xfrm>
          <a:off x="1093861" y="1124828"/>
          <a:ext cx="7520299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cfsMaterialDataBase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F08080"/>
                          </a:solidFill>
                          <a:effectLst/>
                          <a:latin typeface="Courier New"/>
                        </a:rPr>
                        <a:t>xmlns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"http://www.cfs++.org"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material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air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acoustic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density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1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density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compressionModulus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1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compressionModulus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acoustic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&lt;/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material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cfsMaterialDataBase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28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2: Acoustics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657829"/>
            <a:ext cx="8640960" cy="5256584"/>
          </a:xfrm>
        </p:spPr>
        <p:txBody>
          <a:bodyPr>
            <a:normAutofit/>
          </a:bodyPr>
          <a:lstStyle/>
          <a:p>
            <a:r>
              <a:rPr lang="en-US" dirty="0" smtClean="0"/>
              <a:t>Perform simulation „</a:t>
            </a:r>
            <a:r>
              <a:rPr lang="en-US" dirty="0" err="1" smtClean="0"/>
              <a:t>cfs</a:t>
            </a:r>
            <a:r>
              <a:rPr lang="en-US" dirty="0" smtClean="0"/>
              <a:t> </a:t>
            </a:r>
            <a:r>
              <a:rPr lang="en-US" dirty="0" err="1" smtClean="0"/>
              <a:t>noiseBarrier</a:t>
            </a:r>
            <a:r>
              <a:rPr lang="en-US" dirty="0" smtClean="0"/>
              <a:t>“ and start </a:t>
            </a:r>
            <a:r>
              <a:rPr lang="en-US" dirty="0" err="1" smtClean="0"/>
              <a:t>ParaView</a:t>
            </a:r>
            <a:r>
              <a:rPr lang="en-US" dirty="0" smtClean="0"/>
              <a:t> to investigate the solution 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20" t="14989" r="30389" b="14636"/>
          <a:stretch/>
        </p:blipFill>
        <p:spPr>
          <a:xfrm>
            <a:off x="795645" y="1448788"/>
            <a:ext cx="3574473" cy="3550723"/>
          </a:xfrm>
          <a:prstGeom prst="rect">
            <a:avLst/>
          </a:prstGeom>
        </p:spPr>
      </p:pic>
      <p:sp>
        <p:nvSpPr>
          <p:cNvPr id="7" name="Textfeld 6"/>
          <p:cNvSpPr txBox="1"/>
          <p:nvPr/>
        </p:nvSpPr>
        <p:spPr>
          <a:xfrm>
            <a:off x="2006923" y="5106394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smtClean="0"/>
              <a:t>0.31Hz</a:t>
            </a:r>
            <a:endParaRPr lang="en-US" b="1" dirty="0"/>
          </a:p>
        </p:txBody>
      </p:sp>
      <p:sp>
        <p:nvSpPr>
          <p:cNvPr id="11" name="Textfeld 10"/>
          <p:cNvSpPr txBox="1"/>
          <p:nvPr/>
        </p:nvSpPr>
        <p:spPr>
          <a:xfrm>
            <a:off x="5983178" y="221871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smtClean="0"/>
              <a:t>2Hz</a:t>
            </a:r>
            <a:endParaRPr lang="en-US" b="1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20" t="24640" b="21462"/>
          <a:stretch/>
        </p:blipFill>
        <p:spPr>
          <a:xfrm>
            <a:off x="7688569" y="1235033"/>
            <a:ext cx="1407927" cy="2149434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79" t="14754" r="30649" b="15578"/>
          <a:stretch/>
        </p:blipFill>
        <p:spPr>
          <a:xfrm>
            <a:off x="4465120" y="2707568"/>
            <a:ext cx="3526971" cy="351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0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60" b="11120"/>
          <a:stretch/>
        </p:blipFill>
        <p:spPr>
          <a:xfrm>
            <a:off x="293687" y="1175164"/>
            <a:ext cx="7896225" cy="331111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3: Piezoelectricity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Problem setup: Steel cantilever and piezoelectric layer (bimorph)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Goal</a:t>
            </a:r>
          </a:p>
          <a:p>
            <a:pPr lvl="1"/>
            <a:r>
              <a:rPr lang="en-US" dirty="0" smtClean="0"/>
              <a:t>Perform a static analysis to obtain deflection, mechanical stresses and electric field intensity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312447" y="650176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49</a:t>
            </a:fld>
            <a:endParaRPr lang="en-US" dirty="0"/>
          </a:p>
        </p:txBody>
      </p:sp>
      <p:cxnSp>
        <p:nvCxnSpPr>
          <p:cNvPr id="7" name="Gerade Verbindung mit Pfeil 6"/>
          <p:cNvCxnSpPr>
            <a:stCxn id="8" idx="3"/>
          </p:cNvCxnSpPr>
          <p:nvPr/>
        </p:nvCxnSpPr>
        <p:spPr>
          <a:xfrm>
            <a:off x="4903809" y="3683000"/>
            <a:ext cx="46719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/>
          <p:cNvSpPr txBox="1"/>
          <p:nvPr/>
        </p:nvSpPr>
        <p:spPr>
          <a:xfrm>
            <a:off x="3232774" y="3498334"/>
            <a:ext cx="1671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Fully supported</a:t>
            </a:r>
            <a:endParaRPr lang="en-US" b="1" dirty="0"/>
          </a:p>
        </p:txBody>
      </p:sp>
      <p:cxnSp>
        <p:nvCxnSpPr>
          <p:cNvPr id="10" name="Gerade Verbindung mit Pfeil 9"/>
          <p:cNvCxnSpPr>
            <a:stCxn id="12" idx="1"/>
          </p:cNvCxnSpPr>
          <p:nvPr/>
        </p:nvCxnSpPr>
        <p:spPr>
          <a:xfrm flipH="1" flipV="1">
            <a:off x="2514600" y="3683001"/>
            <a:ext cx="608373" cy="710942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3122973" y="4209277"/>
            <a:ext cx="1651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Steel cantilever</a:t>
            </a:r>
            <a:endParaRPr lang="en-US" b="1" dirty="0"/>
          </a:p>
        </p:txBody>
      </p:sp>
      <p:cxnSp>
        <p:nvCxnSpPr>
          <p:cNvPr id="13" name="Gerade Verbindung mit Pfeil 12"/>
          <p:cNvCxnSpPr>
            <a:stCxn id="14" idx="2"/>
          </p:cNvCxnSpPr>
          <p:nvPr/>
        </p:nvCxnSpPr>
        <p:spPr>
          <a:xfrm>
            <a:off x="3122973" y="1979634"/>
            <a:ext cx="2566627" cy="1156648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/>
          <p:cNvSpPr txBox="1"/>
          <p:nvPr/>
        </p:nvSpPr>
        <p:spPr>
          <a:xfrm>
            <a:off x="2169090" y="1610302"/>
            <a:ext cx="1907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Piezoelectric layer</a:t>
            </a:r>
            <a:endParaRPr lang="en-US" b="1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47" y="1853592"/>
            <a:ext cx="3948112" cy="2976562"/>
          </a:xfrm>
          <a:prstGeom prst="rect">
            <a:avLst/>
          </a:prstGeom>
        </p:spPr>
      </p:pic>
      <p:cxnSp>
        <p:nvCxnSpPr>
          <p:cNvPr id="20" name="Gerade Verbindung mit Pfeil 19"/>
          <p:cNvCxnSpPr>
            <a:stCxn id="12" idx="3"/>
          </p:cNvCxnSpPr>
          <p:nvPr/>
        </p:nvCxnSpPr>
        <p:spPr>
          <a:xfrm flipV="1">
            <a:off x="4774451" y="4209277"/>
            <a:ext cx="1867649" cy="18466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/>
          <p:cNvCxnSpPr/>
          <p:nvPr/>
        </p:nvCxnSpPr>
        <p:spPr>
          <a:xfrm flipV="1">
            <a:off x="4876878" y="3341874"/>
            <a:ext cx="494121" cy="341126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/>
          <p:cNvSpPr txBox="1"/>
          <p:nvPr/>
        </p:nvSpPr>
        <p:spPr>
          <a:xfrm>
            <a:off x="7555481" y="4370820"/>
            <a:ext cx="1089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Ground</a:t>
            </a:r>
          </a:p>
          <a:p>
            <a:pPr algn="ctr"/>
            <a:r>
              <a:rPr lang="en-US" b="1" dirty="0" smtClean="0"/>
              <a:t>electrode</a:t>
            </a:r>
            <a:endParaRPr lang="en-US" b="1" dirty="0"/>
          </a:p>
        </p:txBody>
      </p:sp>
      <p:sp>
        <p:nvSpPr>
          <p:cNvPr id="33" name="Textfeld 32"/>
          <p:cNvSpPr txBox="1"/>
          <p:nvPr/>
        </p:nvSpPr>
        <p:spPr>
          <a:xfrm>
            <a:off x="7007665" y="2194976"/>
            <a:ext cx="1491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Hot electrode</a:t>
            </a:r>
            <a:endParaRPr lang="en-US" b="1" dirty="0"/>
          </a:p>
        </p:txBody>
      </p:sp>
      <p:cxnSp>
        <p:nvCxnSpPr>
          <p:cNvPr id="34" name="Gerade Verbindung mit Pfeil 33"/>
          <p:cNvCxnSpPr>
            <a:stCxn id="33" idx="2"/>
          </p:cNvCxnSpPr>
          <p:nvPr/>
        </p:nvCxnSpPr>
        <p:spPr>
          <a:xfrm flipH="1">
            <a:off x="7391404" y="2564308"/>
            <a:ext cx="362011" cy="571974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/>
          <p:cNvCxnSpPr>
            <a:stCxn id="32" idx="0"/>
          </p:cNvCxnSpPr>
          <p:nvPr/>
        </p:nvCxnSpPr>
        <p:spPr>
          <a:xfrm flipH="1" flipV="1">
            <a:off x="7667740" y="3867666"/>
            <a:ext cx="432313" cy="503154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4" idx="2"/>
          </p:cNvCxnSpPr>
          <p:nvPr/>
        </p:nvCxnSpPr>
        <p:spPr>
          <a:xfrm>
            <a:off x="3122973" y="1979634"/>
            <a:ext cx="109801" cy="752217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86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25249"/>
              </p:ext>
            </p:extLst>
          </p:nvPr>
        </p:nvGraphicFramePr>
        <p:xfrm>
          <a:off x="1092433" y="4062754"/>
          <a:ext cx="7520299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5187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setelems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'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quadr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'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allsel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 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,s,,,2 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,a,,,5 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,a,,,8 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,a,,,11 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amesh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,all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648458"/>
              </p:ext>
            </p:extLst>
          </p:nvPr>
        </p:nvGraphicFramePr>
        <p:xfrm>
          <a:off x="1093861" y="1839203"/>
          <a:ext cx="7520299" cy="913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913521">
                <a:tc>
                  <a:txBody>
                    <a:bodyPr/>
                    <a:lstStyle/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block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,0,L,0,bc,0,b 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block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,0,L,0,bc,b,2*b 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nummrg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,all,1e-7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3: Piezoelectricity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Preprocessor: ANSYS Classic using prep7 commands (just addition parts, which are different to example 1)</a:t>
            </a:r>
          </a:p>
          <a:p>
            <a:pPr lvl="1"/>
            <a:r>
              <a:rPr lang="en-US" dirty="0" smtClean="0"/>
              <a:t>Generate volume for steel cantilever and piezoelectric layer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sz="2800" dirty="0" smtClean="0"/>
          </a:p>
          <a:p>
            <a:pPr lvl="1"/>
            <a:r>
              <a:rPr lang="en-US" dirty="0" smtClean="0"/>
              <a:t>Perform surface meshing for both electrodes (ground and loaded electrode) and for the surface, where the structure is mechanically fixed.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50</a:t>
            </a:fld>
            <a:endParaRPr lang="en-US" dirty="0"/>
          </a:p>
        </p:txBody>
      </p:sp>
      <p:cxnSp>
        <p:nvCxnSpPr>
          <p:cNvPr id="8" name="Gerade Verbindung mit Pfeil 7"/>
          <p:cNvCxnSpPr/>
          <p:nvPr/>
        </p:nvCxnSpPr>
        <p:spPr>
          <a:xfrm flipH="1">
            <a:off x="3067051" y="2404059"/>
            <a:ext cx="1072706" cy="84464"/>
          </a:xfrm>
          <a:prstGeom prst="straightConnector1">
            <a:avLst/>
          </a:prstGeom>
          <a:ln w="15875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/>
          <p:cNvSpPr txBox="1"/>
          <p:nvPr/>
        </p:nvSpPr>
        <p:spPr>
          <a:xfrm>
            <a:off x="4139756" y="2080894"/>
            <a:ext cx="3151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Cleans the model from doubled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keypoints</a:t>
            </a:r>
            <a:r>
              <a:rPr lang="en-US" dirty="0" smtClean="0">
                <a:solidFill>
                  <a:schemeClr val="bg1"/>
                </a:solidFill>
              </a:rPr>
              <a:t>, lines, areas, …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03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3: Piezoelectricity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Preprocessor: </a:t>
            </a:r>
            <a:r>
              <a:rPr lang="en-US" dirty="0"/>
              <a:t>ANSYS Classic using </a:t>
            </a:r>
            <a:r>
              <a:rPr lang="en-US" dirty="0" smtClean="0"/>
              <a:t>prep7 commands </a:t>
            </a:r>
          </a:p>
          <a:p>
            <a:pPr lvl="1"/>
            <a:r>
              <a:rPr lang="en-US" dirty="0" smtClean="0"/>
              <a:t>Write volume elements for both cantilever and piezoelectric layer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sz="2800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Write surface elements for mechanical fixing and electrodes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51</a:t>
            </a:fld>
            <a:endParaRPr lang="en-US" dirty="0"/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732024"/>
              </p:ext>
            </p:extLst>
          </p:nvPr>
        </p:nvGraphicFramePr>
        <p:xfrm>
          <a:off x="1092433" y="4338979"/>
          <a:ext cx="7520301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767"/>
                <a:gridCol w="2506767"/>
                <a:gridCol w="2506767"/>
              </a:tblGrid>
              <a:tr h="518772">
                <a:tc>
                  <a:txBody>
                    <a:bodyPr/>
                    <a:lstStyle/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allsel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,s,,,2 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esla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welems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'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gnd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'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allsel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,s,,,2 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esla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welems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'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gnd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'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allsel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en-US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asel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,s,,,5 </a:t>
                      </a:r>
                    </a:p>
                    <a:p>
                      <a:r>
                        <a:rPr lang="en-US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asel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,a,,,11 </a:t>
                      </a:r>
                    </a:p>
                    <a:p>
                      <a:r>
                        <a:rPr lang="en-US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esla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,,1 </a:t>
                      </a:r>
                    </a:p>
                    <a:p>
                      <a:r>
                        <a:rPr lang="en-US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welems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</a:t>
                      </a:r>
                      <a:r>
                        <a:rPr lang="en-US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'fix-all'</a:t>
                      </a:r>
                      <a:r>
                        <a:rPr lang="en-US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el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131356"/>
              </p:ext>
            </p:extLst>
          </p:nvPr>
        </p:nvGraphicFramePr>
        <p:xfrm>
          <a:off x="1093861" y="1505828"/>
          <a:ext cx="7520299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913521">
                <a:tc>
                  <a:txBody>
                    <a:bodyPr/>
                    <a:lstStyle/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allsel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,all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vsel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,s,,,1 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eslv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welems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'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cantilever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'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allsel</a:t>
                      </a:r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,all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1" i="0" u="none" strike="noStrike" dirty="0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vsel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,s,,,2 </a:t>
                      </a:r>
                    </a:p>
                    <a:p>
                      <a:r>
                        <a:rPr lang="de-CH" sz="1600" b="1" i="0" u="none" strike="noStrike" dirty="0" err="1" smtClean="0">
                          <a:solidFill>
                            <a:srgbClr val="00BFFF"/>
                          </a:solidFill>
                          <a:effectLst/>
                          <a:latin typeface="Courier New"/>
                        </a:rPr>
                        <a:t>eslv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</a:p>
                    <a:p>
                      <a:r>
                        <a:rPr lang="de-CH" sz="1600" b="0" i="0" u="none" strike="noStrike" dirty="0" err="1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welems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,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'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piezoLayer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'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9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3: Piezoelectricity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Setup the XML file for describing the physics and simulation parameter</a:t>
            </a:r>
            <a:br>
              <a:rPr lang="en-US" dirty="0" smtClean="0"/>
            </a:br>
            <a:r>
              <a:rPr lang="en-US" dirty="0" smtClean="0"/>
              <a:t>(just will discuss differences to previous examples)</a:t>
            </a:r>
          </a:p>
          <a:p>
            <a:pPr lvl="1"/>
            <a:r>
              <a:rPr lang="en-US" dirty="0" smtClean="0"/>
              <a:t>Domain with regions 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52</a:t>
            </a:fld>
            <a:endParaRPr lang="en-US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947698"/>
              </p:ext>
            </p:extLst>
          </p:nvPr>
        </p:nvGraphicFramePr>
        <p:xfrm>
          <a:off x="1093861" y="1820153"/>
          <a:ext cx="7520299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7039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domain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geometryType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"3d"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baseline="0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cantilever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material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"Steel"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piezoLayer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material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"PZT-5H"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surfRegionList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surfRegion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gnd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surfRegion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"top"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surfRegion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"fix-all"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surfRegionList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14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3: Piezoelectricity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Setup the XML file for describing the physics and simulation parameter</a:t>
            </a:r>
          </a:p>
          <a:p>
            <a:pPr lvl="1"/>
            <a:r>
              <a:rPr lang="en-US" dirty="0" smtClean="0"/>
              <a:t>Mechanical PDE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1200" dirty="0" smtClean="0"/>
          </a:p>
          <a:p>
            <a:pPr lvl="1"/>
            <a:r>
              <a:rPr lang="en-US" dirty="0" smtClean="0"/>
              <a:t>Electrostatic PDE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157305" y="6444614"/>
            <a:ext cx="693440" cy="365125"/>
          </a:xfrm>
        </p:spPr>
        <p:txBody>
          <a:bodyPr/>
          <a:lstStyle/>
          <a:p>
            <a:fld id="{840D37D5-2D62-4019-B603-311C6B5CF006}" type="slidenum">
              <a:rPr lang="en-US" smtClean="0"/>
              <a:pPr/>
              <a:t>53</a:t>
            </a:fld>
            <a:endParaRPr lang="en-US" dirty="0"/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205586"/>
              </p:ext>
            </p:extLst>
          </p:nvPr>
        </p:nvGraphicFramePr>
        <p:xfrm>
          <a:off x="1092433" y="1494179"/>
          <a:ext cx="7520299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5187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pdeList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mechanic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subType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"3d"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cantilever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piezoLayer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…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43711"/>
              </p:ext>
            </p:extLst>
          </p:nvPr>
        </p:nvGraphicFramePr>
        <p:xfrm>
          <a:off x="1079733" y="3665879"/>
          <a:ext cx="7520299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5187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…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electrostatic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piezoLayer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bcsAndLoads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ground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gnd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de-CH" sz="1600" b="1" i="0" u="none" strike="noStrike" dirty="0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potential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value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"1.0"</a:t>
                      </a:r>
                      <a:r>
                        <a:rPr lang="de-CH" sz="1600" b="0" i="0" u="none" strike="noStrike" dirty="0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"top"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bcsAndLoads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… 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320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3: Piezoelectricity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Setup the XML file for describing the physics and simulation parameter</a:t>
            </a:r>
          </a:p>
          <a:p>
            <a:pPr lvl="1"/>
            <a:r>
              <a:rPr lang="en-US" dirty="0" smtClean="0"/>
              <a:t>Coupling section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Let’s run by typing „</a:t>
            </a:r>
            <a:r>
              <a:rPr lang="en-US" dirty="0" err="1" smtClean="0"/>
              <a:t>cfs</a:t>
            </a:r>
            <a:r>
              <a:rPr lang="en-US" dirty="0" smtClean="0"/>
              <a:t> bimorph“ and analyze the results by using </a:t>
            </a:r>
            <a:r>
              <a:rPr lang="en-US" dirty="0" err="1" smtClean="0"/>
              <a:t>ParaView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7" t="24714" b="24596"/>
          <a:stretch/>
        </p:blipFill>
        <p:spPr>
          <a:xfrm>
            <a:off x="1187536" y="4215737"/>
            <a:ext cx="6222670" cy="1959427"/>
          </a:xfrm>
          <a:prstGeom prst="rect">
            <a:avLst/>
          </a:prstGeom>
        </p:spPr>
      </p:pic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292714"/>
              </p:ext>
            </p:extLst>
          </p:nvPr>
        </p:nvGraphicFramePr>
        <p:xfrm>
          <a:off x="1092433" y="1456079"/>
          <a:ext cx="75202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299"/>
              </a:tblGrid>
              <a:tr h="518772">
                <a:tc>
                  <a:txBody>
                    <a:bodyPr/>
                    <a:lstStyle/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couplingList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direct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piezoDirect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  &lt;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de-CH" sz="1600" b="0" i="0" u="none" strike="noStrike" dirty="0" err="1" smtClean="0">
                          <a:solidFill>
                            <a:srgbClr val="4EEE94"/>
                          </a:solidFill>
                          <a:effectLst/>
                          <a:latin typeface="Courier New"/>
                        </a:rPr>
                        <a:t>name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=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err="1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piezoLayer</a:t>
                      </a:r>
                      <a:r>
                        <a:rPr lang="de-CH" sz="1600" b="0" i="0" u="none" strike="noStrike" dirty="0" smtClean="0">
                          <a:solidFill>
                            <a:srgbClr val="DEB887"/>
                          </a:solidFill>
                          <a:effectLst/>
                          <a:latin typeface="Courier New"/>
                        </a:rPr>
                        <a:t>"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/&gt;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regionList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 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piezoDirect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direct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</a:p>
                    <a:p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    &lt;/</a:t>
                      </a:r>
                      <a:r>
                        <a:rPr lang="de-CH" sz="1600" b="1" i="0" u="none" strike="noStrike" dirty="0" err="1" smtClean="0">
                          <a:solidFill>
                            <a:srgbClr val="DAA520"/>
                          </a:solidFill>
                          <a:effectLst/>
                          <a:latin typeface="Courier New"/>
                        </a:rPr>
                        <a:t>couplingList</a:t>
                      </a:r>
                      <a:r>
                        <a:rPr lang="de-CH" sz="1600" b="0" i="0" u="none" strike="noStrike" dirty="0" smtClean="0">
                          <a:solidFill>
                            <a:srgbClr val="EEEEEE"/>
                          </a:solidFill>
                          <a:effectLst/>
                          <a:latin typeface="Courier New"/>
                        </a:rPr>
                        <a:t>&gt;</a:t>
                      </a:r>
                      <a:endParaRPr lang="en-US" sz="1600" b="1" dirty="0" smtClean="0"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46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3: Piezoelectricity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For more details</a:t>
            </a:r>
          </a:p>
          <a:p>
            <a:pPr lvl="1"/>
            <a:r>
              <a:rPr lang="en-US" smtClean="0"/>
              <a:t>Advanced Pre- and Postprocessing</a:t>
            </a:r>
            <a:br>
              <a:rPr lang="en-US" smtClean="0"/>
            </a:br>
            <a:r>
              <a:rPr lang="en-US" smtClean="0"/>
              <a:t>manual</a:t>
            </a:r>
          </a:p>
          <a:p>
            <a:pPr lvl="1"/>
            <a:endParaRPr lang="en-US" sz="800" smtClean="0"/>
          </a:p>
          <a:p>
            <a:pPr lvl="1"/>
            <a:r>
              <a:rPr lang="en-US" smtClean="0"/>
              <a:t>XML-Reference manual</a:t>
            </a:r>
          </a:p>
          <a:p>
            <a:pPr lvl="1"/>
            <a:endParaRPr lang="en-US" sz="800" smtClean="0"/>
          </a:p>
          <a:p>
            <a:pPr lvl="1"/>
            <a:r>
              <a:rPr lang="en-US" smtClean="0"/>
              <a:t>Introduction to Modeling and Simulation</a:t>
            </a:r>
            <a:br>
              <a:rPr lang="en-US" smtClean="0"/>
            </a:br>
            <a:r>
              <a:rPr lang="en-US" smtClean="0"/>
              <a:t>with CFS++</a:t>
            </a:r>
          </a:p>
          <a:p>
            <a:pPr lvl="1"/>
            <a:endParaRPr lang="en-US" sz="800" smtClean="0"/>
          </a:p>
          <a:p>
            <a:pPr lvl="1"/>
            <a:r>
              <a:rPr lang="en-US" smtClean="0"/>
              <a:t>Look up the examples in the TESTSUIT</a:t>
            </a:r>
          </a:p>
          <a:p>
            <a:pPr lvl="1"/>
            <a:endParaRPr lang="en-US" smtClean="0"/>
          </a:p>
          <a:p>
            <a:pPr lvl="1"/>
            <a:endParaRPr lang="en-US" smtClean="0"/>
          </a:p>
          <a:p>
            <a:pPr lvl="1"/>
            <a:endParaRPr lang="en-US" smtClean="0"/>
          </a:p>
          <a:p>
            <a:pPr lvl="1"/>
            <a:endParaRPr lang="en-US" smtClean="0"/>
          </a:p>
          <a:p>
            <a:pPr lvl="1"/>
            <a:endParaRPr lang="en-US" smtClean="0"/>
          </a:p>
          <a:p>
            <a:pPr lvl="1"/>
            <a:endParaRPr lang="en-US" smtClean="0"/>
          </a:p>
          <a:p>
            <a:endParaRPr lang="en-US" smtClean="0"/>
          </a:p>
          <a:p>
            <a:endParaRPr lang="en-US" smtClean="0"/>
          </a:p>
          <a:p>
            <a:pPr lvl="1"/>
            <a:endParaRPr lang="en-US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288" y="832445"/>
            <a:ext cx="4180114" cy="534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1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Wahr"/>
  <p:tag name="EMBEDFONTS" val="Falsch"/>
  <p:tag name="USEBOLDAMS" val="Falsch"/>
  <p:tag name="DEFAULTDISPLAYSOURCE" val="\documentclass{slides}\pagestyle{empty}&#10;\usepackage{bm}&#10;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ch"/>
  <p:tag name="DEFAULTTRANSPARENT" val="Falsch"/>
  <p:tag name="DEFAULTWORKAROUNDTRANSPARENCYBUG" val="Falsch"/>
  <p:tag name="DEFAULTRESOLUTION" val="600"/>
  <p:tag name="DEFAULTMAGNIFICATION" val="0,8"/>
  <p:tag name="DEFAULTFONTSIZE" val="10"/>
  <p:tag name="DEFAULTWIDTH" val="603"/>
  <p:tag name="DEFAULTHEIGHT" val="42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&#10;\newcommand{\ba}{{\bf a}}&#10;\newcommand{\bA}{{\bf A}}&#10;\newcommand{\bB}{{\bf B}}&#10;\newcommand{\bC}{{\bf C}}&#10;\newcommand{\bc}{{\bf c}}&#10;\newcommand{\cth}{{c}_{\rm th}}&#10;\newcommand{\bD}{{\bf D}}&#10;\newcommand{\bE}{{\bf E}}&#10;\newcommand{\bve}{{\bf e}}&#10;\newcommand{\bvf}{{\bf f}}&#10;\newcommand{\bfv}{{\bf f}_{\rm V}} &#10;\newcommand{\bF}{{\bf F}}&#10;\newcommand{\cF}{{\cal F}}&#10;\newcommand{\bFd}{{\bf F}_{\rm d}}&#10;\newcommand{\bH}{{\bf H}}&#10;\newcommand{\bHd}{{\bf H}_{\rm d}}&#10;\newcommand{\bI}{{\bf I}}&#10;\newcommand{\bJ}{{\bf J}}&#10;\newcommand{\bK}{{\bf K}}&#10;\newcommand{\bk}{{\bf k}}&#10;\newcommand{\bl}{{\bf l}}&#10;\newcommand{\bM}{{\bf M}}&#10;\newcommand{\bm}{{\bf m}}&#10;\newcommand{\bN}{{\bf N}}&#10;\newcommand{\bn}{{\bf n}}&#10;\newcommand{\bq}{{\bf q}}&#10;\newcommand{\qe}{{q_{\rm e}}}&#10;\newcommand{\Qe}{{Q_{\rm e}}}&#10;\newcommand{\bP}{{\bf P}}&#10;\newcommand{\R}{{\bf R}} &#10;\newcommand{\br}{{\bf r}}&#10;\newcommand{\bs}{{\bf s}}&#10;\newcommand{\bS}{{\bf S}}&#10;\newcommand{\bt}{{\bf t}}&#10;\newcommand{\bT}{{\bf T}}&#10;\newcommand{\bv}{{\bf v}} &#10;\newcommand{\bV}{{\bf V}}&#10;\newcommand{\Ve}{{V}_{\rm e}}&#10;\newcommand{\bu}{{\bf u}}&#10;\newcommand{\bW}{{\bf W}}&#10;\newcommand{\bX}{{\bf X}}&#10;\newcommand{\bx}{{\bf x}}&#10;\newcommand{\bw}{{\bf w}}&#10;&#10;\newcommand{\cI}{{\cal I}}&#10;\newcommand{\cP}{{\cal P}}&#10;\newcommand{\cM}{{\cal M}}&#10;\newcommand{\cS}{{\cal S}}&#10;\newcommand{\cQ}{{\cal Q}}&#10;\newcommand{\cJ}{{\cal J}}&#10;\newcommand{\aJ}{{|{\cal J}|}}&#10;&#10;\newcommand{\Coarse}{{\bf coarse \,}}&#10;\newcommand{\Ind}{{\bf ind \,}}&#10;\newcommand{\Curl}{{\bf curl \,}}&#10;\newcommand{\Grad}{{\bf grad \,}}&#10;&#10;%\newcommand{\R}{{\mathbb{R}}}&#10;\newcommand{\Hk}{{B_k}}&#10;\newcommand{\Hkp}{{B_{k+1}}}&#10;\newcommand{\Hkm}{{B_{k-1}}}&#10;\def\B{{\cal B}}&#10;&#10;\newcommand{\ra}{{\,\rm a}}&#10;\newcommand{\rd}{{\,\rm d}}&#10;\newcommand{\rmd}{{\rm d}}&#10;\newcommand{\rme}{{\rm e}}&#10;\newcommand{\re}{{\,\rm e}}&#10;\newcommand{\rj}{{\rm j}}&#10;\newcommand{\rr}{{\rm r}}&#10;\newcommand{\rc}{{\rm c}}&#10;\newcommand{\rp}{{\rm p}}&#10;\newcommand{\rV}{{\rm V}}&#10;\newcommand{\rs}{{\rm s}}&#10;\newcommand{\rE}{{\,\rm E}}&#10;\newcommand{\rI}{{\,\rm I}}&#10;\newcommand{\rf}{{\,\rm f}}&#10;\newcommand{\rGC}{{\,\rm GC}}&#10;\newcommand{\rOC}{{\,\rm OC}}&#10;\newcommand{\rmn}{{\rm n}}&#10;&#10;\newcommand{\bsigma}{{\mbox{\boldmath $\sigma$ }\hspace*{-1.5mm}}} &#10;\newcommand{\bDelta}{{\bf \Delta}}&#10;\newcommand{\bPhi}{{\bf \Phi}}&#10;\newcommand{\bGamma}{{\bf \Gamma}}&#10;\newcommand{\bpsi}{{\mbox{\boldmath $\psi$ }}}&#10;\newcommand{\beps}{{\mbox{\boldmath $\varepsilon$ }}} &#10;\newcommand{\bxi}{{\mbox{\boldmath $\xi$ }}}&#10;\newcommand{\lambdaL}{{\lambda_{\rm L}}}&#10;\newcommand{\muL}{{\mu_{\rm L}}}&#10;\newcommand{\nup}{{\nu_{\rm p}}}&#10;&#10;\newcommand{\bnabla}{{\mbox{\boldmath $\nabla$ }\hspace*{-1mm}}} &#10;\newcommand{\btriangle}{{\mbox{\boldmath $\Delta$}}}&#10;\newcommand{\bnablaX}{{\mbox{{\boldmath $\nabla$}\hspace*{-1mm}$_X\,$}}} &#10;\newcommand{\bcurl}{{\bf curl \,}} &#10;\newcommand{\bdiv}{{\bf div \,}} &#10;\newcommand{\bgrad}{{\bf grad \,}} &#10;\newcommand{\ul}[1]{{\underline #1}}  &#10;\newcommand{\eps}{\varepsilon\/} &#10;%\newcommand{\beps}{[\varepsilon]}&#10;\newcommand{\opdiv}{\mathop{\rm div}\nolimits} &#10;\newcommand{\oprot}{\mathop{\rm rot}\nolimits} &#10;\newcommand{\btau}{{\mbox{\boldmath $\tau$ }}} &#10;&#10;\def\be#1{\begin{equation} \label{#1} }&#10;\def\ee{\end{equation}} &#10;\def\bea#1{\begin{eqnarray} \label{#1} }&#10;\def\eea{\end{eqnarray}} &#10;\def\barr{\begin{array}}&#10;\def\earr{\end{array}}   &#10;\def\norm#1{\|#1\|}&#10;&#10;\newcommand{\uu}[1]{\underline{#1}}&#10;&#10;\newcommand{\Nedelec}{{N${\rm\acute{e}}$d${\rm\acute{e}}$lec }}&#10;\newcommand{\Ampere}{{Amp${\rm\grave{e}}$re}\hspace{1ex}}&#10;%von uffc2000-paper&#10;\def\N{{{\rm I}\!{\rm N}}}&#10;\def\R{{{\rm I}\!{\rm R}}}&#10;\def\Z{{{\rm Z}\!\!{\rm Z}}}&#10;\def\C{{{\rm I}\!\!\!{\rm C}}}&#10;\def\be#1{\begin{equation} \label{#1} }&#10;\def\ee{\end{equation}}&#10;\def\barr{\begin{array}}&#10;\def\earr{\end{array}}&#10;\def\req#1{(\ref{#1})}&#10;\def\norm#1{\hspace{0.2ex} \|#1\| \hspace{0.2ex}}&#10;\def\cE{{\bf c}^E}&#10;\def\e{{\bf e}}&#10;\def\eps{{\bf \varepsilon}^S}&#10;\def\cEcf{{c}^E}&#10;\def\ecf{{e}}&#10;\def\epscf{{\varepsilon}^S}&#10;\def\dd#1#2{\frac{\partial#1}{\partial#2}}&#10;\def\grad{\mbox{grad}}&#10;\def\div{\mbox{div}}&#10;\def\B{{\cal B}}&#10;\def\Gg{{\Gamma_g}}&#10;\def\Ge{{\Gamma_e}}&#10;\def\dh{\hat{d}}&#10;\def\phih{\hat{\phi}}&#10;\def\mdivt{\underline{-div}}&#10;\def\dcf{{\rm d}}&#10;\def\phicf{{\varphi}}&#10;\def\dcfh{\hat{\rm d}}&#10;\def\phicfh{\hat{\varphi}}&#10;\def\nmp{{n_{mp}}}&#10;\def\npar{{n_{par}}}&#10;\def\Phih{\hat{\Phi}}&#10;%\def\delp{\underline{dp}}&#10;\def\delp{{dp}}&#10;\def\delcE{{d{\bf c}^E}}&#10;\def\dele{{d{\bf e}}}&#10;\def\deleps{{d{\bf\varepsilon}^S}}&#10;\def\delcEcf{{d{c}^E}}&#10;\def\delecf{{d{e}}}&#10;\def\delepscf{{{\varepsilon}^S}}&#10;\def\delvdh{{d\vec{\hat{d}}}}&#10;\def\delphih{{d\hat{\phi}}}&#10;\def\delvdcfh{{d\vec{\hat{\rm d}}}}&#10;\def\delphicfh{{d\hat{\varphi}}}&#10;\def\pacu{\acute{p}}&#10;\def\nparacu{\acute{n}_{par}}                         &#10;\def\nmpd{{n_{mp}^d}}&#10;\def\op{{op}}   &#10;&#10;\[&#10;\frac{\mid\mid \underline u_{k+1}^{n+1} - \underline&#10;  u_{k}^{n+1}\mid\mid_2}&#10;{\mid\mid \underline u_{k+1}^{n+1}\mid\mid_2}  &lt; \delta_{\rm o}&#10;\]&#10;&#10;\end{document}&#10;"/>
  <p:tag name="EXTERNALNAME" val="txp_fig"/>
  <p:tag name="BLEND" val="Falsch"/>
  <p:tag name="TRANSPARENT" val="Falsch"/>
  <p:tag name="KEEPFILES" val="Falsch"/>
  <p:tag name="DEBUGPAUSE" val="Falsch"/>
  <p:tag name="RESOLUTION" val="300"/>
  <p:tag name="TIMEOUT" val="(none)"/>
  <p:tag name="BOXWIDTH" val="508"/>
  <p:tag name="BOXHEIGHT" val="425"/>
  <p:tag name="BOXFONT" val="10"/>
  <p:tag name="BOXWRAP" val="Falsch"/>
  <p:tag name="WORKAROUNDTRANSPARENCYBUG" val="Falsch"/>
  <p:tag name="ALLOWFONTSUBSTITUTION" val="Falsch"/>
  <p:tag name="BITMAPFORMAT" val="pngmono"/>
  <p:tag name="ORIGWIDTH" val="219,875"/>
  <p:tag name="PICTUREFILESIZE" val="281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&#10;\newcommand{\ba}{{\bf a}}&#10;\newcommand{\bA}{{\bf A}}&#10;\newcommand{\bB}{{\bf B}}&#10;\newcommand{\bC}{{\bf C}}&#10;\newcommand{\bc}{{\bf c}}&#10;\newcommand{\cth}{{c}_{\rm th}}&#10;\newcommand{\bD}{{\bf D}}&#10;\newcommand{\bE}{{\bf E}}&#10;\newcommand{\bve}{{\bf e}}&#10;\newcommand{\bvf}{{\bf f}}&#10;\newcommand{\bfv}{{\bf f}_{\rm V}} &#10;\newcommand{\bF}{{\bf F}}&#10;\newcommand{\cF}{{\cal F}}&#10;\newcommand{\bFd}{{\bf F}_{\rm d}}&#10;\newcommand{\bH}{{\bf H}}&#10;\newcommand{\bHd}{{\bf H}_{\rm d}}&#10;\newcommand{\bI}{{\bf I}}&#10;\newcommand{\bJ}{{\bf J}}&#10;\newcommand{\bK}{{\bf K}}&#10;\newcommand{\bk}{{\bf k}}&#10;\newcommand{\bl}{{\bf l}}&#10;\newcommand{\bM}{{\bf M}}&#10;\newcommand{\bm}{{\bf m}}&#10;\newcommand{\bN}{{\bf N}}&#10;\newcommand{\bn}{{\bf n}}&#10;\newcommand{\bq}{{\bf q}}&#10;\newcommand{\qe}{{q_{\rm e}}}&#10;\newcommand{\Qe}{{Q_{\rm e}}}&#10;\newcommand{\bP}{{\bf P}}&#10;\newcommand{\R}{{\bf R}} &#10;\newcommand{\br}{{\bf r}}&#10;\newcommand{\bs}{{\bf s}}&#10;\newcommand{\bS}{{\bf S}}&#10;\newcommand{\bt}{{\bf t}}&#10;\newcommand{\bT}{{\bf T}}&#10;\newcommand{\bv}{{\bf v}} &#10;\newcommand{\bV}{{\bf V}}&#10;\newcommand{\Ve}{{V}_{\rm e}}&#10;\newcommand{\bu}{{\bf u}}&#10;\newcommand{\bW}{{\bf W}}&#10;\newcommand{\bX}{{\bf X}}&#10;\newcommand{\bx}{{\bf x}}&#10;\newcommand{\bw}{{\bf w}}&#10;&#10;\newcommand{\cI}{{\cal I}}&#10;\newcommand{\cP}{{\cal P}}&#10;\newcommand{\cM}{{\cal M}}&#10;\newcommand{\cS}{{\cal S}}&#10;\newcommand{\cQ}{{\cal Q}}&#10;\newcommand{\cJ}{{\cal J}}&#10;\newcommand{\aJ}{{|{\cal J}|}}&#10;&#10;\newcommand{\Coarse}{{\bf coarse \,}}&#10;\newcommand{\Ind}{{\bf ind \,}}&#10;\newcommand{\Curl}{{\bf curl \,}}&#10;\newcommand{\Grad}{{\bf grad \,}}&#10;&#10;%\newcommand{\R}{{\mathbb{R}}}&#10;\newcommand{\Hk}{{B_k}}&#10;\newcommand{\Hkp}{{B_{k+1}}}&#10;\newcommand{\Hkm}{{B_{k-1}}}&#10;\def\B{{\cal B}}&#10;&#10;\newcommand{\ra}{{\,\rm a}}&#10;\newcommand{\rd}{{\,\rm d}}&#10;\newcommand{\rmd}{{\rm d}}&#10;\newcommand{\rme}{{\rm e}}&#10;\newcommand{\re}{{\,\rm e}}&#10;\newcommand{\rj}{{\rm j}}&#10;\newcommand{\rr}{{\rm r}}&#10;\newcommand{\rc}{{\rm c}}&#10;\newcommand{\rp}{{\rm p}}&#10;\newcommand{\rV}{{\rm V}}&#10;\newcommand{\rs}{{\rm s}}&#10;\newcommand{\rE}{{\,\rm E}}&#10;\newcommand{\rI}{{\,\rm I}}&#10;\newcommand{\rf}{{\,\rm f}}&#10;\newcommand{\rGC}{{\,\rm GC}}&#10;\newcommand{\rOC}{{\,\rm OC}}&#10;\newcommand{\rmn}{{\rm n}}&#10;&#10;\newcommand{\bsigma}{{\mbox{\boldmath $\sigma$ }\hspace*{-1.5mm}}} &#10;\newcommand{\bDelta}{{\bf \Delta}}&#10;\newcommand{\bPhi}{{\bf \Phi}}&#10;\newcommand{\bGamma}{{\bf \Gamma}}&#10;\newcommand{\bpsi}{{\mbox{\boldmath $\psi$ }}}&#10;\newcommand{\beps}{{\mbox{\boldmath $\varepsilon$ }}} &#10;\newcommand{\bxi}{{\mbox{\boldmath $\xi$ }}}&#10;\newcommand{\lambdaL}{{\lambda_{\rm L}}}&#10;\newcommand{\muL}{{\mu_{\rm L}}}&#10;\newcommand{\nup}{{\nu_{\rm p}}}&#10;&#10;\newcommand{\bnabla}{{\mbox{\boldmath $\nabla$ }\hspace*{-1mm}}} &#10;\newcommand{\btriangle}{{\mbox{\boldmath $\Delta$}}}&#10;\newcommand{\bnablaX}{{\mbox{{\boldmath $\nabla$}\hspace*{-1mm}$_X\,$}}} &#10;\newcommand{\bcurl}{{\bf curl \,}} &#10;\newcommand{\bdiv}{{\bf div \,}} &#10;\newcommand{\bgrad}{{\bf grad \,}} &#10;\newcommand{\ul}[1]{{\underline #1}}  &#10;\newcommand{\eps}{\varepsilon\/} &#10;%\newcommand{\beps}{[\varepsilon]}&#10;\newcommand{\opdiv}{\mathop{\rm div}\nolimits} &#10;\newcommand{\oprot}{\mathop{\rm rot}\nolimits} &#10;\newcommand{\btau}{{\mbox{\boldmath $\tau$ }}} &#10;&#10;\def\be#1{\begin{equation} \label{#1} }&#10;\def\ee{\end{equation}} &#10;\def\bea#1{\begin{eqnarray} \label{#1} }&#10;\def\eea{\end{eqnarray}} &#10;\def\barr{\begin{array}}&#10;\def\earr{\end{array}}   &#10;\def\norm#1{\|#1\|}&#10;&#10;\newcommand{\uu}[1]{\underline{#1}}&#10;&#10;\newcommand{\Nedelec}{{N${\rm\acute{e}}$d${\rm\acute{e}}$lec }}&#10;\newcommand{\Ampere}{{Amp${\rm\grave{e}}$re}\hspace{1ex}}&#10;%von uffc2000-paper&#10;\def\N{{{\rm I}\!{\rm N}}}&#10;\def\R{{{\rm I}\!{\rm R}}}&#10;\def\Z{{{\rm Z}\!\!{\rm Z}}}&#10;\def\C{{{\rm I}\!\!\!{\rm C}}}&#10;\def\be#1{\begin{equation} \label{#1} }&#10;\def\ee{\end{equation}}&#10;\def\barr{\begin{array}}&#10;\def\earr{\end{array}}&#10;\def\req#1{(\ref{#1})}&#10;\def\norm#1{\hspace{0.2ex} \|#1\| \hspace{0.2ex}}&#10;\def\cE{{\bf c}^E}&#10;\def\e{{\bf e}}&#10;\def\eps{{\bf \varepsilon}^S}&#10;\def\cEcf{{c}^E}&#10;\def\ecf{{e}}&#10;\def\epscf{{\varepsilon}^S}&#10;\def\dd#1#2{\frac{\partial#1}{\partial#2}}&#10;\def\grad{\mbox{grad}}&#10;\def\div{\mbox{div}}&#10;\def\B{{\cal B}}&#10;\def\Gg{{\Gamma_g}}&#10;\def\Ge{{\Gamma_e}}&#10;\def\dh{\hat{d}}&#10;\def\phih{\hat{\phi}}&#10;\def\mdivt{\underline{-div}}&#10;\def\dcf{{\rm d}}&#10;\def\phicf{{\varphi}}&#10;\def\dcfh{\hat{\rm d}}&#10;\def\phicfh{\hat{\varphi}}&#10;\def\nmp{{n_{mp}}}&#10;\def\npar{{n_{par}}}&#10;\def\Phih{\hat{\Phi}}&#10;%\def\delp{\underline{dp}}&#10;\def\delp{{dp}}&#10;\def\delcE{{d{\bf c}^E}}&#10;\def\dele{{d{\bf e}}}&#10;\def\deleps{{d{\bf\varepsilon}^S}}&#10;\def\delcEcf{{d{c}^E}}&#10;\def\delecf{{d{e}}}&#10;\def\delepscf{{{\varepsilon}^S}}&#10;\def\delvdh{{d\vec{\hat{d}}}}&#10;\def\delphih{{d\hat{\phi}}}&#10;\def\delvdcfh{{d\vec{\hat{\rm d}}}}&#10;\def\delphicfh{{d\hat{\varphi}}}&#10;\def\pacu{\acute{p}}&#10;\def\nparacu{\acute{n}_{par}}                         &#10;\def\nmpd{{n_{mp}^d}}&#10;\def\op{{op}}   &#10;\[&#10;\ \left( \approx 10^{-3}\right)&#10;\]&#10;&#10;\end{document}&#10;"/>
  <p:tag name="EXTERNALNAME" val="txp_fig"/>
  <p:tag name="BLEND" val="Falsch"/>
  <p:tag name="TRANSPARENT" val="Falsch"/>
  <p:tag name="KEEPFILES" val="Falsch"/>
  <p:tag name="DEBUGPAUSE" val="Falsch"/>
  <p:tag name="RESOLUTION" val="300"/>
  <p:tag name="TIMEOUT" val="(none)"/>
  <p:tag name="BOXWIDTH" val="508"/>
  <p:tag name="BOXHEIGHT" val="425"/>
  <p:tag name="BOXFONT" val="10"/>
  <p:tag name="BOXWRAP" val="Falsch"/>
  <p:tag name="WORKAROUNDTRANSPARENCYBUG" val="Falsch"/>
  <p:tag name="ALLOWFONTSUBSTITUTION" val="Falsch"/>
  <p:tag name="BITMAPFORMAT" val="pngmono"/>
  <p:tag name="ORIGWIDTH" val="85,875"/>
  <p:tag name="PICTUREFILESIZE" val="9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bm}&#10;&#10;\begin{document}&#10;\[&#10;c= \sqrt{\frac{\rm compressionModulus}{\rm density}}&#10;\]&#10;&#10;\end{document}&#10;"/>
  <p:tag name="EXTERNALNAME" val="txp_fig"/>
  <p:tag name="BLEND" val="Falsch"/>
  <p:tag name="TRANSPARENT" val="Falsch"/>
  <p:tag name="KEEPFILES" val="Falsch"/>
  <p:tag name="DEBUGPAUSE" val="Falsch"/>
  <p:tag name="RESOLUTION" val="600"/>
  <p:tag name="TIMEOUT" val="(none)"/>
  <p:tag name="BOXWIDTH" val="603"/>
  <p:tag name="BOXHEIGHT" val="428"/>
  <p:tag name="BOXFONT" val="10"/>
  <p:tag name="BOXWRAP" val="Falsch"/>
  <p:tag name="WORKAROUNDTRANSPARENCYBUG" val="Falsch"/>
  <p:tag name="ALLOWFONTSUBSTITUTION" val="Falsch"/>
  <p:tag name="BITMAPFORMAT" val="pngmono"/>
  <p:tag name="ORIGWIDTH" val="268,9206"/>
  <p:tag name="PICTUREFILESIZE" val="7986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3600</Words>
  <Application>Microsoft Office PowerPoint</Application>
  <PresentationFormat>Bildschirmpräsentation (4:3)</PresentationFormat>
  <Paragraphs>1038</Paragraphs>
  <Slides>55</Slides>
  <Notes>2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55</vt:i4>
      </vt:variant>
    </vt:vector>
  </HeadingPairs>
  <TitlesOfParts>
    <vt:vector size="56" baseType="lpstr">
      <vt:lpstr>Larissa</vt:lpstr>
      <vt:lpstr>PowerPoint-Präsentation</vt:lpstr>
      <vt:lpstr>Outline</vt:lpstr>
      <vt:lpstr>CFS++: History</vt:lpstr>
      <vt:lpstr>History: People</vt:lpstr>
      <vt:lpstr>CFS++ Capabilities</vt:lpstr>
      <vt:lpstr>CFS++ Capabilities</vt:lpstr>
      <vt:lpstr>Literature</vt:lpstr>
      <vt:lpstr>Copyright </vt:lpstr>
      <vt:lpstr>CFS++ - Schema</vt:lpstr>
      <vt:lpstr>CFS++: General Approach</vt:lpstr>
      <vt:lpstr>CFS++: General Approach</vt:lpstr>
      <vt:lpstr>CFS++: General Approach</vt:lpstr>
      <vt:lpstr>CFS++: General Approach</vt:lpstr>
      <vt:lpstr>CFS++: General Approach</vt:lpstr>
      <vt:lpstr>CFS++: General Approach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1: Mechanics</vt:lpstr>
      <vt:lpstr>Example 2: Acoustics</vt:lpstr>
      <vt:lpstr>Example 2: Acoustics</vt:lpstr>
      <vt:lpstr>Example 2: Acoustics</vt:lpstr>
      <vt:lpstr>Example 2: Acoustics</vt:lpstr>
      <vt:lpstr>Example 2: Acoustics</vt:lpstr>
      <vt:lpstr>Example 2: Acoustics</vt:lpstr>
      <vt:lpstr>Example 2: Acoustics</vt:lpstr>
      <vt:lpstr>Example 2: Acoustics</vt:lpstr>
      <vt:lpstr>Example 2: Acoustics</vt:lpstr>
      <vt:lpstr>Example 2: Acoustics</vt:lpstr>
      <vt:lpstr>Example 2: Acoustics</vt:lpstr>
      <vt:lpstr>Example 2: Acoustics</vt:lpstr>
      <vt:lpstr>Example 3: Piezoelectricity</vt:lpstr>
      <vt:lpstr>Example 3: Piezoelectricity</vt:lpstr>
      <vt:lpstr>Example 3: Piezoelectricity</vt:lpstr>
      <vt:lpstr>Example 3: Piezoelectricity</vt:lpstr>
      <vt:lpstr>Example 3: Piezoelectricity</vt:lpstr>
      <vt:lpstr>Example 3: Piezoelectricity</vt:lpstr>
      <vt:lpstr>Example 3: Piezoelectricity</vt:lpstr>
    </vt:vector>
  </TitlesOfParts>
  <Company>TU Wien - Campusversion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</dc:title>
  <dc:creator>Manfred</dc:creator>
  <cp:lastModifiedBy>Simon Triebenbacher</cp:lastModifiedBy>
  <cp:revision>535</cp:revision>
  <cp:lastPrinted>2012-09-04T10:03:22Z</cp:lastPrinted>
  <dcterms:created xsi:type="dcterms:W3CDTF">2012-08-27T12:05:20Z</dcterms:created>
  <dcterms:modified xsi:type="dcterms:W3CDTF">2014-04-02T13:41:37Z</dcterms:modified>
</cp:coreProperties>
</file>